
<file path=[Content_Types].xml><?xml version="1.0" encoding="utf-8"?>
<Types xmlns="http://schemas.openxmlformats.org/package/2006/content-types">
  <Default Extension="emf" ContentType="image/x-emf"/>
  <Default Extension="gif" ContentType="image/gif"/>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86" r:id="rId3"/>
    <p:sldId id="263" r:id="rId4"/>
    <p:sldId id="302" r:id="rId5"/>
    <p:sldId id="287"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4" r:id="rId22"/>
    <p:sldId id="289" r:id="rId23"/>
    <p:sldId id="283" r:id="rId24"/>
    <p:sldId id="285" r:id="rId25"/>
    <p:sldId id="288" r:id="rId26"/>
    <p:sldId id="257" r:id="rId27"/>
    <p:sldId id="258" r:id="rId28"/>
    <p:sldId id="295" r:id="rId29"/>
    <p:sldId id="259" r:id="rId30"/>
    <p:sldId id="260" r:id="rId31"/>
    <p:sldId id="294" r:id="rId32"/>
    <p:sldId id="293" r:id="rId33"/>
    <p:sldId id="282"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859" autoAdjust="0"/>
    <p:restoredTop sz="94660" autoAdjust="0"/>
  </p:normalViewPr>
  <p:slideViewPr>
    <p:cSldViewPr snapToGrid="0" snapToObjects="1">
      <p:cViewPr varScale="1">
        <p:scale>
          <a:sx n="205" d="100"/>
          <a:sy n="205" d="100"/>
        </p:scale>
        <p:origin x="200" y="59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20B66E-B3A5-1447-A6FE-DA8D4C0234C2}" type="datetimeFigureOut">
              <a:rPr lang="en-US" smtClean="0"/>
              <a:t>5/23/25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24BC9-611D-7E48-BD70-384F761710C6}" type="slidenum">
              <a:rPr lang="en-US" smtClean="0"/>
              <a:t>‹#›</a:t>
            </a:fld>
            <a:endParaRPr lang="en-US"/>
          </a:p>
        </p:txBody>
      </p:sp>
    </p:spTree>
    <p:extLst>
      <p:ext uri="{BB962C8B-B14F-4D97-AF65-F5344CB8AC3E}">
        <p14:creationId xmlns:p14="http://schemas.microsoft.com/office/powerpoint/2010/main" val="3391869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2</a:t>
            </a:fld>
            <a:endParaRPr lang="en-US"/>
          </a:p>
        </p:txBody>
      </p:sp>
    </p:spTree>
    <p:extLst>
      <p:ext uri="{BB962C8B-B14F-4D97-AF65-F5344CB8AC3E}">
        <p14:creationId xmlns:p14="http://schemas.microsoft.com/office/powerpoint/2010/main" val="2801871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Notes:</a:t>
            </a:r>
            <a:r>
              <a:t> - Role of turbulent magnetic fields in the heliosphere.</a:t>
            </a:r>
          </a:p>
          <a:p>
            <a:pPr marL="0" lvl="0" indent="0">
              <a:buNone/>
            </a:pPr>
            <a:endParaRPr/>
          </a:p>
          <a:p>
            <a:pPr marL="1270000" lvl="0" indent="0">
              <a:buNone/>
            </a:pPr>
            <a:r>
              <a:rPr sz="2000"/>
              <a:t>Pitch-angle diffusion, connected with transport in the direction parallel to magnetic field, drift motions due to magnetic field inhomogeneities, as well as transverse diffusion due to random walk of magnetic lines are all aspects of energetic particle transport that are controlled by magnetic turbulence properties, such as fluctuation amplitude, spectral index and anisotropy.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2DEB-EF47-3EC3-80F2-1006BE6D0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7F024-2264-FA59-06AF-81203F86B8C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EF71DC2-7006-3211-DCAA-E4A503404A42}"/>
                  </a:ext>
                </a:extLst>
              </p:cNvPr>
              <p:cNvSpPr>
                <a:spLocks noGrp="1"/>
              </p:cNvSpPr>
              <p:nvPr>
                <p:ph type="body" idx="1"/>
              </p:nvPr>
            </p:nvSpPr>
            <p:spPr/>
            <p:txBody>
              <a:bodyPr/>
              <a:lstStyle/>
              <a:p>
                <a:pPr marL="0" lvl="0" indent="0">
                  <a:buNone/>
                </a:pPr>
                <a:r>
                  <a:rPr lang="en-US" dirty="0"/>
                  <a:t>For each region I, II, and III, magnetic field lines (contours of constant magnetic potential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𝐴</m:t>
                        </m:r>
                      </m:e>
                      <m:sub>
                        <m:r>
                          <a:rPr lang="ar-AE">
                            <a:latin typeface="Cambria Math" panose="02040503050406030204" pitchFamily="18" charset="0"/>
                          </a:rPr>
                          <m:t>𝑧</m:t>
                        </m:r>
                      </m:sub>
                    </m:sSub>
                  </m:oMath>
                </a14:m>
                <a:r>
                  <a:rPr lang="ar-AE" dirty="0"/>
                  <a:t>: &gt; 0 </a:t>
                </a:r>
                <a:r>
                  <a:rPr lang="en-US" dirty="0"/>
                  <a:t>solid, &lt; 0 dashed) are shown; the colored (red) regions are places where the selected band (I, II, or III) contributes. (Greco et al. 2017)</a:t>
                </a:r>
              </a:p>
              <a:p>
                <a:pPr marL="0" lvl="0" indent="0">
                  <a:buNone/>
                </a:pPr>
                <a:endParaRPr lang="en-US" dirty="0"/>
              </a:p>
              <a:p>
                <a:pPr marL="0" lvl="0" indent="0">
                  <a:buNone/>
                </a:pPr>
                <a:r>
                  <a:rPr dirty="0"/>
                  <a:t>A physically appealing interpretation emerges: region I consists of very low values of fluctuations that lie mainly in the lanes between magnetic islands. Region II consists of sub-Gaussian current cores that populate the central regions of the magnetic islands (or flux tubes). Region III is composed of the coherent small-scale current sheet-like structures that form the sharp boundaries between the magnetic flux tubes. This classification provides a real-space picture of the nature of intermittent MHD turbulence.</a:t>
                </a:r>
              </a:p>
            </p:txBody>
          </p:sp>
        </mc:Choice>
        <mc:Fallback xmlns="">
          <p:sp>
            <p:nvSpPr>
              <p:cNvPr id="3" name="Notes Placeholder 2">
                <a:extLst>
                  <a:ext uri="{FF2B5EF4-FFF2-40B4-BE49-F238E27FC236}">
                    <a16:creationId xmlns:a16="http://schemas.microsoft.com/office/drawing/2014/main" id="{9EF71DC2-7006-3211-DCAA-E4A503404A42}"/>
                  </a:ext>
                </a:extLst>
              </p:cNvPr>
              <p:cNvSpPr>
                <a:spLocks noGrp="1"/>
              </p:cNvSpPr>
              <p:nvPr>
                <p:ph type="body" idx="1"/>
              </p:nvPr>
            </p:nvSpPr>
            <p:spPr/>
            <p:txBody>
              <a:bodyPr/>
              <a:lstStyle/>
              <a:p>
                <a:pPr marL="0" lvl="0" indent="0">
                  <a:buNone/>
                </a:pPr>
                <a:r>
                  <a:rPr lang="en-US" dirty="0"/>
                  <a:t>For each region I, II, and III, magnetic field lines (contours of constant magnetic potential </a:t>
                </a:r>
                <a:r>
                  <a:rPr lang="ar-AE" i="0">
                    <a:latin typeface="Cambria Math" panose="02040503050406030204" pitchFamily="18" charset="0"/>
                  </a:rPr>
                  <a:t>𝐴_𝑧</a:t>
                </a:r>
                <a:r>
                  <a:rPr lang="ar-AE" dirty="0"/>
                  <a:t>: &gt; 0 </a:t>
                </a:r>
                <a:r>
                  <a:rPr lang="en-US" dirty="0"/>
                  <a:t>solid, &lt; 0 dashed) are shown; the colored (red) regions are places where the selected band (I, II, or III) contributes. (Greco et al. 2017)</a:t>
                </a:r>
              </a:p>
              <a:p>
                <a:pPr marL="0" lvl="0" indent="0">
                  <a:buNone/>
                </a:pPr>
                <a:endParaRPr lang="en-US" dirty="0"/>
              </a:p>
              <a:p>
                <a:pPr marL="0" lvl="0" indent="0">
                  <a:buNone/>
                </a:pPr>
                <a:r>
                  <a:rPr dirty="0"/>
                  <a:t>A physically appealing interpretation emerges: region I consists of very low values of fluctuations that lie mainly in the lanes between magnetic islands. Region II consists of sub-Gaussian current cores that populate the central regions of the magnetic islands (or flux tubes). Region III is composed of the coherent small-scale current sheet-like structures that form the sharp boundaries between the magnetic flux tubes. This classification provides a real-space picture of the nature of intermittent MHD turbulence.</a:t>
                </a:r>
              </a:p>
            </p:txBody>
          </p:sp>
        </mc:Fallback>
      </mc:AlternateContent>
      <p:sp>
        <p:nvSpPr>
          <p:cNvPr id="4" name="Slide Number Placeholder 3">
            <a:extLst>
              <a:ext uri="{FF2B5EF4-FFF2-40B4-BE49-F238E27FC236}">
                <a16:creationId xmlns:a16="http://schemas.microsoft.com/office/drawing/2014/main" id="{8BC7058A-0BC8-CE60-0E7C-CF3E4E15A337}"/>
              </a:ext>
            </a:extLst>
          </p:cNvPr>
          <p:cNvSpPr>
            <a:spLocks noGrp="1"/>
          </p:cNvSpPr>
          <p:nvPr>
            <p:ph type="sldNum" sz="quarter" idx="10"/>
          </p:nvPr>
        </p:nvSpPr>
        <p:spPr/>
        <p:txBody>
          <a:bodyPr/>
          <a:lstStyle/>
          <a:p>
            <a:fld id="{18BDFEC3-8487-43E8-A154-7C12CBC1FFF2}" type="slidenum">
              <a:rPr lang="en-US"/>
              <a:t>4</a:t>
            </a:fld>
            <a:endParaRPr lang="en-US"/>
          </a:p>
        </p:txBody>
      </p:sp>
    </p:spTree>
    <p:extLst>
      <p:ext uri="{BB962C8B-B14F-4D97-AF65-F5344CB8AC3E}">
        <p14:creationId xmlns:p14="http://schemas.microsoft.com/office/powerpoint/2010/main" val="1092464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Fig. 1 Charged particle motion in a magnetic field. (a) In a uniform magnetic field the particle has a spiral orbit with a </a:t>
            </a:r>
            <a:r>
              <a:rPr lang="en-US" sz="1200" dirty="0" err="1"/>
              <a:t>gyroradius</a:t>
            </a:r>
            <a:r>
              <a:rPr lang="en-US" sz="1200" dirty="0"/>
              <a:t> </a:t>
            </a:r>
            <a:r>
              <a:rPr lang="en-US" sz="1200" dirty="0" err="1"/>
              <a:t>rg</a:t>
            </a:r>
            <a:r>
              <a:rPr lang="en-US" sz="1200" dirty="0"/>
              <a:t> = P /</a:t>
            </a:r>
            <a:r>
              <a:rPr lang="en-US" sz="1200" dirty="0" err="1"/>
              <a:t>Bc</a:t>
            </a:r>
            <a:r>
              <a:rPr lang="en-US" sz="1200" dirty="0"/>
              <a:t>. (b) When the field is non-uniform the particle drifts away from a field line due to the gradient and curvature of the field. (c) When a particle meets a kink in the field that has a scale length </a:t>
            </a:r>
            <a:r>
              <a:rPr lang="en-US" sz="1200" dirty="0" err="1"/>
              <a:t>rg</a:t>
            </a:r>
            <a:r>
              <a:rPr lang="en-US" sz="1200" dirty="0"/>
              <a:t> , all particles will progress through the kink (but they may drift to adjacent field lines while doing so). (d) Likewise, if </a:t>
            </a:r>
            <a:r>
              <a:rPr lang="en-US" sz="1200" dirty="0" err="1"/>
              <a:t>rg</a:t>
            </a:r>
            <a:r>
              <a:rPr lang="en-US" sz="1200" dirty="0"/>
              <a:t> scale size of the kink, all particles will pass through it without being affected much. (e, f, g) When </a:t>
            </a:r>
            <a:r>
              <a:rPr lang="en-US" sz="1200" dirty="0" err="1"/>
              <a:t>rg</a:t>
            </a:r>
            <a:r>
              <a:rPr lang="en-US" sz="1200" dirty="0"/>
              <a:t> ≈ scale size of the kink, it depends on the </a:t>
            </a:r>
            <a:r>
              <a:rPr lang="en-US" sz="1200" dirty="0" err="1"/>
              <a:t>gyrophase</a:t>
            </a:r>
            <a:r>
              <a:rPr lang="en-US" sz="1200" dirty="0"/>
              <a:t> of the motion when the particles starts to feel the kink whether it will go through the kink (e), be reflected back (f), or effectively get stuck in the kink (g). This process is called pitch-angle scattering along the field. (h) When particles meet such a kink, there is also a scattering in phase angle, which leads to scattering across the field lines, but such that </a:t>
            </a:r>
            <a:r>
              <a:rPr lang="el-GR" sz="1200" dirty="0"/>
              <a:t>κ⊥ κ‖</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5</a:t>
            </a:fld>
            <a:endParaRPr lang="en-US"/>
          </a:p>
        </p:txBody>
      </p:sp>
    </p:spTree>
    <p:extLst>
      <p:ext uri="{BB962C8B-B14F-4D97-AF65-F5344CB8AC3E}">
        <p14:creationId xmlns:p14="http://schemas.microsoft.com/office/powerpoint/2010/main" val="3777949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dirty="0"/>
              <a:t>Image:</a:t>
            </a:r>
            <a:r>
              <a:rPr dirty="0"/>
              <a:t> Schematic of a particle trajectory interacting with a current sheet.</a:t>
            </a:r>
            <a:br>
              <a:rPr dirty="0"/>
            </a:br>
            <a:r>
              <a:rPr b="1" dirty="0"/>
              <a:t>Notes:</a:t>
            </a:r>
            <a:br>
              <a:rPr dirty="0"/>
            </a:br>
            <a:r>
              <a:rPr dirty="0"/>
              <a:t>- Why current sheets matter: Non-diffusive scattering, chaotic dynamics.</a:t>
            </a:r>
            <a:br>
              <a:rPr dirty="0"/>
            </a:br>
            <a:r>
              <a:rPr dirty="0"/>
              <a:t>- Gap: Prior studies lack realistic solar wind statistics.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1257540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b="1"/>
              <a:t>Key Points:</a:t>
            </a:r>
          </a:p>
          <a:p>
            <a:pPr marL="0" lvl="0" indent="0">
              <a:buNone/>
            </a:pPr>
            <a:endParaRPr b="1"/>
          </a:p>
          <a:p>
            <a:pPr lvl="1"/>
            <a:r>
              <a:t>Introduction to the Hamiltonian formalism in this context.</a:t>
            </a:r>
          </a:p>
          <a:p>
            <a:pPr marL="0" lvl="0" indent="0">
              <a:buNone/>
            </a:pPr>
            <a:endParaRPr/>
          </a:p>
          <a:p>
            <a:pPr lvl="1"/>
            <a:r>
              <a:t>Expression for the magnetic vector potential.</a:t>
            </a:r>
          </a:p>
          <a:p>
            <a:pPr marL="0" lvl="0" indent="0">
              <a:buNone/>
            </a:pPr>
            <a:endParaRPr/>
          </a:p>
          <a:p>
            <a:pPr lvl="1"/>
            <a:r>
              <a:t>Transition from canonical to dimensionless variables.</a:t>
            </a:r>
          </a:p>
          <a:p>
            <a:pPr marL="0" lvl="0" indent="0">
              <a:buNone/>
            </a:pPr>
            <a:endParaRPr/>
          </a:p>
          <a:p>
            <a:pPr lvl="0"/>
            <a:r>
              <a:rPr b="1"/>
              <a:t>Notes:</a:t>
            </a:r>
          </a:p>
          <a:p>
            <a:pPr marL="0" lvl="0" indent="0">
              <a:buNone/>
            </a:pPr>
            <a:endParaRPr b="1"/>
          </a:p>
          <a:p>
            <a:pPr lvl="1"/>
            <a:r>
              <a:t>Explain why the Hamiltonian approach is useful for modeling particle dynamics.</a:t>
            </a:r>
          </a:p>
          <a:p>
            <a:pPr marL="0" lvl="0" indent="0">
              <a:buNone/>
            </a:pPr>
            <a:endParaRPr/>
          </a:p>
          <a:p>
            <a:pPr lvl="1"/>
            <a:r>
              <a:t>Highlight the derivation steps and the significance of the normalization.</a:t>
            </a:r>
          </a:p>
          <a:p>
            <a:pPr marL="0" lvl="0" indent="0">
              <a:buNone/>
            </a:pPr>
            <a:endParaRPr/>
          </a:p>
          <a:p>
            <a:pPr lvl="0"/>
            <a:r>
              <a:rPr b="1"/>
              <a:t>Image Suggestion:</a:t>
            </a:r>
          </a:p>
          <a:p>
            <a:pPr marL="0" lvl="0" indent="0">
              <a:buNone/>
            </a:pPr>
            <a:endParaRPr b="1"/>
          </a:p>
          <a:p>
            <a:pPr lvl="1"/>
            <a:r>
              <a:t>Flow diagram summarizing the derivation from the physical Hamiltonian to the dimensionless form.</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b="1"/>
              <a:t>Key Points:</a:t>
            </a:r>
          </a:p>
          <a:p>
            <a:pPr marL="0" lvl="0" indent="0">
              <a:buNone/>
            </a:pPr>
            <a:endParaRPr b="1"/>
          </a:p>
          <a:p>
            <a:pPr lvl="1"/>
            <a:r>
              <a:t>Definition of adiabatic invariance and the magnetic moment (I_z).</a:t>
            </a:r>
          </a:p>
          <a:p>
            <a:pPr marL="0" lvl="0" indent="0">
              <a:buNone/>
            </a:pPr>
            <a:endParaRPr/>
          </a:p>
          <a:p>
            <a:pPr lvl="1"/>
            <a:r>
              <a:t>Conditions under which the adiabatic invariant is conserved.</a:t>
            </a:r>
          </a:p>
          <a:p>
            <a:pPr marL="0" lvl="0" indent="0">
              <a:buNone/>
            </a:pPr>
            <a:endParaRPr/>
          </a:p>
          <a:p>
            <a:pPr lvl="0"/>
            <a:r>
              <a:rPr b="1"/>
              <a:t>Notes:</a:t>
            </a:r>
          </a:p>
          <a:p>
            <a:pPr marL="0" lvl="0" indent="0">
              <a:buNone/>
            </a:pPr>
            <a:endParaRPr b="1"/>
          </a:p>
          <a:p>
            <a:pPr lvl="1"/>
            <a:r>
              <a:t>Explain the concept of adiabatic invariance in simple terms.</a:t>
            </a:r>
          </a:p>
          <a:p>
            <a:pPr marL="0" lvl="0" indent="0">
              <a:buNone/>
            </a:pPr>
            <a:endParaRPr/>
          </a:p>
          <a:p>
            <a:pPr lvl="1"/>
            <a:r>
              <a:t>Discuss why maintaining (I_z) is important for particle trajectory predictions.</a:t>
            </a:r>
          </a:p>
          <a:p>
            <a:pPr marL="0" lvl="0" indent="0">
              <a:buNone/>
            </a:pPr>
            <a:endParaRPr/>
          </a:p>
          <a:p>
            <a:pPr lvl="0"/>
            <a:r>
              <a:rPr b="1"/>
              <a:t>Image Suggestion:</a:t>
            </a:r>
          </a:p>
          <a:p>
            <a:pPr marL="0" lvl="0" indent="0">
              <a:buNone/>
            </a:pPr>
            <a:endParaRPr b="1"/>
          </a:p>
          <a:p>
            <a:pPr lvl="1"/>
            <a:r>
              <a:t>Diagram depicting adiabatic invariance with trajectories in phase space.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Long-term modeling of particle pitch-angle distributions resulting from current-sheet scattering involves simulating the dynamics of a large number of particles through multiple current-sheet interactions over extended periods. To reduce computational time and complexity, we derive a simplified probabilistic description of pitch-angle evolution for modeling energetic particle transport under current-sheet scattering.</a:t>
            </a:r>
          </a:p>
          <a:p>
            <a:r>
              <a:rPr lang="en-US" dirty="0"/>
              <a:t>The scattering process depends on the particle's initial conditions, $(\</a:t>
            </a:r>
            <a:r>
              <a:rPr lang="en-US" dirty="0" err="1"/>
              <a:t>mathbf</a:t>
            </a:r>
            <a:r>
              <a:rPr lang="en-US" dirty="0"/>
              <a:t>{r}, \</a:t>
            </a:r>
            <a:r>
              <a:rPr lang="en-US" dirty="0" err="1"/>
              <a:t>mathbf</a:t>
            </a:r>
            <a:r>
              <a:rPr lang="en-US" dirty="0"/>
              <a:t>{v})$, as well as the configuration of the current sheet, $\</a:t>
            </a:r>
            <a:r>
              <a:rPr lang="en-US" dirty="0" err="1"/>
              <a:t>mathbf</a:t>
            </a:r>
            <a:r>
              <a:rPr lang="en-US" dirty="0"/>
              <a:t>{B}$.</a:t>
            </a:r>
          </a:p>
        </p:txBody>
      </p:sp>
      <p:sp>
        <p:nvSpPr>
          <p:cNvPr id="4" name="Slide Number Placeholder 3"/>
          <p:cNvSpPr>
            <a:spLocks noGrp="1"/>
          </p:cNvSpPr>
          <p:nvPr>
            <p:ph type="sldNum" sz="quarter" idx="5"/>
          </p:nvPr>
        </p:nvSpPr>
        <p:spPr/>
        <p:txBody>
          <a:bodyPr/>
          <a:lstStyle/>
          <a:p>
            <a:fld id="{18BDFEC3-8487-43E8-A154-7C12CBC1FFF2}" type="slidenum">
              <a:rPr lang="en-US" smtClean="0"/>
              <a:t>17</a:t>
            </a:fld>
            <a:endParaRPr lang="en-US"/>
          </a:p>
        </p:txBody>
      </p:sp>
    </p:spTree>
    <p:extLst>
      <p:ext uri="{BB962C8B-B14F-4D97-AF65-F5344CB8AC3E}">
        <p14:creationId xmlns:p14="http://schemas.microsoft.com/office/powerpoint/2010/main" val="4204612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18</a:t>
            </a:fld>
            <a:endParaRPr lang="en-US"/>
          </a:p>
        </p:txBody>
      </p:sp>
    </p:spTree>
    <p:extLst>
      <p:ext uri="{BB962C8B-B14F-4D97-AF65-F5344CB8AC3E}">
        <p14:creationId xmlns:p14="http://schemas.microsoft.com/office/powerpoint/2010/main" val="3693254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Image:</a:t>
            </a:r>
            <a:r>
              <a:t> WTM heatmap from </a:t>
            </a:r>
            <a:r>
              <a:rPr>
                <a:latin typeface="Courier"/>
              </a:rPr>
              <a:t>fig-tm-stats-100keV</a:t>
            </a:r>
            <a:r>
              <a:t>.</a:t>
            </a:r>
            <a:br/>
            <a:r>
              <a:rPr b="1"/>
              <a:t>Notes:</a:t>
            </a:r>
            <a:br/>
            <a:r>
              <a:t>- Aggregates scattering probabilities across observed current sheets.</a:t>
            </a:r>
            <a:br/>
            <a:r>
              <a:t>- Bright diagonal = most particles weakly scattered.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dirty="0"/>
              <a:t>Notes:</a:t>
            </a:r>
            <a:br>
              <a:rPr dirty="0"/>
            </a:br>
            <a:r>
              <a:rPr dirty="0"/>
              <a:t>- Rare large-angle jumps drive rapid mixing.</a:t>
            </a:r>
            <a:endParaRPr lang="en-US" dirty="0"/>
          </a:p>
          <a:p>
            <a:pPr marL="0" lvl="0" indent="0">
              <a:buNone/>
            </a:pPr>
            <a:endParaRPr lang="en-US" dirty="0"/>
          </a:p>
          <a:p>
            <a:pPr marL="0" lvl="0" indent="0">
              <a:buNone/>
            </a:pPr>
            <a:r>
              <a:rPr lang="en-US" dirty="0"/>
              <a:t>A key feature of the pitch-angle dynamics is the occurrence of infrequent but substantial jumps, including rare, large-angle changes that can lead to particle reflection from the current sheet.</a:t>
            </a:r>
          </a:p>
          <a:p>
            <a:pPr marL="0" lvl="0" indent="0">
              <a:buNone/>
            </a:pPr>
            <a:endParaRPr lang="en-US" dirty="0"/>
          </a:p>
          <a:p>
            <a:pPr marL="0" lvl="0" indent="0">
              <a:buNone/>
            </a:pPr>
            <a:r>
              <a:rPr lang="en-US" dirty="0"/>
              <a:t>However, directly incorporating stochastic difference equations and the WTM into classical numerical schemes for transport-diffusion equations is a complex task. To facilitate comparison with other scattering processes and allow inclusion of SWD-induced scattering effects in such models, we evaluate the effective scattering rate, $D_{</a:t>
            </a:r>
            <a:r>
              <a:rPr lang="en-US" dirty="0" err="1"/>
              <a:t>nn</a:t>
            </a:r>
            <a:r>
              <a:rPr lang="en-US" dirty="0"/>
              <a:t>}$. This rate acts as a global diffusion coefficient, independent of the local pitch angle, since high-energy particles frequently experience large pitch-angle jumps, leading to strong mixing. The scattering rate depends on the particle energy and the WTM (i.e., the distribution of current sheets). Using the mapping described in Equation~\ref{eq-mapping} for an ensemble of particles, we calculate the evolution of the second moment of the pitch-angle distribution for the particle energy range from 100 keV to 1 MeV for current sheets at 1 AU:</a:t>
            </a:r>
            <a:endParaRPr dirty="0"/>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extLst>
      <p:ext uri="{BB962C8B-B14F-4D97-AF65-F5344CB8AC3E}">
        <p14:creationId xmlns:p14="http://schemas.microsoft.com/office/powerpoint/2010/main" val="4203668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7E0A-4ADB-9297-5590-09C1C227A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65449-A4E1-B59A-D6BB-2B616F9FA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A6251-4049-73C1-AC49-EF7748E9F1BA}"/>
              </a:ext>
            </a:extLst>
          </p:cNvPr>
          <p:cNvSpPr>
            <a:spLocks noGrp="1"/>
          </p:cNvSpPr>
          <p:nvPr>
            <p:ph type="body" idx="1"/>
          </p:nvPr>
        </p:nvSpPr>
        <p:spPr/>
        <p:txBody>
          <a:bodyPr/>
          <a:lstStyle/>
          <a:p>
            <a:pPr marL="0" lvl="0" indent="0">
              <a:buNone/>
            </a:pPr>
            <a:r>
              <a:rPr b="1" dirty="0"/>
              <a:t>Notes:</a:t>
            </a:r>
            <a:br>
              <a:rPr dirty="0"/>
            </a:br>
            <a:r>
              <a:rPr dirty="0"/>
              <a:t>- Rare large-angle jumps drive rapid mixing.</a:t>
            </a:r>
            <a:endParaRPr lang="en-US" dirty="0"/>
          </a:p>
          <a:p>
            <a:pPr marL="0" lvl="0" indent="0">
              <a:buNone/>
            </a:pPr>
            <a:endParaRPr lang="en-US" dirty="0"/>
          </a:p>
          <a:p>
            <a:pPr marL="0" lvl="0" indent="0">
              <a:buNone/>
            </a:pPr>
            <a:r>
              <a:rPr lang="en-US" dirty="0"/>
              <a:t>A key feature of the pitch-angle dynamics is the occurrence of infrequent but substantial jumps, including rare, large-angle changes that can lead to particle reflection from the current sheet.</a:t>
            </a:r>
          </a:p>
          <a:p>
            <a:pPr marL="0" lvl="0" indent="0">
              <a:buNone/>
            </a:pPr>
            <a:endParaRPr lang="en-US" dirty="0"/>
          </a:p>
          <a:p>
            <a:pPr marL="0" lvl="0" indent="0">
              <a:buNone/>
            </a:pPr>
            <a:r>
              <a:rPr lang="en-US" dirty="0"/>
              <a:t>However, directly incorporating stochastic difference equations and the WTM into classical numerical schemes for transport-diffusion equations is a complex task. To facilitate comparison with other scattering processes and allow inclusion of SWD-induced scattering effects in such models, we evaluate the effective scattering rate, $D_{</a:t>
            </a:r>
            <a:r>
              <a:rPr lang="en-US" dirty="0" err="1"/>
              <a:t>nn</a:t>
            </a:r>
            <a:r>
              <a:rPr lang="en-US" dirty="0"/>
              <a:t>}$. This rate acts as a global diffusion coefficient, independent of the local pitch angle, since high-energy particles frequently experience large pitch-angle jumps, leading to strong mixing. The scattering rate depends on the particle energy and the WTM (i.e., the distribution of current sheets). Using the mapping described in Equation~\ref{eq-mapping} for an ensemble of particles, we calculate the evolution of the second moment of the pitch-angle distribution for the particle energy range from 100 keV to 1 MeV for current sheets at 1 AU:</a:t>
            </a:r>
            <a:endParaRPr dirty="0"/>
          </a:p>
        </p:txBody>
      </p:sp>
      <p:sp>
        <p:nvSpPr>
          <p:cNvPr id="4" name="Slide Number Placeholder 3">
            <a:extLst>
              <a:ext uri="{FF2B5EF4-FFF2-40B4-BE49-F238E27FC236}">
                <a16:creationId xmlns:a16="http://schemas.microsoft.com/office/drawing/2014/main" id="{E584415F-7C8A-4D1C-CFBA-6FC6EF3143A5}"/>
              </a:ext>
            </a:extLst>
          </p:cNvPr>
          <p:cNvSpPr>
            <a:spLocks noGrp="1"/>
          </p:cNvSpPr>
          <p:nvPr>
            <p:ph type="sldNum" sz="quarter" idx="10"/>
          </p:nvPr>
        </p:nvSpPr>
        <p:spPr/>
        <p:txBody>
          <a:bodyPr/>
          <a:lstStyle/>
          <a:p>
            <a:fld id="{18BDFEC3-8487-43E8-A154-7C12CBC1FFF2}" type="slidenum">
              <a:rPr lang="en-US"/>
              <a:t>22</a:t>
            </a:fld>
            <a:endParaRPr lang="en-US"/>
          </a:p>
        </p:txBody>
      </p:sp>
    </p:spTree>
    <p:extLst>
      <p:ext uri="{BB962C8B-B14F-4D97-AF65-F5344CB8AC3E}">
        <p14:creationId xmlns:p14="http://schemas.microsoft.com/office/powerpoint/2010/main" val="1947423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9BF3-C1C8-0E12-3857-D2C4D334C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69B18-ED16-9FBD-5D83-B877FE605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4F11C-7C9B-616C-DD90-943A15BE45EF}"/>
              </a:ext>
            </a:extLst>
          </p:cNvPr>
          <p:cNvSpPr>
            <a:spLocks noGrp="1"/>
          </p:cNvSpPr>
          <p:nvPr>
            <p:ph type="body" idx="1"/>
          </p:nvPr>
        </p:nvSpPr>
        <p:spPr/>
        <p:txBody>
          <a:bodyPr/>
          <a:lstStyle/>
          <a:p>
            <a:pPr lvl="0"/>
            <a:r>
              <a:rPr lang="en-US" b="1" dirty="0"/>
              <a:t>Notes:</a:t>
            </a:r>
          </a:p>
          <a:p>
            <a:pPr marL="0" lvl="0" indent="0">
              <a:buNone/>
            </a:pPr>
            <a:endParaRPr lang="en-US" b="1" dirty="0"/>
          </a:p>
          <a:p>
            <a:pPr lvl="1"/>
            <a:r>
              <a:rPr lang="en-US" dirty="0"/>
              <a:t>(D_{</a:t>
            </a:r>
            <a:r>
              <a:rPr lang="en-US" dirty="0" err="1"/>
              <a:t>nn</a:t>
            </a:r>
            <a:r>
              <a:rPr lang="en-US" dirty="0"/>
              <a:t>}) quantifies scattering efficiency.</a:t>
            </a:r>
            <a:br>
              <a:rPr lang="en-US" dirty="0"/>
            </a:br>
            <a:endParaRPr lang="en-US" dirty="0"/>
          </a:p>
          <a:p>
            <a:pPr marL="0" lvl="0" indent="0">
              <a:buNone/>
            </a:pPr>
            <a:endParaRPr dirty="0"/>
          </a:p>
        </p:txBody>
      </p:sp>
      <p:sp>
        <p:nvSpPr>
          <p:cNvPr id="4" name="Slide Number Placeholder 3">
            <a:extLst>
              <a:ext uri="{FF2B5EF4-FFF2-40B4-BE49-F238E27FC236}">
                <a16:creationId xmlns:a16="http://schemas.microsoft.com/office/drawing/2014/main" id="{6ED731AC-2AB1-B8F7-2362-8118F03D4A90}"/>
              </a:ext>
            </a:extLst>
          </p:cNvPr>
          <p:cNvSpPr>
            <a:spLocks noGrp="1"/>
          </p:cNvSpPr>
          <p:nvPr>
            <p:ph type="sldNum" sz="quarter" idx="10"/>
          </p:nvPr>
        </p:nvSpPr>
        <p:spPr/>
        <p:txBody>
          <a:bodyPr/>
          <a:lstStyle/>
          <a:p>
            <a:fld id="{18BDFEC3-8487-43E8-A154-7C12CBC1FFF2}" type="slidenum">
              <a:rPr lang="en-US"/>
              <a:t>23</a:t>
            </a:fld>
            <a:endParaRPr lang="en-US"/>
          </a:p>
        </p:txBody>
      </p:sp>
    </p:spTree>
    <p:extLst>
      <p:ext uri="{BB962C8B-B14F-4D97-AF65-F5344CB8AC3E}">
        <p14:creationId xmlns:p14="http://schemas.microsoft.com/office/powerpoint/2010/main" val="2978672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b="1"/>
              <a:t>Key Points:</a:t>
            </a:r>
          </a:p>
          <a:p>
            <a:pPr marL="0" lvl="0" indent="0">
              <a:buNone/>
            </a:pPr>
            <a:endParaRPr b="1"/>
          </a:p>
          <a:p>
            <a:pPr lvl="1"/>
            <a:r>
              <a:t>Impact on spatial diffusion and acceleration processes.</a:t>
            </a:r>
          </a:p>
          <a:p>
            <a:pPr marL="0" lvl="0" indent="0">
              <a:buNone/>
            </a:pPr>
            <a:endParaRPr/>
          </a:p>
          <a:p>
            <a:pPr lvl="1"/>
            <a:r>
              <a:t>Connection between enhanced pitch-angle scattering and reduced acceleration timescales in shocks.</a:t>
            </a:r>
          </a:p>
          <a:p>
            <a:pPr marL="0" lvl="0" indent="0">
              <a:buNone/>
            </a:pPr>
            <a:endParaRPr/>
          </a:p>
          <a:p>
            <a:pPr lvl="1"/>
            <a:r>
              <a:t>Broader relevance for heliospheric and astrophysical plasma transport.</a:t>
            </a:r>
          </a:p>
          <a:p>
            <a:pPr marL="0" lvl="0" indent="0">
              <a:buNone/>
            </a:pPr>
            <a:endParaRPr/>
          </a:p>
          <a:p>
            <a:pPr lvl="0"/>
            <a:r>
              <a:rPr b="1"/>
              <a:t>Notes:</a:t>
            </a:r>
          </a:p>
          <a:p>
            <a:pPr marL="0" lvl="0" indent="0">
              <a:buNone/>
            </a:pPr>
            <a:endParaRPr b="1"/>
          </a:p>
          <a:p>
            <a:pPr lvl="1"/>
            <a:r>
              <a:t>Summarize how the research improves our understanding of energetic particle dynamics.</a:t>
            </a:r>
          </a:p>
          <a:p>
            <a:pPr marL="0" lvl="0" indent="0">
              <a:buNone/>
            </a:pPr>
            <a:endParaRPr/>
          </a:p>
          <a:p>
            <a:pPr lvl="1"/>
            <a:r>
              <a:t>Emphasize the potential integration of these results into global transport models.</a:t>
            </a:r>
          </a:p>
          <a:p>
            <a:pPr marL="0" lvl="0" indent="0">
              <a:buNone/>
            </a:pPr>
            <a:endParaRPr/>
          </a:p>
          <a:p>
            <a:pPr lvl="0"/>
            <a:r>
              <a:rPr b="1"/>
              <a:t>Image Suggestion:</a:t>
            </a:r>
          </a:p>
          <a:p>
            <a:pPr marL="0" lvl="0" indent="0">
              <a:buNone/>
            </a:pPr>
            <a:endParaRPr b="1"/>
          </a:p>
          <a:p>
            <a:pPr lvl="1"/>
            <a:r>
              <a:t>Conceptual diagram linking pitch-angle scattering, spatial diffusion, and particle acceleration in shock environments.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5/23/25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gif"/><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0.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6.emf"/><Relationship Id="rId7"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4.png"/><Relationship Id="rId1" Type="http://schemas.openxmlformats.org/officeDocument/2006/relationships/slideLayout" Target="../slideLayouts/slideLayout8.xml"/><Relationship Id="rId6" Type="http://schemas.openxmlformats.org/officeDocument/2006/relationships/image" Target="../media/image55.png"/><Relationship Id="rId5" Type="http://schemas.openxmlformats.org/officeDocument/2006/relationships/image" Target="../media/image5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1103/PhysRevE.104.025208" TargetMode="External"/><Relationship Id="rId3" Type="http://schemas.openxmlformats.org/officeDocument/2006/relationships/hyperlink" Target="https://doi.org/10.1007/s41116-016-0002-5" TargetMode="External"/><Relationship Id="rId7" Type="http://schemas.openxmlformats.org/officeDocument/2006/relationships/hyperlink" Target="https://doi.org/10.1051/0004-6361/202346990" TargetMode="External"/><Relationship Id="rId2" Type="http://schemas.openxmlformats.org/officeDocument/2006/relationships/hyperlink" Target="https://doi.org/10.1103/PhysRevE.102.033201" TargetMode="External"/><Relationship Id="rId1" Type="http://schemas.openxmlformats.org/officeDocument/2006/relationships/slideLayout" Target="../slideLayouts/slideLayout2.xml"/><Relationship Id="rId6" Type="http://schemas.openxmlformats.org/officeDocument/2006/relationships/hyperlink" Target="https://doi.org/10.3847/1538-4365/acdd58" TargetMode="External"/><Relationship Id="rId5" Type="http://schemas.openxmlformats.org/officeDocument/2006/relationships/hyperlink" Target="https://doi.org/10.1063/1.864048" TargetMode="External"/><Relationship Id="rId10" Type="http://schemas.openxmlformats.org/officeDocument/2006/relationships/hyperlink" Target="https://doi.org/10.3367/UFNe.0183.201304b.0365" TargetMode="External"/><Relationship Id="rId4" Type="http://schemas.openxmlformats.org/officeDocument/2006/relationships/hyperlink" Target="https://doi.org/10.1086/307452" TargetMode="External"/><Relationship Id="rId9" Type="http://schemas.openxmlformats.org/officeDocument/2006/relationships/hyperlink" Target="https://doi.org/10.1007/s11214-011-9819-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Energetic particle transport by solar wind current sheets</a:t>
            </a:r>
          </a:p>
        </p:txBody>
      </p:sp>
      <p:sp>
        <p:nvSpPr>
          <p:cNvPr id="9" name="Subtitle 2">
            <a:extLst>
              <a:ext uri="{FF2B5EF4-FFF2-40B4-BE49-F238E27FC236}">
                <a16:creationId xmlns:a16="http://schemas.microsoft.com/office/drawing/2014/main" id="{E94FF5A5-4D2E-925A-0CB3-AB56B6139148}"/>
              </a:ext>
            </a:extLst>
          </p:cNvPr>
          <p:cNvSpPr>
            <a:spLocks noGrp="1"/>
          </p:cNvSpPr>
          <p:nvPr>
            <p:ph type="subTitle" idx="1"/>
          </p:nvPr>
        </p:nvSpPr>
        <p:spPr>
          <a:xfrm>
            <a:off x="1371600" y="2914650"/>
            <a:ext cx="6400800" cy="2228850"/>
          </a:xfrm>
        </p:spPr>
        <p:txBody>
          <a:bodyPr>
            <a:normAutofit/>
          </a:bodyPr>
          <a:lstStyle/>
          <a:p>
            <a:pPr marL="0" lvl="0" indent="0">
              <a:buNone/>
            </a:pPr>
            <a:r>
              <a:rPr lang="en-US" dirty="0"/>
              <a:t>Pitch-angle scattering and spatial transport</a:t>
            </a:r>
            <a:br>
              <a:rPr dirty="0"/>
            </a:br>
            <a:br>
              <a:rPr dirty="0"/>
            </a:br>
            <a:r>
              <a:rPr dirty="0"/>
              <a:t>Zijin Zhang</a:t>
            </a:r>
            <a:br>
              <a:rPr dirty="0"/>
            </a:br>
            <a:r>
              <a:rPr dirty="0"/>
              <a:t>Anton V. Artemyev</a:t>
            </a:r>
            <a:br>
              <a:rPr dirty="0"/>
            </a:br>
            <a:r>
              <a:rPr dirty="0"/>
              <a:t>Vassilis Angelopoulos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74589" y="3844380"/>
                <a:ext cx="5123259" cy="1115451"/>
              </a:xfrm>
            </p:spPr>
            <p:txBody>
              <a:bodyPr>
                <a:normAutofit fontScale="62500" lnSpcReduction="20000"/>
              </a:bodyPr>
              <a:lstStyle/>
              <a:p>
                <a:pPr marL="0" lvl="0" indent="0">
                  <a:buNone/>
                </a:pPr>
                <a14:m>
                  <m:oMathPara xmlns:m="http://schemas.openxmlformats.org/officeDocument/2006/math">
                    <m:oMathParaPr>
                      <m:jc m:val="center"/>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𝑓</m:t>
                          </m:r>
                        </m:num>
                        <m:den>
                          <m:r>
                            <a:rPr lang="ar-AE">
                              <a:latin typeface="Cambria Math" panose="02040503050406030204" pitchFamily="18" charset="0"/>
                            </a:rPr>
                            <m:t>𝜕</m:t>
                          </m:r>
                          <m:r>
                            <a:rPr lang="ar-AE">
                              <a:latin typeface="Cambria Math" panose="02040503050406030204" pitchFamily="18" charset="0"/>
                            </a:rPr>
                            <m:t>𝑡</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𝑖</m:t>
                              </m:r>
                            </m:sub>
                          </m:sSub>
                        </m:den>
                      </m:f>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𝜅</m:t>
                              </m:r>
                            </m:e>
                            <m:sub>
                              <m:r>
                                <a:rPr lang="ar-AE">
                                  <a:latin typeface="Cambria Math" panose="02040503050406030204" pitchFamily="18" charset="0"/>
                                </a:rPr>
                                <m:t>𝑖𝑗</m:t>
                              </m:r>
                            </m:sub>
                          </m:sSub>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𝑓</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𝑗</m:t>
                                  </m:r>
                                </m:sub>
                              </m:sSub>
                            </m:den>
                          </m:f>
                        </m:e>
                      </m:d>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𝑈</m:t>
                          </m:r>
                        </m:e>
                        <m:sub>
                          <m:r>
                            <a:rPr lang="ar-AE">
                              <a:latin typeface="Cambria Math" panose="02040503050406030204" pitchFamily="18" charset="0"/>
                            </a:rPr>
                            <m:t>𝑖</m:t>
                          </m:r>
                        </m:sub>
                      </m:sSub>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𝑓</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𝑖</m:t>
                              </m:r>
                            </m:sub>
                          </m:sSub>
                        </m:den>
                      </m:f>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𝑉</m:t>
                          </m:r>
                        </m:e>
                        <m:sub>
                          <m:r>
                            <a:rPr lang="ar-AE">
                              <a:latin typeface="Cambria Math" panose="02040503050406030204" pitchFamily="18" charset="0"/>
                            </a:rPr>
                            <m:t>𝑑</m:t>
                          </m:r>
                          <m:r>
                            <a:rPr lang="ar-AE">
                              <a:latin typeface="Cambria Math" panose="02040503050406030204" pitchFamily="18" charset="0"/>
                            </a:rPr>
                            <m:t>,</m:t>
                          </m:r>
                          <m:r>
                            <a:rPr lang="ar-AE">
                              <a:latin typeface="Cambria Math" panose="02040503050406030204" pitchFamily="18" charset="0"/>
                            </a:rPr>
                            <m:t>𝑖</m:t>
                          </m:r>
                        </m:sub>
                      </m:sSub>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𝑓</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𝑖</m:t>
                              </m:r>
                            </m:sub>
                          </m:sSub>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3</m:t>
                          </m:r>
                        </m:den>
                      </m:f>
                      <m:f>
                        <m:fPr>
                          <m:ctrlPr>
                            <a:rPr lang="ar-AE" i="1">
                              <a:latin typeface="Cambria Math" panose="02040503050406030204" pitchFamily="18" charset="0"/>
                            </a:rPr>
                          </m:ctrlPr>
                        </m:fPr>
                        <m:num>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𝑈</m:t>
                              </m:r>
                            </m:e>
                            <m:sub>
                              <m:r>
                                <a:rPr lang="ar-AE">
                                  <a:latin typeface="Cambria Math" panose="02040503050406030204" pitchFamily="18" charset="0"/>
                                </a:rPr>
                                <m:t>𝑖</m:t>
                              </m:r>
                            </m:sub>
                          </m:sSub>
                        </m:num>
                        <m:den>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𝑥</m:t>
                              </m:r>
                            </m:e>
                            <m:sub>
                              <m:r>
                                <a:rPr lang="ar-AE">
                                  <a:latin typeface="Cambria Math" panose="02040503050406030204" pitchFamily="18" charset="0"/>
                                </a:rPr>
                                <m:t>𝑖</m:t>
                              </m:r>
                            </m:sub>
                          </m:sSub>
                        </m:den>
                      </m:f>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𝑓</m:t>
                              </m:r>
                            </m:num>
                            <m:den>
                              <m:r>
                                <a:rPr lang="ar-AE">
                                  <a:latin typeface="Cambria Math" panose="02040503050406030204" pitchFamily="18" charset="0"/>
                                </a:rPr>
                                <m:t>𝜕</m:t>
                              </m:r>
                              <m:r>
                                <m:rPr>
                                  <m:sty m:val="p"/>
                                </m:rPr>
                                <a:rPr lang="en-US">
                                  <a:latin typeface="Cambria Math" panose="02040503050406030204" pitchFamily="18" charset="0"/>
                                </a:rPr>
                                <m:t>ln</m:t>
                              </m:r>
                              <m:r>
                                <a:rPr lang="en-US">
                                  <a:latin typeface="Cambria Math" panose="02040503050406030204" pitchFamily="18" charset="0"/>
                                </a:rPr>
                                <m:t>𝑝</m:t>
                              </m:r>
                            </m:den>
                          </m:f>
                        </m:e>
                      </m:d>
                      <m:r>
                        <a:rPr lang="ar-AE">
                          <a:latin typeface="Cambria Math" panose="02040503050406030204" pitchFamily="18" charset="0"/>
                        </a:rPr>
                        <m:t>+</m:t>
                      </m:r>
                      <m:r>
                        <m:rPr>
                          <m:sty m:val="p"/>
                        </m:rPr>
                        <a:rPr lang="en-US" b="0" i="0" smtClean="0">
                          <a:latin typeface="Cambria Math" panose="02040503050406030204" pitchFamily="18" charset="0"/>
                        </a:rPr>
                        <m:t>Q</m:t>
                      </m:r>
                    </m:oMath>
                  </m:oMathPara>
                </a14:m>
                <a:endParaRPr lang="ar-A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74589" y="3844380"/>
                <a:ext cx="5123259" cy="1115451"/>
              </a:xfrm>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8A3A10E-FAD0-552A-09B4-B797353FD6C1}"/>
              </a:ext>
            </a:extLst>
          </p:cNvPr>
          <p:cNvSpPr txBox="1"/>
          <p:nvPr/>
        </p:nvSpPr>
        <p:spPr>
          <a:xfrm>
            <a:off x="84841" y="122078"/>
            <a:ext cx="4388179" cy="1323439"/>
          </a:xfrm>
          <a:prstGeom prst="rect">
            <a:avLst/>
          </a:prstGeom>
          <a:noFill/>
          <a:ln>
            <a:solidFill>
              <a:schemeClr val="accent1"/>
            </a:solidFill>
          </a:ln>
        </p:spPr>
        <p:txBody>
          <a:bodyPr wrap="square">
            <a:spAutoFit/>
          </a:bodyPr>
          <a:lstStyle/>
          <a:p>
            <a:pPr marL="0" lvl="0" indent="0">
              <a:buNone/>
            </a:pPr>
            <a:r>
              <a:rPr lang="en-US" sz="1600" dirty="0"/>
              <a:t>Understanding how energetic particles are transported in the heliosphere (and accelerated) remains one of the central problems in space physics &amp; astrophysics. </a:t>
            </a:r>
            <a:r>
              <a:rPr lang="en-US" sz="1600" dirty="0">
                <a:solidFill>
                  <a:schemeClr val="bg1">
                    <a:lumMod val="50000"/>
                  </a:schemeClr>
                </a:solidFill>
              </a:rPr>
              <a:t>Despite decades of research, many long-standing questions persist.</a:t>
            </a:r>
          </a:p>
        </p:txBody>
      </p:sp>
      <p:pic>
        <p:nvPicPr>
          <p:cNvPr id="5" name="Picture 1" descr="images/energetic_particles_helio.png">
            <a:extLst>
              <a:ext uri="{FF2B5EF4-FFF2-40B4-BE49-F238E27FC236}">
                <a16:creationId xmlns:a16="http://schemas.microsoft.com/office/drawing/2014/main" id="{95A7BA01-AC64-9D20-DF75-D5562786F3F1}"/>
              </a:ext>
            </a:extLst>
          </p:cNvPr>
          <p:cNvPicPr>
            <a:picLocks noGrp="1" noChangeAspect="1"/>
          </p:cNvPicPr>
          <p:nvPr/>
        </p:nvPicPr>
        <p:blipFill>
          <a:blip r:embed="rId4"/>
          <a:stretch>
            <a:fillRect/>
          </a:stretch>
        </p:blipFill>
        <p:spPr bwMode="auto">
          <a:xfrm>
            <a:off x="84840" y="1421374"/>
            <a:ext cx="3989749" cy="3481252"/>
          </a:xfrm>
          <a:prstGeom prst="rect">
            <a:avLst/>
          </a:prstGeom>
          <a:noFill/>
          <a:ln w="9525">
            <a:noFill/>
            <a:headEnd/>
            <a:tailEnd/>
          </a:ln>
        </p:spPr>
      </p:pic>
      <p:sp>
        <p:nvSpPr>
          <p:cNvPr id="6" name="TextBox 5">
            <a:extLst>
              <a:ext uri="{FF2B5EF4-FFF2-40B4-BE49-F238E27FC236}">
                <a16:creationId xmlns:a16="http://schemas.microsoft.com/office/drawing/2014/main" id="{D489A3CB-3267-ADE3-2B48-97592A2BBA41}"/>
              </a:ext>
            </a:extLst>
          </p:cNvPr>
          <p:cNvSpPr txBox="1"/>
          <p:nvPr/>
        </p:nvSpPr>
        <p:spPr>
          <a:xfrm>
            <a:off x="203232" y="4774168"/>
            <a:ext cx="4572000" cy="369332"/>
          </a:xfrm>
          <a:prstGeom prst="rect">
            <a:avLst/>
          </a:prstGeom>
          <a:noFill/>
        </p:spPr>
        <p:txBody>
          <a:bodyPr wrap="square">
            <a:spAutoFit/>
          </a:bodyPr>
          <a:lstStyle/>
          <a:p>
            <a:r>
              <a:rPr lang="en-US" b="1" i="1" dirty="0"/>
              <a:t>Desai and  </a:t>
            </a:r>
            <a:r>
              <a:rPr lang="en-US" b="1" i="1" dirty="0" err="1"/>
              <a:t>Giacalone</a:t>
            </a:r>
            <a:r>
              <a:rPr lang="en-US" b="1" i="1" dirty="0"/>
              <a:t> (2016)</a:t>
            </a:r>
          </a:p>
        </p:txBody>
      </p:sp>
      <p:pic>
        <p:nvPicPr>
          <p:cNvPr id="7" name="Picture 2">
            <a:extLst>
              <a:ext uri="{FF2B5EF4-FFF2-40B4-BE49-F238E27FC236}">
                <a16:creationId xmlns:a16="http://schemas.microsoft.com/office/drawing/2014/main" id="{BD58E77F-6200-0CCE-C5D5-5CC37B93B0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1999" y="30051"/>
            <a:ext cx="3412503" cy="331102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B312E81-3FFC-3B27-005E-69E52D2F9232}"/>
              </a:ext>
            </a:extLst>
          </p:cNvPr>
          <p:cNvSpPr txBox="1"/>
          <p:nvPr/>
        </p:nvSpPr>
        <p:spPr>
          <a:xfrm>
            <a:off x="7790691" y="3353871"/>
            <a:ext cx="4600280" cy="369332"/>
          </a:xfrm>
          <a:prstGeom prst="rect">
            <a:avLst/>
          </a:prstGeom>
          <a:noFill/>
        </p:spPr>
        <p:txBody>
          <a:bodyPr wrap="square">
            <a:spAutoFit/>
          </a:bodyPr>
          <a:lstStyle/>
          <a:p>
            <a:r>
              <a:rPr lang="en-US" dirty="0"/>
              <a:t>(Parker 1965)</a:t>
            </a:r>
          </a:p>
        </p:txBody>
      </p:sp>
      <p:sp>
        <p:nvSpPr>
          <p:cNvPr id="11" name="TextBox 10">
            <a:extLst>
              <a:ext uri="{FF2B5EF4-FFF2-40B4-BE49-F238E27FC236}">
                <a16:creationId xmlns:a16="http://schemas.microsoft.com/office/drawing/2014/main" id="{11FB0930-4F51-0707-BDCE-DA0061568DA1}"/>
              </a:ext>
            </a:extLst>
          </p:cNvPr>
          <p:cNvSpPr txBox="1"/>
          <p:nvPr/>
        </p:nvSpPr>
        <p:spPr>
          <a:xfrm>
            <a:off x="3238107" y="5515562"/>
            <a:ext cx="6080288" cy="2308324"/>
          </a:xfrm>
          <a:prstGeom prst="rect">
            <a:avLst/>
          </a:prstGeom>
          <a:noFill/>
        </p:spPr>
        <p:txBody>
          <a:bodyPr wrap="square">
            <a:spAutoFit/>
          </a:bodyPr>
          <a:lstStyle/>
          <a:p>
            <a:pPr marL="0" lvl="0" indent="0">
              <a:buNone/>
            </a:pPr>
            <a:r>
              <a:rPr lang="en-US" dirty="0"/>
              <a:t>It captures four main transport processes:</a:t>
            </a:r>
          </a:p>
          <a:p>
            <a:pPr lvl="0"/>
            <a:r>
              <a:rPr lang="en-US" dirty="0"/>
              <a:t>spatial diffusion (particle scattering)</a:t>
            </a:r>
          </a:p>
          <a:p>
            <a:pPr lvl="0"/>
            <a:r>
              <a:rPr lang="en-US" dirty="0"/>
              <a:t>advection with the solar wind</a:t>
            </a:r>
          </a:p>
          <a:p>
            <a:pPr lvl="0"/>
            <a:r>
              <a:rPr lang="en-US" dirty="0"/>
              <a:t>drifts (such as gradient and curvature drifts)</a:t>
            </a:r>
          </a:p>
          <a:p>
            <a:pPr lvl="0"/>
            <a:r>
              <a:rPr lang="en-US" dirty="0"/>
              <a:t>adiabatic energy change</a:t>
            </a:r>
          </a:p>
          <a:p>
            <a:pPr marL="0" lvl="0" indent="0">
              <a:buNone/>
            </a:pPr>
            <a:r>
              <a:rPr lang="en-US" dirty="0"/>
              <a:t>However, these frameworks struggle to explain all the dynamics observed.</a:t>
            </a:r>
          </a:p>
          <a:p>
            <a:endParaRPr lang="en-US" dirty="0"/>
          </a:p>
        </p:txBody>
      </p:sp>
      <p:sp>
        <p:nvSpPr>
          <p:cNvPr id="15" name="TextBox 14">
            <a:extLst>
              <a:ext uri="{FF2B5EF4-FFF2-40B4-BE49-F238E27FC236}">
                <a16:creationId xmlns:a16="http://schemas.microsoft.com/office/drawing/2014/main" id="{768C08AF-409B-AF1C-EF21-F0192D3CFEC2}"/>
              </a:ext>
            </a:extLst>
          </p:cNvPr>
          <p:cNvSpPr txBox="1"/>
          <p:nvPr/>
        </p:nvSpPr>
        <p:spPr>
          <a:xfrm>
            <a:off x="4008601" y="4428793"/>
            <a:ext cx="6245256" cy="646331"/>
          </a:xfrm>
          <a:prstGeom prst="rect">
            <a:avLst/>
          </a:prstGeom>
          <a:noFill/>
        </p:spPr>
        <p:txBody>
          <a:bodyPr wrap="square">
            <a:spAutoFit/>
          </a:bodyPr>
          <a:lstStyle/>
          <a:p>
            <a:pPr marL="0" algn="l" rtl="0" eaLnBrk="1" latinLnBrk="0" hangingPunct="1">
              <a:spcBef>
                <a:spcPts val="0"/>
              </a:spcBef>
              <a:spcAft>
                <a:spcPts val="0"/>
              </a:spcAft>
            </a:pPr>
            <a:r>
              <a:rPr lang="en-US" dirty="0"/>
              <a:t>Four main transport processes:</a:t>
            </a:r>
          </a:p>
          <a:p>
            <a:pPr marL="0" algn="l" rtl="0" eaLnBrk="1" latinLnBrk="0" hangingPunct="1">
              <a:spcBef>
                <a:spcPts val="0"/>
              </a:spcBef>
              <a:spcAft>
                <a:spcPts val="0"/>
              </a:spcAft>
            </a:pPr>
            <a:r>
              <a:rPr lang="en-US" sz="1800" kern="1200" dirty="0">
                <a:solidFill>
                  <a:srgbClr val="000000"/>
                </a:solidFill>
                <a:effectLst/>
                <a:latin typeface="Calibri" panose="020F0502020204030204" pitchFamily="34" charset="0"/>
                <a:ea typeface="+mn-ea"/>
                <a:cs typeface="+mn-cs"/>
              </a:rPr>
              <a:t>	spatial diffusion, </a:t>
            </a:r>
            <a:r>
              <a:rPr lang="en-US" dirty="0">
                <a:solidFill>
                  <a:srgbClr val="000000"/>
                </a:solidFill>
                <a:latin typeface="Calibri" panose="020F0502020204030204" pitchFamily="34" charset="0"/>
              </a:rPr>
              <a:t>a</a:t>
            </a:r>
            <a:r>
              <a:rPr lang="en-US" sz="1800" kern="1200" dirty="0">
                <a:solidFill>
                  <a:srgbClr val="000000"/>
                </a:solidFill>
                <a:effectLst/>
                <a:latin typeface="Calibri" panose="020F0502020204030204" pitchFamily="34" charset="0"/>
                <a:ea typeface="+mn-ea"/>
                <a:cs typeface="+mn-cs"/>
              </a:rPr>
              <a:t>dvection, drifts, energy change</a:t>
            </a:r>
            <a:endParaRPr lang="en-US"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Introduction - Particle Transport in Turbulent Magnetic Field</a:t>
            </a:r>
          </a:p>
        </p:txBody>
      </p:sp>
      <p:pic>
        <p:nvPicPr>
          <p:cNvPr id="4" name="Picture 1" descr="images/giacaloneTransportCosmicRays1999-fig2.png"/>
          <p:cNvPicPr>
            <a:picLocks noGrp="1" noChangeAspect="1"/>
          </p:cNvPicPr>
          <p:nvPr/>
        </p:nvPicPr>
        <p:blipFill>
          <a:blip r:embed="rId3"/>
          <a:stretch>
            <a:fillRect/>
          </a:stretch>
        </p:blipFill>
        <p:spPr bwMode="auto">
          <a:xfrm>
            <a:off x="2819035" y="1248987"/>
            <a:ext cx="4409206" cy="3894513"/>
          </a:xfrm>
          <a:prstGeom prst="rect">
            <a:avLst/>
          </a:prstGeom>
          <a:noFill/>
          <a:ln w="9525">
            <a:noFill/>
            <a:headEnd/>
            <a:tailEnd/>
          </a:ln>
        </p:spPr>
      </p:pic>
      <p:sp>
        <p:nvSpPr>
          <p:cNvPr id="5" name="TextBox 3"/>
          <p:cNvSpPr txBox="1"/>
          <p:nvPr/>
        </p:nvSpPr>
        <p:spPr>
          <a:xfrm>
            <a:off x="7039132" y="2513834"/>
            <a:ext cx="2234408" cy="2500125"/>
          </a:xfrm>
          <a:prstGeom prst="rect">
            <a:avLst/>
          </a:prstGeom>
          <a:noFill/>
        </p:spPr>
        <p:txBody>
          <a:bodyPr/>
          <a:lstStyle/>
          <a:p>
            <a:pPr marL="0" lvl="0" indent="0" algn="ctr">
              <a:buNone/>
            </a:pPr>
            <a:r>
              <a:rPr dirty="0"/>
              <a:t>Sample particle trajectories of two protons superimposed on magnetic field lines</a:t>
            </a:r>
            <a:r>
              <a:rPr lang="en-US" dirty="0"/>
              <a:t>.</a:t>
            </a:r>
            <a:endParaRPr dirty="0"/>
          </a:p>
        </p:txBody>
      </p:sp>
      <p:sp>
        <p:nvSpPr>
          <p:cNvPr id="3" name="Content Placeholder 2"/>
          <p:cNvSpPr>
            <a:spLocks noGrp="1"/>
          </p:cNvSpPr>
          <p:nvPr>
            <p:ph idx="1"/>
          </p:nvPr>
        </p:nvSpPr>
        <p:spPr>
          <a:xfrm>
            <a:off x="203887" y="1243400"/>
            <a:ext cx="3002377" cy="3394472"/>
          </a:xfrm>
        </p:spPr>
        <p:txBody>
          <a:bodyPr>
            <a:normAutofit/>
          </a:bodyPr>
          <a:lstStyle/>
          <a:p>
            <a:pPr lvl="0"/>
            <a:r>
              <a:rPr sz="2000" dirty="0"/>
              <a:t>Parallel diffusion due to pitch-angle diffusion</a:t>
            </a:r>
            <a:endParaRPr lang="en-US" sz="2000" dirty="0"/>
          </a:p>
          <a:p>
            <a:pPr lvl="0"/>
            <a:endParaRPr sz="2000" dirty="0"/>
          </a:p>
          <a:p>
            <a:pPr lvl="0"/>
            <a:r>
              <a:rPr sz="2000" dirty="0"/>
              <a:t>Drift motion due to magnetic field inhomogeneities</a:t>
            </a:r>
            <a:endParaRPr lang="en-US" sz="2000" dirty="0"/>
          </a:p>
          <a:p>
            <a:pPr lvl="0"/>
            <a:endParaRPr sz="2000" dirty="0"/>
          </a:p>
          <a:p>
            <a:pPr lvl="0"/>
            <a:r>
              <a:rPr sz="2000" dirty="0"/>
              <a:t>Transverse diffusion due to random walk of magnetic lines</a:t>
            </a:r>
          </a:p>
        </p:txBody>
      </p:sp>
      <p:sp>
        <p:nvSpPr>
          <p:cNvPr id="7" name="TextBox 6">
            <a:extLst>
              <a:ext uri="{FF2B5EF4-FFF2-40B4-BE49-F238E27FC236}">
                <a16:creationId xmlns:a16="http://schemas.microsoft.com/office/drawing/2014/main" id="{4D5647E6-58A8-2BB0-D75B-3BFB0F0477BD}"/>
              </a:ext>
            </a:extLst>
          </p:cNvPr>
          <p:cNvSpPr txBox="1"/>
          <p:nvPr/>
        </p:nvSpPr>
        <p:spPr>
          <a:xfrm>
            <a:off x="6400800" y="4774168"/>
            <a:ext cx="4572000" cy="369332"/>
          </a:xfrm>
          <a:prstGeom prst="rect">
            <a:avLst/>
          </a:prstGeom>
          <a:noFill/>
        </p:spPr>
        <p:txBody>
          <a:bodyPr wrap="square">
            <a:spAutoFit/>
          </a:bodyPr>
          <a:lstStyle/>
          <a:p>
            <a:pPr marL="0" lvl="0" indent="0">
              <a:buNone/>
            </a:pPr>
            <a:r>
              <a:rPr lang="en-US" dirty="0" err="1"/>
              <a:t>Giacalone</a:t>
            </a:r>
            <a:r>
              <a:rPr lang="en-US" dirty="0"/>
              <a:t> and </a:t>
            </a:r>
            <a:r>
              <a:rPr lang="en-US" dirty="0" err="1"/>
              <a:t>Jokipii</a:t>
            </a:r>
            <a:r>
              <a:rPr lang="en-US" dirty="0"/>
              <a:t> (1999)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5EF05-0681-F4D3-EE8A-990B16121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CAA21-4BC3-8E05-3861-8100BCEB1C5F}"/>
              </a:ext>
            </a:extLst>
          </p:cNvPr>
          <p:cNvSpPr>
            <a:spLocks noGrp="1"/>
          </p:cNvSpPr>
          <p:nvPr>
            <p:ph type="title"/>
          </p:nvPr>
        </p:nvSpPr>
        <p:spPr>
          <a:xfrm>
            <a:off x="75414" y="187445"/>
            <a:ext cx="8229600" cy="857250"/>
          </a:xfrm>
        </p:spPr>
        <p:txBody>
          <a:bodyPr>
            <a:normAutofit fontScale="90000"/>
          </a:bodyPr>
          <a:lstStyle/>
          <a:p>
            <a:pPr marL="0" lvl="0" indent="0" algn="l">
              <a:buNone/>
            </a:pPr>
            <a:r>
              <a:rPr sz="3200" dirty="0"/>
              <a:t>Turbulent Magnetic </a:t>
            </a:r>
            <a:br>
              <a:rPr lang="en-US" sz="3200" dirty="0"/>
            </a:br>
            <a:r>
              <a:rPr sz="3200" dirty="0"/>
              <a:t>Fluctuations</a:t>
            </a:r>
          </a:p>
        </p:txBody>
      </p:sp>
      <p:pic>
        <p:nvPicPr>
          <p:cNvPr id="4" name="Picture 1" descr="./figures/grecoPartialVarianceIncrements2017-fig1.png">
            <a:extLst>
              <a:ext uri="{FF2B5EF4-FFF2-40B4-BE49-F238E27FC236}">
                <a16:creationId xmlns:a16="http://schemas.microsoft.com/office/drawing/2014/main" id="{EA26C0E9-093E-9151-255F-D4D685A1D19A}"/>
              </a:ext>
            </a:extLst>
          </p:cNvPr>
          <p:cNvPicPr>
            <a:picLocks noGrp="1" noChangeAspect="1"/>
          </p:cNvPicPr>
          <p:nvPr/>
        </p:nvPicPr>
        <p:blipFill>
          <a:blip r:embed="rId3"/>
          <a:stretch>
            <a:fillRect/>
          </a:stretch>
        </p:blipFill>
        <p:spPr bwMode="auto">
          <a:xfrm>
            <a:off x="4496586" y="321501"/>
            <a:ext cx="4572000" cy="4364610"/>
          </a:xfrm>
          <a:prstGeom prst="rect">
            <a:avLst/>
          </a:prstGeom>
          <a:noFill/>
          <a:ln w="9525">
            <a:noFill/>
            <a:headEnd/>
            <a:tailEnd/>
          </a:ln>
        </p:spPr>
      </p:pic>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3242E158-00BF-9DFD-6939-BE23DCE6B0BC}"/>
                  </a:ext>
                </a:extLst>
              </p:cNvPr>
              <p:cNvSpPr txBox="1"/>
              <p:nvPr/>
            </p:nvSpPr>
            <p:spPr>
              <a:xfrm>
                <a:off x="2667786" y="4641152"/>
                <a:ext cx="8229600" cy="508000"/>
              </a:xfrm>
              <a:prstGeom prst="rect">
                <a:avLst/>
              </a:prstGeom>
              <a:noFill/>
            </p:spPr>
            <p:txBody>
              <a:bodyPr/>
              <a:lstStyle/>
              <a:p>
                <a:pPr marL="0" lvl="0" indent="0" algn="ctr">
                  <a:buNone/>
                </a:pPr>
                <a:r>
                  <a:rPr dirty="0"/>
                  <a:t>PDF of the out-of-plane electric current density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𝐽</m:t>
                        </m:r>
                      </m:e>
                      <m:sub>
                        <m:r>
                          <a:rPr>
                            <a:latin typeface="Cambria Math" panose="02040503050406030204" pitchFamily="18" charset="0"/>
                          </a:rPr>
                          <m:t>𝑧</m:t>
                        </m:r>
                      </m:sub>
                    </m:sSub>
                  </m:oMath>
                </a14:m>
                <a:endParaRPr dirty="0"/>
              </a:p>
            </p:txBody>
          </p:sp>
        </mc:Choice>
        <mc:Fallback xmlns="">
          <p:sp>
            <p:nvSpPr>
              <p:cNvPr id="5" name="TextBox 3">
                <a:extLst>
                  <a:ext uri="{FF2B5EF4-FFF2-40B4-BE49-F238E27FC236}">
                    <a16:creationId xmlns:a16="http://schemas.microsoft.com/office/drawing/2014/main" id="{3242E158-00BF-9DFD-6939-BE23DCE6B0BC}"/>
                  </a:ext>
                </a:extLst>
              </p:cNvPr>
              <p:cNvSpPr txBox="1">
                <a:spLocks noRot="1" noChangeAspect="1" noMove="1" noResize="1" noEditPoints="1" noAdjustHandles="1" noChangeArrowheads="1" noChangeShapeType="1" noTextEdit="1"/>
              </p:cNvSpPr>
              <p:nvPr/>
            </p:nvSpPr>
            <p:spPr>
              <a:xfrm>
                <a:off x="2667786" y="4641152"/>
                <a:ext cx="8229600" cy="508000"/>
              </a:xfrm>
              <a:prstGeom prst="rect">
                <a:avLst/>
              </a:prstGeom>
              <a:blipFill>
                <a:blip r:embed="rId4"/>
                <a:stretch>
                  <a:fillRect t="-4878"/>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5DF72B8-BA5C-C321-1EE2-6270A49BC57C}"/>
              </a:ext>
            </a:extLst>
          </p:cNvPr>
          <p:cNvSpPr txBox="1"/>
          <p:nvPr/>
        </p:nvSpPr>
        <p:spPr>
          <a:xfrm>
            <a:off x="7214386" y="2779"/>
            <a:ext cx="4572000" cy="369332"/>
          </a:xfrm>
          <a:prstGeom prst="rect">
            <a:avLst/>
          </a:prstGeom>
          <a:noFill/>
        </p:spPr>
        <p:txBody>
          <a:bodyPr wrap="square">
            <a:spAutoFit/>
          </a:bodyPr>
          <a:lstStyle/>
          <a:p>
            <a:pPr marL="0" lvl="0" indent="0">
              <a:buNone/>
            </a:pPr>
            <a:r>
              <a:rPr lang="en-US" dirty="0"/>
              <a:t>(Greco et al. 2017)</a:t>
            </a:r>
          </a:p>
        </p:txBody>
      </p:sp>
      <p:sp>
        <p:nvSpPr>
          <p:cNvPr id="14" name="TextBox 13">
            <a:extLst>
              <a:ext uri="{FF2B5EF4-FFF2-40B4-BE49-F238E27FC236}">
                <a16:creationId xmlns:a16="http://schemas.microsoft.com/office/drawing/2014/main" id="{584C907F-DBFD-33EC-1D03-BAA2FACE859A}"/>
              </a:ext>
            </a:extLst>
          </p:cNvPr>
          <p:cNvSpPr txBox="1"/>
          <p:nvPr/>
        </p:nvSpPr>
        <p:spPr>
          <a:xfrm>
            <a:off x="129089" y="2880669"/>
            <a:ext cx="4367497" cy="2585323"/>
          </a:xfrm>
          <a:prstGeom prst="rect">
            <a:avLst/>
          </a:prstGeom>
          <a:noFill/>
        </p:spPr>
        <p:txBody>
          <a:bodyPr wrap="square">
            <a:spAutoFit/>
          </a:bodyPr>
          <a:lstStyle/>
          <a:p>
            <a:pPr marL="0" lvl="0" indent="0">
              <a:buNone/>
            </a:pPr>
            <a:r>
              <a:rPr lang="en-US" dirty="0"/>
              <a:t>N</a:t>
            </a:r>
            <a:r>
              <a:rPr lang="en-US" sz="1800" dirty="0"/>
              <a:t>onlinear energy cascade process results in the formation of coherent structures</a:t>
            </a:r>
            <a:r>
              <a:rPr lang="en-US" dirty="0"/>
              <a:t>: </a:t>
            </a:r>
          </a:p>
          <a:p>
            <a:pPr marL="0" lvl="0" indent="0">
              <a:buNone/>
            </a:pPr>
            <a:endParaRPr lang="en-US" dirty="0"/>
          </a:p>
          <a:p>
            <a:pPr marL="0" lvl="0" indent="0">
              <a:buNone/>
            </a:pPr>
            <a:r>
              <a:rPr lang="en-US" dirty="0"/>
              <a:t>current sheets, </a:t>
            </a:r>
          </a:p>
          <a:p>
            <a:pPr marL="0" lvl="0" indent="0">
              <a:buNone/>
            </a:pPr>
            <a:r>
              <a:rPr lang="en-US" dirty="0"/>
              <a:t>rotational discontinuities, </a:t>
            </a:r>
          </a:p>
          <a:p>
            <a:pPr marL="0" lvl="0" indent="0">
              <a:buNone/>
            </a:pPr>
            <a:r>
              <a:rPr lang="en-US" dirty="0"/>
              <a:t>tangential discontinuities, </a:t>
            </a:r>
          </a:p>
          <a:p>
            <a:pPr marL="0" lvl="0" indent="0">
              <a:buNone/>
            </a:pPr>
            <a:r>
              <a:rPr lang="en-US" dirty="0"/>
              <a:t>magnetic holes, </a:t>
            </a:r>
          </a:p>
          <a:p>
            <a:pPr marL="0" lvl="0" indent="0">
              <a:buNone/>
            </a:pPr>
            <a:r>
              <a:rPr lang="en-US" dirty="0"/>
              <a:t>switchbacks…</a:t>
            </a:r>
          </a:p>
          <a:p>
            <a:pPr marL="0" lvl="0" indent="0">
              <a:buNone/>
            </a:pPr>
            <a:endParaRPr lang="en-US" sz="1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4D85FD6-FD55-0199-FB74-0F571A4E2D3C}"/>
                  </a:ext>
                </a:extLst>
              </p:cNvPr>
              <p:cNvSpPr txBox="1"/>
              <p:nvPr/>
            </p:nvSpPr>
            <p:spPr>
              <a:xfrm>
                <a:off x="-308878" y="1380514"/>
                <a:ext cx="2976664" cy="12398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ar-AE" i="1" smtClean="0">
                              <a:latin typeface="Cambria Math" panose="02040503050406030204" pitchFamily="18" charset="0"/>
                            </a:rPr>
                          </m:ctrlPr>
                        </m:mPr>
                        <m:mr>
                          <m:e/>
                          <m:e>
                            <m:eqArr>
                              <m:eqArrPr>
                                <m:ctrlPr>
                                  <a:rPr lang="ar-AE" i="1">
                                    <a:latin typeface="Cambria Math" panose="02040503050406030204" pitchFamily="18" charset="0"/>
                                  </a:rPr>
                                </m:ctrlPr>
                              </m:eqArrPr>
                              <m:e>
                                <m:r>
                                  <a:rPr lang="ar-AE">
                                    <a:latin typeface="Cambria Math" panose="02040503050406030204" pitchFamily="18" charset="0"/>
                                  </a:rPr>
                                  <m:t>𝛿</m:t>
                                </m:r>
                                <m:sSup>
                                  <m:sSupPr>
                                    <m:ctrlPr>
                                      <a:rPr lang="ar-AE" i="1">
                                        <a:latin typeface="Cambria Math" panose="02040503050406030204" pitchFamily="18" charset="0"/>
                                      </a:rPr>
                                    </m:ctrlPr>
                                  </m:sSupPr>
                                  <m:e>
                                    <m:r>
                                      <a:rPr lang="ar-AE">
                                        <a:latin typeface="Cambria Math" panose="02040503050406030204" pitchFamily="18" charset="0"/>
                                      </a:rPr>
                                      <m:t>𝐁</m:t>
                                    </m:r>
                                  </m:e>
                                  <m:sup>
                                    <m:r>
                                      <a:rPr lang="ar-AE">
                                        <a:latin typeface="Cambria Math" panose="02040503050406030204" pitchFamily="18" charset="0"/>
                                      </a:rPr>
                                      <m:t>𝑠</m:t>
                                    </m:r>
                                  </m:sup>
                                </m:sSup>
                                <m:r>
                                  <a:rPr lang="ar-AE">
                                    <a:latin typeface="Cambria Math" panose="02040503050406030204" pitchFamily="18" charset="0"/>
                                  </a:rPr>
                                  <m:t>=</m:t>
                                </m:r>
                                <m:nary>
                                  <m:naryPr>
                                    <m:chr m:val="∑"/>
                                    <m:limLoc m:val="undOvr"/>
                                    <m:ctrlPr>
                                      <a:rPr lang="ar-AE" i="1">
                                        <a:latin typeface="Cambria Math" panose="02040503050406030204" pitchFamily="18" charset="0"/>
                                      </a:rPr>
                                    </m:ctrlPr>
                                  </m:naryPr>
                                  <m:sub>
                                    <m:r>
                                      <a:rPr lang="ar-AE">
                                        <a:latin typeface="Cambria Math" panose="02040503050406030204" pitchFamily="18" charset="0"/>
                                      </a:rPr>
                                      <m:t>𝑛</m:t>
                                    </m:r>
                                    <m:r>
                                      <a:rPr lang="ar-AE">
                                        <a:latin typeface="Cambria Math" panose="02040503050406030204" pitchFamily="18" charset="0"/>
                                      </a:rPr>
                                      <m:t>=1</m:t>
                                    </m:r>
                                  </m:sub>
                                  <m:sup>
                                    <m:sSub>
                                      <m:sSubPr>
                                        <m:ctrlPr>
                                          <a:rPr lang="ar-AE" i="1">
                                            <a:latin typeface="Cambria Math" panose="02040503050406030204" pitchFamily="18" charset="0"/>
                                          </a:rPr>
                                        </m:ctrlPr>
                                      </m:sSubPr>
                                      <m:e>
                                        <m:r>
                                          <a:rPr lang="ar-AE">
                                            <a:latin typeface="Cambria Math" panose="02040503050406030204" pitchFamily="18" charset="0"/>
                                          </a:rPr>
                                          <m:t>𝑁</m:t>
                                        </m:r>
                                      </m:e>
                                      <m:sub>
                                        <m:r>
                                          <a:rPr lang="ar-AE">
                                            <a:latin typeface="Cambria Math" panose="02040503050406030204" pitchFamily="18" charset="0"/>
                                          </a:rPr>
                                          <m:t>𝑚</m:t>
                                        </m:r>
                                      </m:sub>
                                    </m:sSub>
                                  </m:sup>
                                  <m:e>
                                    <m:sSub>
                                      <m:sSubPr>
                                        <m:ctrlPr>
                                          <a:rPr lang="ar-AE" i="1">
                                            <a:latin typeface="Cambria Math" panose="02040503050406030204" pitchFamily="18" charset="0"/>
                                          </a:rPr>
                                        </m:ctrlPr>
                                      </m:sSubPr>
                                      <m:e>
                                        <m:r>
                                          <a:rPr lang="ar-AE">
                                            <a:latin typeface="Cambria Math" panose="02040503050406030204" pitchFamily="18" charset="0"/>
                                          </a:rPr>
                                          <m:t>𝐴</m:t>
                                        </m:r>
                                      </m:e>
                                      <m:sub>
                                        <m:r>
                                          <a:rPr lang="ar-AE">
                                            <a:latin typeface="Cambria Math" panose="02040503050406030204" pitchFamily="18" charset="0"/>
                                          </a:rPr>
                                          <m:t>𝑛</m:t>
                                        </m:r>
                                      </m:sub>
                                    </m:sSub>
                                  </m:e>
                                </m:nary>
                                <m:d>
                                  <m:dPr>
                                    <m:begChr m:val="["/>
                                    <m:endChr m:val="]"/>
                                    <m:ctrlPr>
                                      <a:rPr lang="ar-AE" i="1">
                                        <a:latin typeface="Cambria Math" panose="02040503050406030204" pitchFamily="18" charset="0"/>
                                      </a:rPr>
                                    </m:ctrlPr>
                                  </m:dPr>
                                  <m:e>
                                    <m:eqArr>
                                      <m:eqArrPr>
                                        <m:ctrlPr>
                                          <a:rPr lang="en-US" i="1">
                                            <a:latin typeface="Cambria Math" panose="02040503050406030204" pitchFamily="18" charset="0"/>
                                          </a:rPr>
                                        </m:ctrlPr>
                                      </m:eqArrPr>
                                      <m:e>
                                        <m:r>
                                          <m:rPr>
                                            <m:sty m:val="p"/>
                                          </m:rPr>
                                          <a:rPr lang="en-US">
                                            <a:latin typeface="Cambria Math" panose="02040503050406030204" pitchFamily="18" charset="0"/>
                                          </a:rPr>
                                          <m:t>cos</m:t>
                                        </m:r>
                                        <m:sSub>
                                          <m:sSubPr>
                                            <m:ctrlPr>
                                              <a:rPr lang="ar-AE" i="1">
                                                <a:latin typeface="Cambria Math" panose="02040503050406030204" pitchFamily="18" charset="0"/>
                                              </a:rPr>
                                            </m:ctrlPr>
                                          </m:sSubPr>
                                          <m:e>
                                            <m:r>
                                              <a:rPr lang="ar-AE">
                                                <a:latin typeface="Cambria Math" panose="02040503050406030204" pitchFamily="18" charset="0"/>
                                              </a:rPr>
                                              <m:t>𝛼</m:t>
                                            </m:r>
                                          </m:e>
                                          <m:sub>
                                            <m:r>
                                              <a:rPr lang="ar-AE">
                                                <a:latin typeface="Cambria Math" panose="02040503050406030204" pitchFamily="18" charset="0"/>
                                              </a:rPr>
                                              <m:t>𝑛</m:t>
                                            </m:r>
                                          </m:sub>
                                        </m:sSub>
                                        <m:d>
                                          <m:dPr>
                                            <m:ctrlPr>
                                              <a:rPr lang="ar-AE" i="1">
                                                <a:latin typeface="Cambria Math" panose="02040503050406030204" pitchFamily="18" charset="0"/>
                                              </a:rPr>
                                            </m:ctrlPr>
                                          </m:dPr>
                                          <m:e>
                                            <m:r>
                                              <m:rPr>
                                                <m:sty m:val="p"/>
                                              </m:rPr>
                                              <a:rPr lang="en-US">
                                                <a:latin typeface="Cambria Math" panose="02040503050406030204" pitchFamily="18" charset="0"/>
                                              </a:rPr>
                                              <m:t>cos</m:t>
                                            </m:r>
                                            <m:sSub>
                                              <m:sSubPr>
                                                <m:ctrlPr>
                                                  <a:rPr lang="ar-AE" i="1">
                                                    <a:latin typeface="Cambria Math" panose="02040503050406030204" pitchFamily="18" charset="0"/>
                                                  </a:rPr>
                                                </m:ctrlPr>
                                              </m:sSubPr>
                                              <m:e>
                                                <m:r>
                                                  <a:rPr lang="ar-AE">
                                                    <a:latin typeface="Cambria Math" panose="02040503050406030204" pitchFamily="18" charset="0"/>
                                                  </a:rPr>
                                                  <m:t>𝜙</m:t>
                                                </m:r>
                                              </m:e>
                                              <m:sub>
                                                <m:r>
                                                  <a:rPr lang="ar-AE">
                                                    <a:latin typeface="Cambria Math" panose="02040503050406030204" pitchFamily="18" charset="0"/>
                                                  </a:rPr>
                                                  <m:t>𝑛</m:t>
                                                </m:r>
                                              </m:sub>
                                            </m:sSub>
                                            <m:acc>
                                              <m:accPr>
                                                <m:chr m:val="̂"/>
                                                <m:ctrlPr>
                                                  <a:rPr lang="ar-AE" i="1">
                                                    <a:latin typeface="Cambria Math" panose="02040503050406030204" pitchFamily="18" charset="0"/>
                                                  </a:rPr>
                                                </m:ctrlPr>
                                              </m:accPr>
                                              <m:e>
                                                <m:r>
                                                  <a:rPr lang="ar-AE">
                                                    <a:latin typeface="Cambria Math" panose="02040503050406030204" pitchFamily="18" charset="0"/>
                                                  </a:rPr>
                                                  <m:t>𝑥</m:t>
                                                </m:r>
                                              </m:e>
                                            </m:acc>
                                            <m:r>
                                              <a:rPr lang="ar-AE">
                                                <a:latin typeface="Cambria Math" panose="02040503050406030204" pitchFamily="18" charset="0"/>
                                              </a:rPr>
                                              <m:t>+</m:t>
                                            </m:r>
                                            <m:r>
                                              <m:rPr>
                                                <m:sty m:val="p"/>
                                              </m:rPr>
                                              <a:rPr lang="en-US">
                                                <a:latin typeface="Cambria Math" panose="02040503050406030204" pitchFamily="18" charset="0"/>
                                              </a:rPr>
                                              <m:t>sin</m:t>
                                            </m:r>
                                            <m:sSub>
                                              <m:sSubPr>
                                                <m:ctrlPr>
                                                  <a:rPr lang="ar-AE" i="1">
                                                    <a:latin typeface="Cambria Math" panose="02040503050406030204" pitchFamily="18" charset="0"/>
                                                  </a:rPr>
                                                </m:ctrlPr>
                                              </m:sSubPr>
                                              <m:e>
                                                <m:r>
                                                  <a:rPr lang="ar-AE">
                                                    <a:latin typeface="Cambria Math" panose="02040503050406030204" pitchFamily="18" charset="0"/>
                                                  </a:rPr>
                                                  <m:t>𝜙</m:t>
                                                </m:r>
                                              </m:e>
                                              <m:sub>
                                                <m:r>
                                                  <a:rPr lang="ar-AE">
                                                    <a:latin typeface="Cambria Math" panose="02040503050406030204" pitchFamily="18" charset="0"/>
                                                  </a:rPr>
                                                  <m:t>𝑛</m:t>
                                                </m:r>
                                              </m:sub>
                                            </m:sSub>
                                            <m:acc>
                                              <m:accPr>
                                                <m:chr m:val="̂"/>
                                                <m:ctrlPr>
                                                  <a:rPr lang="ar-AE" i="1">
                                                    <a:latin typeface="Cambria Math" panose="02040503050406030204" pitchFamily="18" charset="0"/>
                                                  </a:rPr>
                                                </m:ctrlPr>
                                              </m:accPr>
                                              <m:e>
                                                <m:r>
                                                  <a:rPr lang="ar-AE">
                                                    <a:latin typeface="Cambria Math" panose="02040503050406030204" pitchFamily="18" charset="0"/>
                                                  </a:rPr>
                                                  <m:t>𝑦</m:t>
                                                </m:r>
                                              </m:e>
                                            </m:acc>
                                          </m:e>
                                        </m:d>
                                        <m:r>
                                          <a:rPr lang="ar-AE">
                                            <a:latin typeface="Cambria Math" panose="02040503050406030204" pitchFamily="18" charset="0"/>
                                          </a:rPr>
                                          <m:t>+</m:t>
                                        </m:r>
                                      </m:e>
                                      <m:e>
                                        <m:r>
                                          <a:rPr lang="ar-AE">
                                            <a:latin typeface="Cambria Math" panose="02040503050406030204" pitchFamily="18" charset="0"/>
                                          </a:rPr>
                                          <m:t>𝑖</m:t>
                                        </m:r>
                                        <m:r>
                                          <m:rPr>
                                            <m:sty m:val="p"/>
                                          </m:rPr>
                                          <a:rPr lang="en-US">
                                            <a:latin typeface="Cambria Math" panose="02040503050406030204" pitchFamily="18" charset="0"/>
                                          </a:rPr>
                                          <m:t>sin</m:t>
                                        </m:r>
                                        <m:sSub>
                                          <m:sSubPr>
                                            <m:ctrlPr>
                                              <a:rPr lang="ar-AE" i="1">
                                                <a:latin typeface="Cambria Math" panose="02040503050406030204" pitchFamily="18" charset="0"/>
                                              </a:rPr>
                                            </m:ctrlPr>
                                          </m:sSubPr>
                                          <m:e>
                                            <m:r>
                                              <a:rPr lang="ar-AE">
                                                <a:latin typeface="Cambria Math" panose="02040503050406030204" pitchFamily="18" charset="0"/>
                                              </a:rPr>
                                              <m:t>𝛼</m:t>
                                            </m:r>
                                          </m:e>
                                          <m:sub>
                                            <m:r>
                                              <a:rPr lang="ar-AE">
                                                <a:latin typeface="Cambria Math" panose="02040503050406030204" pitchFamily="18" charset="0"/>
                                              </a:rPr>
                                              <m:t>𝑛</m:t>
                                            </m:r>
                                          </m:sub>
                                        </m:sSub>
                                        <m:d>
                                          <m:dPr>
                                            <m:ctrlPr>
                                              <a:rPr lang="ar-AE" i="1">
                                                <a:latin typeface="Cambria Math" panose="02040503050406030204" pitchFamily="18" charset="0"/>
                                              </a:rPr>
                                            </m:ctrlPr>
                                          </m:dPr>
                                          <m:e>
                                            <m:r>
                                              <a:rPr lang="ar-AE">
                                                <a:latin typeface="Cambria Math" panose="02040503050406030204" pitchFamily="18" charset="0"/>
                                              </a:rPr>
                                              <m:t>−</m:t>
                                            </m:r>
                                            <m:r>
                                              <m:rPr>
                                                <m:sty m:val="p"/>
                                              </m:rPr>
                                              <a:rPr lang="en-US">
                                                <a:latin typeface="Cambria Math" panose="02040503050406030204" pitchFamily="18" charset="0"/>
                                              </a:rPr>
                                              <m:t>sin</m:t>
                                            </m:r>
                                            <m:sSub>
                                              <m:sSubPr>
                                                <m:ctrlPr>
                                                  <a:rPr lang="ar-AE" i="1">
                                                    <a:latin typeface="Cambria Math" panose="02040503050406030204" pitchFamily="18" charset="0"/>
                                                  </a:rPr>
                                                </m:ctrlPr>
                                              </m:sSubPr>
                                              <m:e>
                                                <m:r>
                                                  <a:rPr lang="ar-AE">
                                                    <a:latin typeface="Cambria Math" panose="02040503050406030204" pitchFamily="18" charset="0"/>
                                                  </a:rPr>
                                                  <m:t>𝜙</m:t>
                                                </m:r>
                                              </m:e>
                                              <m:sub>
                                                <m:r>
                                                  <a:rPr lang="ar-AE">
                                                    <a:latin typeface="Cambria Math" panose="02040503050406030204" pitchFamily="18" charset="0"/>
                                                  </a:rPr>
                                                  <m:t>𝑛</m:t>
                                                </m:r>
                                              </m:sub>
                                            </m:sSub>
                                            <m:acc>
                                              <m:accPr>
                                                <m:chr m:val="̂"/>
                                                <m:ctrlPr>
                                                  <a:rPr lang="ar-AE" i="1">
                                                    <a:latin typeface="Cambria Math" panose="02040503050406030204" pitchFamily="18" charset="0"/>
                                                  </a:rPr>
                                                </m:ctrlPr>
                                              </m:accPr>
                                              <m:e>
                                                <m:r>
                                                  <a:rPr lang="ar-AE">
                                                    <a:latin typeface="Cambria Math" panose="02040503050406030204" pitchFamily="18" charset="0"/>
                                                  </a:rPr>
                                                  <m:t>𝑥</m:t>
                                                </m:r>
                                              </m:e>
                                            </m:acc>
                                            <m:r>
                                              <a:rPr lang="ar-AE">
                                                <a:latin typeface="Cambria Math" panose="02040503050406030204" pitchFamily="18" charset="0"/>
                                              </a:rPr>
                                              <m:t>+</m:t>
                                            </m:r>
                                            <m:r>
                                              <m:rPr>
                                                <m:sty m:val="p"/>
                                              </m:rPr>
                                              <a:rPr lang="en-US">
                                                <a:latin typeface="Cambria Math" panose="02040503050406030204" pitchFamily="18" charset="0"/>
                                              </a:rPr>
                                              <m:t>cos</m:t>
                                            </m:r>
                                            <m:sSub>
                                              <m:sSubPr>
                                                <m:ctrlPr>
                                                  <a:rPr lang="ar-AE" i="1">
                                                    <a:latin typeface="Cambria Math" panose="02040503050406030204" pitchFamily="18" charset="0"/>
                                                  </a:rPr>
                                                </m:ctrlPr>
                                              </m:sSubPr>
                                              <m:e>
                                                <m:r>
                                                  <a:rPr lang="ar-AE">
                                                    <a:latin typeface="Cambria Math" panose="02040503050406030204" pitchFamily="18" charset="0"/>
                                                  </a:rPr>
                                                  <m:t>𝜙</m:t>
                                                </m:r>
                                              </m:e>
                                              <m:sub>
                                                <m:r>
                                                  <a:rPr lang="ar-AE">
                                                    <a:latin typeface="Cambria Math" panose="02040503050406030204" pitchFamily="18" charset="0"/>
                                                  </a:rPr>
                                                  <m:t>𝑛</m:t>
                                                </m:r>
                                              </m:sub>
                                            </m:sSub>
                                            <m:acc>
                                              <m:accPr>
                                                <m:chr m:val="̂"/>
                                                <m:ctrlPr>
                                                  <a:rPr lang="ar-AE" i="1">
                                                    <a:latin typeface="Cambria Math" panose="02040503050406030204" pitchFamily="18" charset="0"/>
                                                  </a:rPr>
                                                </m:ctrlPr>
                                              </m:accPr>
                                              <m:e>
                                                <m:r>
                                                  <a:rPr lang="ar-AE">
                                                    <a:latin typeface="Cambria Math" panose="02040503050406030204" pitchFamily="18" charset="0"/>
                                                  </a:rPr>
                                                  <m:t>𝑦</m:t>
                                                </m:r>
                                              </m:e>
                                            </m:acc>
                                          </m:e>
                                        </m:d>
                                      </m:e>
                                    </m:eqArr>
                                  </m:e>
                                </m:d>
                              </m:e>
                              <m:e>
                                <m:r>
                                  <a:rPr lang="ar-AE">
                                    <a:latin typeface="Cambria Math" panose="02040503050406030204" pitchFamily="18" charset="0"/>
                                  </a:rPr>
                                  <m:t>×</m:t>
                                </m:r>
                                <m:r>
                                  <m:rPr>
                                    <m:sty m:val="p"/>
                                  </m:rPr>
                                  <a:rPr lang="en-US">
                                    <a:latin typeface="Cambria Math" panose="02040503050406030204" pitchFamily="18" charset="0"/>
                                  </a:rPr>
                                  <m:t>exp</m:t>
                                </m:r>
                                <m:d>
                                  <m:dPr>
                                    <m:ctrlPr>
                                      <a:rPr lang="ar-AE" i="1">
                                        <a:latin typeface="Cambria Math" panose="02040503050406030204" pitchFamily="18" charset="0"/>
                                      </a:rPr>
                                    </m:ctrlPr>
                                  </m:dPr>
                                  <m:e>
                                    <m:r>
                                      <a:rPr lang="ar-AE">
                                        <a:latin typeface="Cambria Math" panose="02040503050406030204" pitchFamily="18" charset="0"/>
                                      </a:rPr>
                                      <m:t>𝑖</m:t>
                                    </m:r>
                                    <m:sSub>
                                      <m:sSubPr>
                                        <m:ctrlPr>
                                          <a:rPr lang="ar-AE" i="1">
                                            <a:latin typeface="Cambria Math" panose="02040503050406030204" pitchFamily="18" charset="0"/>
                                          </a:rPr>
                                        </m:ctrlPr>
                                      </m:sSubPr>
                                      <m:e>
                                        <m:r>
                                          <a:rPr lang="ar-AE">
                                            <a:latin typeface="Cambria Math" panose="02040503050406030204" pitchFamily="18" charset="0"/>
                                          </a:rPr>
                                          <m:t>𝑘</m:t>
                                        </m:r>
                                      </m:e>
                                      <m:sub>
                                        <m:r>
                                          <a:rPr lang="ar-AE">
                                            <a:latin typeface="Cambria Math" panose="02040503050406030204" pitchFamily="18" charset="0"/>
                                          </a:rPr>
                                          <m:t>𝑛</m:t>
                                        </m:r>
                                      </m:sub>
                                    </m:sSub>
                                    <m:r>
                                      <a:rPr lang="ar-AE">
                                        <a:latin typeface="Cambria Math" panose="02040503050406030204" pitchFamily="18" charset="0"/>
                                      </a:rPr>
                                      <m:t>𝑧</m:t>
                                    </m:r>
                                    <m:r>
                                      <a:rPr lang="ar-AE">
                                        <a:latin typeface="Cambria Math" panose="02040503050406030204" pitchFamily="18" charset="0"/>
                                      </a:rPr>
                                      <m:t>+</m:t>
                                    </m:r>
                                    <m:r>
                                      <a:rPr lang="ar-AE">
                                        <a:latin typeface="Cambria Math" panose="02040503050406030204" pitchFamily="18" charset="0"/>
                                      </a:rPr>
                                      <m:t>𝑖</m:t>
                                    </m:r>
                                    <m:sSub>
                                      <m:sSubPr>
                                        <m:ctrlPr>
                                          <a:rPr lang="ar-AE" i="1">
                                            <a:latin typeface="Cambria Math" panose="02040503050406030204" pitchFamily="18" charset="0"/>
                                          </a:rPr>
                                        </m:ctrlPr>
                                      </m:sSubPr>
                                      <m:e>
                                        <m:r>
                                          <a:rPr lang="ar-AE">
                                            <a:latin typeface="Cambria Math" panose="02040503050406030204" pitchFamily="18" charset="0"/>
                                          </a:rPr>
                                          <m:t>𝛽</m:t>
                                        </m:r>
                                      </m:e>
                                      <m:sub>
                                        <m:r>
                                          <a:rPr lang="ar-AE">
                                            <a:latin typeface="Cambria Math" panose="02040503050406030204" pitchFamily="18" charset="0"/>
                                          </a:rPr>
                                          <m:t>𝑛</m:t>
                                        </m:r>
                                      </m:sub>
                                    </m:sSub>
                                  </m:e>
                                </m:d>
                              </m:e>
                            </m:eqArr>
                          </m:e>
                        </m:mr>
                        <m:mr>
                          <m:e/>
                          <m:e/>
                        </m:mr>
                      </m:m>
                    </m:oMath>
                  </m:oMathPara>
                </a14:m>
                <a:endParaRPr lang="en-US" dirty="0"/>
              </a:p>
            </p:txBody>
          </p:sp>
        </mc:Choice>
        <mc:Fallback xmlns="">
          <p:sp>
            <p:nvSpPr>
              <p:cNvPr id="6" name="TextBox 5">
                <a:extLst>
                  <a:ext uri="{FF2B5EF4-FFF2-40B4-BE49-F238E27FC236}">
                    <a16:creationId xmlns:a16="http://schemas.microsoft.com/office/drawing/2014/main" id="{A4D85FD6-FD55-0199-FB74-0F571A4E2D3C}"/>
                  </a:ext>
                </a:extLst>
              </p:cNvPr>
              <p:cNvSpPr txBox="1">
                <a:spLocks noRot="1" noChangeAspect="1" noMove="1" noResize="1" noEditPoints="1" noAdjustHandles="1" noChangeArrowheads="1" noChangeShapeType="1" noTextEdit="1"/>
              </p:cNvSpPr>
              <p:nvPr/>
            </p:nvSpPr>
            <p:spPr>
              <a:xfrm>
                <a:off x="-308878" y="1380514"/>
                <a:ext cx="2976664" cy="1239827"/>
              </a:xfrm>
              <a:prstGeom prst="rect">
                <a:avLst/>
              </a:prstGeom>
              <a:blipFill>
                <a:blip r:embed="rId5"/>
                <a:stretch>
                  <a:fillRect l="-847" t="-66667" r="-52542" b="-74747"/>
                </a:stretch>
              </a:blipFill>
            </p:spPr>
            <p:txBody>
              <a:bodyPr/>
              <a:lstStyle/>
              <a:p>
                <a:r>
                  <a:rPr lang="en-US">
                    <a:noFill/>
                  </a:rPr>
                  <a:t> </a:t>
                </a:r>
              </a:p>
            </p:txBody>
          </p:sp>
        </mc:Fallback>
      </mc:AlternateContent>
    </p:spTree>
    <p:extLst>
      <p:ext uri="{BB962C8B-B14F-4D97-AF65-F5344CB8AC3E}">
        <p14:creationId xmlns:p14="http://schemas.microsoft.com/office/powerpoint/2010/main" val="318179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4" grpId="0"/>
      <p:bldP spid="1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572000" cy="953954"/>
          </a:xfrm>
        </p:spPr>
        <p:txBody>
          <a:bodyPr>
            <a:noAutofit/>
          </a:bodyPr>
          <a:lstStyle/>
          <a:p>
            <a:pPr marL="0" lvl="0" indent="0">
              <a:buNone/>
            </a:pPr>
            <a:r>
              <a:rPr sz="2800" dirty="0"/>
              <a:t>The Role of </a:t>
            </a:r>
            <a:r>
              <a:rPr lang="en-US" sz="2800" dirty="0"/>
              <a:t>Coherent Structure </a:t>
            </a:r>
            <a:r>
              <a:rPr sz="2800" dirty="0"/>
              <a:t>in Particle Transport</a:t>
            </a:r>
          </a:p>
        </p:txBody>
      </p:sp>
      <p:pic>
        <p:nvPicPr>
          <p:cNvPr id="3" name="Picture 1" descr="./figures/malaraEnergeticParticleDynamics2023-fig8.png"/>
          <p:cNvPicPr>
            <a:picLocks noGrp="1" noChangeAspect="1"/>
          </p:cNvPicPr>
          <p:nvPr/>
        </p:nvPicPr>
        <p:blipFill>
          <a:blip r:embed="rId3"/>
          <a:stretch>
            <a:fillRect/>
          </a:stretch>
        </p:blipFill>
        <p:spPr bwMode="auto">
          <a:xfrm>
            <a:off x="4717629" y="0"/>
            <a:ext cx="3554304" cy="4617631"/>
          </a:xfrm>
          <a:prstGeom prst="rect">
            <a:avLst/>
          </a:prstGeom>
          <a:noFill/>
          <a:ln w="9525">
            <a:noFill/>
            <a:headEnd/>
            <a:tailEnd/>
          </a:ln>
        </p:spPr>
      </p:pic>
      <p:sp>
        <p:nvSpPr>
          <p:cNvPr id="4" name="TextBox 3"/>
          <p:cNvSpPr txBox="1"/>
          <p:nvPr/>
        </p:nvSpPr>
        <p:spPr>
          <a:xfrm>
            <a:off x="4426373" y="4525558"/>
            <a:ext cx="4937760" cy="970397"/>
          </a:xfrm>
          <a:prstGeom prst="rect">
            <a:avLst/>
          </a:prstGeom>
          <a:noFill/>
        </p:spPr>
        <p:txBody>
          <a:bodyPr/>
          <a:lstStyle/>
          <a:p>
            <a:pPr marL="0" lvl="0" indent="0" algn="ctr">
              <a:buNone/>
            </a:pPr>
            <a:r>
              <a:rPr dirty="0"/>
              <a:t>Trajectories of three particles of 1 MeV SEP interaction with</a:t>
            </a:r>
            <a:r>
              <a:rPr lang="en-US" dirty="0"/>
              <a:t> switchback</a:t>
            </a:r>
            <a:endParaRPr dirty="0"/>
          </a:p>
        </p:txBody>
      </p:sp>
      <p:pic>
        <p:nvPicPr>
          <p:cNvPr id="5" name="Picture 1" descr="./images/moraalCosmicRayModulationEquations2013-fig1.png">
            <a:extLst>
              <a:ext uri="{FF2B5EF4-FFF2-40B4-BE49-F238E27FC236}">
                <a16:creationId xmlns:a16="http://schemas.microsoft.com/office/drawing/2014/main" id="{E24AADB2-7256-A378-1CC9-FC29E30D62E0}"/>
              </a:ext>
            </a:extLst>
          </p:cNvPr>
          <p:cNvPicPr>
            <a:picLocks noGrp="1" noChangeAspect="1"/>
          </p:cNvPicPr>
          <p:nvPr/>
        </p:nvPicPr>
        <p:blipFill>
          <a:blip r:embed="rId4"/>
          <a:stretch>
            <a:fillRect/>
          </a:stretch>
        </p:blipFill>
        <p:spPr bwMode="auto">
          <a:xfrm>
            <a:off x="151553" y="887429"/>
            <a:ext cx="4274820" cy="4256071"/>
          </a:xfrm>
          <a:prstGeom prst="rect">
            <a:avLst/>
          </a:prstGeom>
          <a:noFill/>
          <a:ln w="9525">
            <a:noFill/>
            <a:headEnd/>
            <a:tailEnd/>
          </a:ln>
        </p:spPr>
      </p:pic>
      <p:sp>
        <p:nvSpPr>
          <p:cNvPr id="6" name="TextBox 5">
            <a:extLst>
              <a:ext uri="{FF2B5EF4-FFF2-40B4-BE49-F238E27FC236}">
                <a16:creationId xmlns:a16="http://schemas.microsoft.com/office/drawing/2014/main" id="{462C8FF2-DDCC-409C-120F-4228C19E648C}"/>
              </a:ext>
            </a:extLst>
          </p:cNvPr>
          <p:cNvSpPr txBox="1"/>
          <p:nvPr/>
        </p:nvSpPr>
        <p:spPr>
          <a:xfrm>
            <a:off x="0" y="2633177"/>
            <a:ext cx="8229600" cy="508000"/>
          </a:xfrm>
          <a:prstGeom prst="rect">
            <a:avLst/>
          </a:prstGeom>
          <a:noFill/>
        </p:spPr>
        <p:txBody>
          <a:bodyPr/>
          <a:lstStyle/>
          <a:p>
            <a:pPr marL="0" lvl="0" indent="0" algn="ctr">
              <a:buNone/>
            </a:pPr>
            <a:r>
              <a:rPr b="1" i="1" dirty="0" err="1"/>
              <a:t>Moraal</a:t>
            </a:r>
            <a:r>
              <a:rPr b="1" i="1" dirty="0"/>
              <a:t> (2013)</a:t>
            </a:r>
          </a:p>
        </p:txBody>
      </p:sp>
      <p:sp>
        <p:nvSpPr>
          <p:cNvPr id="8" name="TextBox 7">
            <a:extLst>
              <a:ext uri="{FF2B5EF4-FFF2-40B4-BE49-F238E27FC236}">
                <a16:creationId xmlns:a16="http://schemas.microsoft.com/office/drawing/2014/main" id="{71DA8C90-19F9-DE2D-D177-8215B5F4DFD3}"/>
              </a:ext>
            </a:extLst>
          </p:cNvPr>
          <p:cNvSpPr txBox="1"/>
          <p:nvPr/>
        </p:nvSpPr>
        <p:spPr>
          <a:xfrm>
            <a:off x="7625081" y="2793744"/>
            <a:ext cx="1367366" cy="646331"/>
          </a:xfrm>
          <a:prstGeom prst="rect">
            <a:avLst/>
          </a:prstGeom>
          <a:noFill/>
        </p:spPr>
        <p:txBody>
          <a:bodyPr wrap="square">
            <a:spAutoFit/>
          </a:bodyPr>
          <a:lstStyle/>
          <a:p>
            <a:pPr algn="r"/>
            <a:r>
              <a:rPr lang="en-US" b="1" i="1" dirty="0"/>
              <a:t>Malara</a:t>
            </a:r>
          </a:p>
          <a:p>
            <a:pPr algn="r"/>
            <a:r>
              <a:rPr lang="en-US" b="1" i="1" dirty="0"/>
              <a:t>(2023)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Introduction - Current Sheets in the Solar Wind</a:t>
            </a:r>
          </a:p>
        </p:txBody>
      </p:sp>
      <p:pic>
        <p:nvPicPr>
          <p:cNvPr id="3" name="Picture 1" descr="https://github.com/Beforerr/finesst_solar_wind_discontinuities/blob/e3a573abca54aa0c7bf3f19a28b058fc68f42060/figures/fig-ids_examples.png?raw=true"/>
          <p:cNvPicPr>
            <a:picLocks noGrp="1" noChangeAspect="1"/>
          </p:cNvPicPr>
          <p:nvPr/>
        </p:nvPicPr>
        <p:blipFill>
          <a:blip r:embed="rId2"/>
          <a:stretch>
            <a:fillRect/>
          </a:stretch>
        </p:blipFill>
        <p:spPr bwMode="auto">
          <a:xfrm>
            <a:off x="457200" y="1270000"/>
            <a:ext cx="8229600" cy="2743200"/>
          </a:xfrm>
          <a:prstGeom prst="rect">
            <a:avLst/>
          </a:prstGeom>
          <a:noFill/>
          <a:ln w="9525">
            <a:noFill/>
            <a:headEnd/>
            <a:tailEnd/>
          </a:ln>
        </p:spPr>
      </p:pic>
      <mc:AlternateContent xmlns:mc="http://schemas.openxmlformats.org/markup-compatibility/2006" xmlns:a14="http://schemas.microsoft.com/office/drawing/2010/main">
        <mc:Choice Requires="a14">
          <p:sp>
            <p:nvSpPr>
              <p:cNvPr id="4" name="TextBox 3"/>
              <p:cNvSpPr txBox="1"/>
              <p:nvPr/>
            </p:nvSpPr>
            <p:spPr>
              <a:xfrm>
                <a:off x="457200" y="4076700"/>
                <a:ext cx="8229600" cy="508000"/>
              </a:xfrm>
              <a:prstGeom prst="rect">
                <a:avLst/>
              </a:prstGeom>
              <a:noFill/>
            </p:spPr>
            <p:txBody>
              <a:bodyPr/>
              <a:lstStyle/>
              <a:p>
                <a:pPr marL="0" lvl="0" indent="0" algn="ctr">
                  <a:buNone/>
                </a:pPr>
                <a:r>
                  <a:rPr dirty="0"/>
                  <a:t>Current sheets detected by PSP, Juno, STEREO and near-Earth ARTEMIS satellite: red, blue, and black lines are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𝑙</m:t>
                        </m:r>
                      </m:sub>
                    </m:sSub>
                  </m:oMath>
                </a14:m>
                <a:r>
                  <a:rPr dirty="0"/>
                  <a:t>,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𝑚</m:t>
                        </m:r>
                      </m:sub>
                    </m:sSub>
                  </m:oMath>
                </a14:m>
                <a:r>
                  <a:rPr dirty="0"/>
                  <a:t>, and |B|.</a:t>
                </a:r>
              </a:p>
            </p:txBody>
          </p:sp>
        </mc:Choice>
        <mc:Fallback xmlns="">
          <p:sp>
            <p:nvSpPr>
              <p:cNvPr id="4" name="TextBox 3"/>
              <p:cNvSpPr txBox="1">
                <a:spLocks noRot="1" noChangeAspect="1" noMove="1" noResize="1" noEditPoints="1" noAdjustHandles="1" noChangeArrowheads="1" noChangeShapeType="1" noTextEdit="1"/>
              </p:cNvSpPr>
              <p:nvPr/>
            </p:nvSpPr>
            <p:spPr>
              <a:xfrm>
                <a:off x="457200" y="4076700"/>
                <a:ext cx="8229600" cy="508000"/>
              </a:xfrm>
              <a:prstGeom prst="rect">
                <a:avLst/>
              </a:prstGeom>
              <a:blipFill>
                <a:blip r:embed="rId3"/>
                <a:stretch>
                  <a:fillRect t="-7500" b="-47500"/>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Problem: Scattering by Current Sheets</a:t>
            </a:r>
          </a:p>
        </p:txBody>
      </p:sp>
      <p:sp>
        <p:nvSpPr>
          <p:cNvPr id="3" name="Content Placeholder 2"/>
          <p:cNvSpPr>
            <a:spLocks noGrp="1"/>
          </p:cNvSpPr>
          <p:nvPr>
            <p:ph idx="1"/>
          </p:nvPr>
        </p:nvSpPr>
        <p:spPr>
          <a:xfrm>
            <a:off x="457200" y="2844523"/>
            <a:ext cx="8229600" cy="1622823"/>
          </a:xfrm>
        </p:spPr>
        <p:txBody>
          <a:bodyPr>
            <a:normAutofit fontScale="92500" lnSpcReduction="20000"/>
          </a:bodyPr>
          <a:lstStyle/>
          <a:p>
            <a:pPr marL="0" lvl="0" indent="0">
              <a:buNone/>
            </a:pPr>
            <a:r>
              <a:rPr lang="en-US" dirty="0">
                <a:solidFill>
                  <a:schemeClr val="accent6">
                    <a:lumMod val="75000"/>
                  </a:schemeClr>
                </a:solidFill>
              </a:rPr>
              <a:t>Motivation / Gap : Prior studies lack realistic solar wind statistics &amp;/ large-scale simulation in a realistic magnetic field</a:t>
            </a:r>
            <a:endParaRPr lang="en-US" b="1" i="1" dirty="0">
              <a:solidFill>
                <a:schemeClr val="accent6">
                  <a:lumMod val="75000"/>
                </a:schemeClr>
              </a:solidFill>
            </a:endParaRPr>
          </a:p>
          <a:p>
            <a:pPr marL="0" lvl="0" indent="0">
              <a:buNone/>
            </a:pPr>
            <a:endParaRPr lang="en-US" b="1" i="1" dirty="0"/>
          </a:p>
          <a:p>
            <a:pPr marL="0" lvl="0" indent="0">
              <a:buNone/>
            </a:pPr>
            <a:r>
              <a:rPr lang="en-US" b="1" i="1" dirty="0">
                <a:solidFill>
                  <a:schemeClr val="accent5">
                    <a:lumMod val="75000"/>
                  </a:schemeClr>
                </a:solidFill>
              </a:rPr>
              <a:t>How can we quantify the efficiency of particle scattering by solar wind current sheets?</a:t>
            </a:r>
          </a:p>
        </p:txBody>
      </p:sp>
      <p:sp>
        <p:nvSpPr>
          <p:cNvPr id="5" name="TextBox 4">
            <a:extLst>
              <a:ext uri="{FF2B5EF4-FFF2-40B4-BE49-F238E27FC236}">
                <a16:creationId xmlns:a16="http://schemas.microsoft.com/office/drawing/2014/main" id="{EDBDB9B0-0E71-8E2A-12D8-AB835D1ECC07}"/>
              </a:ext>
            </a:extLst>
          </p:cNvPr>
          <p:cNvSpPr txBox="1"/>
          <p:nvPr/>
        </p:nvSpPr>
        <p:spPr>
          <a:xfrm>
            <a:off x="1054353" y="1371421"/>
            <a:ext cx="7035294" cy="1200329"/>
          </a:xfrm>
          <a:prstGeom prst="rect">
            <a:avLst/>
          </a:prstGeom>
          <a:noFill/>
        </p:spPr>
        <p:txBody>
          <a:bodyPr wrap="square">
            <a:spAutoFit/>
          </a:bodyPr>
          <a:lstStyle/>
          <a:p>
            <a:pPr marL="0" lvl="0" indent="0">
              <a:buNone/>
            </a:pPr>
            <a:r>
              <a:rPr lang="en-US" dirty="0" err="1"/>
              <a:t>Malara</a:t>
            </a:r>
            <a:r>
              <a:rPr lang="en-US" dirty="0"/>
              <a:t> et al. (2023),  </a:t>
            </a:r>
            <a:r>
              <a:rPr lang="en-US" dirty="0" err="1"/>
              <a:t>Malara</a:t>
            </a:r>
            <a:r>
              <a:rPr lang="en-US" dirty="0"/>
              <a:t>, Perri, and Zimbardo (2021) </a:t>
            </a:r>
          </a:p>
          <a:p>
            <a:r>
              <a:rPr lang="en-US" dirty="0"/>
              <a:t>Artemyev et al. (2020) , </a:t>
            </a:r>
            <a:r>
              <a:rPr lang="en-US" sz="1800" kern="1200" dirty="0">
                <a:solidFill>
                  <a:srgbClr val="000000"/>
                </a:solidFill>
                <a:effectLst/>
                <a:latin typeface="Calibri" panose="020F0502020204030204" pitchFamily="34" charset="0"/>
                <a:ea typeface="+mn-ea"/>
                <a:cs typeface="+mn-cs"/>
              </a:rPr>
              <a:t>Artemyev, </a:t>
            </a:r>
            <a:r>
              <a:rPr lang="en-US" sz="1800" kern="1200" dirty="0" err="1">
                <a:solidFill>
                  <a:srgbClr val="000000"/>
                </a:solidFill>
                <a:effectLst/>
                <a:latin typeface="Calibri" panose="020F0502020204030204" pitchFamily="34" charset="0"/>
                <a:ea typeface="+mn-ea"/>
                <a:cs typeface="+mn-cs"/>
              </a:rPr>
              <a:t>Neishtadt</a:t>
            </a:r>
            <a:r>
              <a:rPr lang="en-US" sz="1800" kern="1200" dirty="0">
                <a:solidFill>
                  <a:srgbClr val="000000"/>
                </a:solidFill>
                <a:effectLst/>
                <a:latin typeface="Calibri" panose="020F0502020204030204" pitchFamily="34" charset="0"/>
                <a:ea typeface="+mn-ea"/>
                <a:cs typeface="+mn-cs"/>
              </a:rPr>
              <a:t>, and </a:t>
            </a:r>
            <a:r>
              <a:rPr lang="en-US" sz="1800" kern="1200" dirty="0" err="1">
                <a:solidFill>
                  <a:srgbClr val="000000"/>
                </a:solidFill>
                <a:effectLst/>
                <a:latin typeface="Calibri" panose="020F0502020204030204" pitchFamily="34" charset="0"/>
                <a:ea typeface="+mn-ea"/>
                <a:cs typeface="+mn-cs"/>
              </a:rPr>
              <a:t>Zelenyi</a:t>
            </a:r>
            <a:r>
              <a:rPr lang="en-US" sz="1800" kern="1200" dirty="0">
                <a:solidFill>
                  <a:srgbClr val="000000"/>
                </a:solidFill>
                <a:effectLst/>
                <a:latin typeface="Calibri" panose="020F0502020204030204" pitchFamily="34" charset="0"/>
                <a:ea typeface="+mn-ea"/>
                <a:cs typeface="+mn-cs"/>
              </a:rPr>
              <a:t> </a:t>
            </a:r>
            <a:r>
              <a:rPr lang="en-US" dirty="0"/>
              <a:t>(2013a, 2013b) </a:t>
            </a:r>
          </a:p>
          <a:p>
            <a:pPr marL="0" lvl="0" indent="0">
              <a:buNone/>
            </a:pPr>
            <a:r>
              <a:rPr lang="en-US" dirty="0" err="1"/>
              <a:t>Zelenyi</a:t>
            </a:r>
            <a:r>
              <a:rPr lang="en-US" dirty="0"/>
              <a:t> et al. (2013), </a:t>
            </a:r>
            <a:r>
              <a:rPr lang="en-US" dirty="0" err="1"/>
              <a:t>Neishtadt</a:t>
            </a:r>
            <a:r>
              <a:rPr lang="en-US" dirty="0"/>
              <a:t> (2000)</a:t>
            </a:r>
          </a:p>
          <a:p>
            <a:pPr marL="0" lvl="0" indent="0">
              <a:buNone/>
            </a:pPr>
            <a:r>
              <a:rPr lang="en-US" dirty="0"/>
              <a:t>Büchner and </a:t>
            </a:r>
            <a:r>
              <a:rPr lang="en-US" sz="1800" kern="1200" dirty="0" err="1">
                <a:solidFill>
                  <a:srgbClr val="000000"/>
                </a:solidFill>
                <a:effectLst/>
                <a:latin typeface="Calibri" panose="020F0502020204030204" pitchFamily="34" charset="0"/>
                <a:ea typeface="+mn-ea"/>
                <a:cs typeface="+mn-cs"/>
              </a:rPr>
              <a:t>Zelenyi</a:t>
            </a:r>
            <a:r>
              <a:rPr lang="en-US" dirty="0"/>
              <a:t> (1989), ), Chen (1986), Tennyson et al (1986)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Analytical Model - Magnetic Field Model</a:t>
            </a:r>
          </a:p>
        </p:txBody>
      </p:sp>
      <p:pic>
        <p:nvPicPr>
          <p:cNvPr id="4" name="Picture 1" descr="../figures/example/thc.png"/>
          <p:cNvPicPr>
            <a:picLocks noGrp="1" noChangeAspect="1"/>
          </p:cNvPicPr>
          <p:nvPr/>
        </p:nvPicPr>
        <p:blipFill>
          <a:blip r:embed="rId3"/>
          <a:stretch>
            <a:fillRect/>
          </a:stretch>
        </p:blipFill>
        <p:spPr bwMode="auto">
          <a:xfrm>
            <a:off x="2451100" y="1193800"/>
            <a:ext cx="4241800" cy="2882900"/>
          </a:xfrm>
          <a:prstGeom prst="rect">
            <a:avLst/>
          </a:prstGeom>
          <a:noFill/>
          <a:ln w="9525">
            <a:noFill/>
            <a:headEnd/>
            <a:tailEnd/>
          </a:ln>
        </p:spPr>
      </p:pic>
      <p:sp>
        <p:nvSpPr>
          <p:cNvPr id="5" name="TextBox 3"/>
          <p:cNvSpPr txBox="1"/>
          <p:nvPr/>
        </p:nvSpPr>
        <p:spPr>
          <a:xfrm>
            <a:off x="6835140" y="2255280"/>
            <a:ext cx="2127250" cy="2682240"/>
          </a:xfrm>
          <a:prstGeom prst="rect">
            <a:avLst/>
          </a:prstGeom>
          <a:noFill/>
        </p:spPr>
        <p:txBody>
          <a:bodyPr/>
          <a:lstStyle/>
          <a:p>
            <a:pPr marL="0" lvl="0" indent="0" algn="ctr">
              <a:buNone/>
            </a:pPr>
            <a:r>
              <a:rPr dirty="0"/>
              <a:t>Example of a current sheet observed by ARTEMIS.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4171708"/>
                <a:ext cx="8229600" cy="1097043"/>
              </a:xfrm>
            </p:spPr>
            <p:txBody>
              <a:bodyPr/>
              <a:lstStyle/>
              <a:p>
                <a:pPr marL="0" lvl="0" indent="0">
                  <a:buNone/>
                </a:pPr>
                <a14:m>
                  <m:oMathPara xmlns:m="http://schemas.openxmlformats.org/officeDocument/2006/math">
                    <m:oMathParaPr>
                      <m:jc m:val="center"/>
                    </m:oMathParaPr>
                    <m:oMath xmlns:m="http://schemas.openxmlformats.org/officeDocument/2006/math">
                      <m:r>
                        <a:rPr smtClean="0">
                          <a:latin typeface="Cambria Math" panose="02040503050406030204" pitchFamily="18" charset="0"/>
                        </a:rPr>
                        <m:t>𝐁</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0</m:t>
                          </m:r>
                        </m:sub>
                      </m:sSub>
                      <m:d>
                        <m:dPr>
                          <m:ctrlPr>
                            <a:rPr i="1">
                              <a:latin typeface="Cambria Math" panose="02040503050406030204" pitchFamily="18" charset="0"/>
                            </a:rPr>
                          </m:ctrlPr>
                        </m:dPr>
                        <m:e>
                          <m:r>
                            <m:rPr>
                              <m:sty m:val="p"/>
                            </m:rPr>
                            <a:rPr>
                              <a:latin typeface="Cambria Math" panose="02040503050406030204" pitchFamily="18" charset="0"/>
                            </a:rPr>
                            <m:t>cos</m:t>
                          </m:r>
                          <m:r>
                            <a:rPr>
                              <a:latin typeface="Cambria Math" panose="02040503050406030204" pitchFamily="18" charset="0"/>
                            </a:rPr>
                            <m:t>𝜃</m:t>
                          </m:r>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𝐞</m:t>
                              </m:r>
                            </m:e>
                            <m:sub>
                              <m:r>
                                <a:rPr>
                                  <a:latin typeface="Cambria Math" panose="02040503050406030204" pitchFamily="18" charset="0"/>
                                </a:rPr>
                                <m:t>𝐳</m:t>
                              </m:r>
                            </m:sub>
                          </m:sSub>
                          <m:r>
                            <a:rPr>
                              <a:latin typeface="Cambria Math" panose="02040503050406030204" pitchFamily="18" charset="0"/>
                            </a:rPr>
                            <m:t>+</m:t>
                          </m:r>
                          <m:r>
                            <m:rPr>
                              <m:sty m:val="p"/>
                            </m:rPr>
                            <a:rPr>
                              <a:latin typeface="Cambria Math" panose="02040503050406030204" pitchFamily="18" charset="0"/>
                            </a:rPr>
                            <m:t>sin</m:t>
                          </m:r>
                          <m:r>
                            <a:rPr>
                              <a:latin typeface="Cambria Math" panose="02040503050406030204" pitchFamily="18" charset="0"/>
                            </a:rPr>
                            <m:t>𝜃</m:t>
                          </m:r>
                          <m:d>
                            <m:dPr>
                              <m:ctrlPr>
                                <a:rPr i="1">
                                  <a:latin typeface="Cambria Math" panose="02040503050406030204" pitchFamily="18" charset="0"/>
                                </a:rPr>
                              </m:ctrlPr>
                            </m:dPr>
                            <m:e>
                              <m:r>
                                <m:rPr>
                                  <m:sty m:val="p"/>
                                </m:rPr>
                                <a:rPr>
                                  <a:latin typeface="Cambria Math" panose="02040503050406030204" pitchFamily="18" charset="0"/>
                                </a:rPr>
                                <m:t>sin</m:t>
                              </m:r>
                              <m:r>
                                <a:rPr>
                                  <a:latin typeface="Cambria Math" panose="02040503050406030204" pitchFamily="18" charset="0"/>
                                </a:rPr>
                                <m:t>𝜑</m:t>
                              </m:r>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𝐞</m:t>
                                  </m:r>
                                </m:e>
                                <m:sub>
                                  <m:r>
                                    <a:rPr>
                                      <a:latin typeface="Cambria Math" panose="02040503050406030204" pitchFamily="18" charset="0"/>
                                    </a:rPr>
                                    <m:t>𝐱</m:t>
                                  </m:r>
                                </m:sub>
                              </m:sSub>
                              <m:r>
                                <a:rPr>
                                  <a:latin typeface="Cambria Math" panose="02040503050406030204" pitchFamily="18" charset="0"/>
                                </a:rPr>
                                <m:t>+</m:t>
                              </m:r>
                              <m:r>
                                <m:rPr>
                                  <m:sty m:val="p"/>
                                </m:rPr>
                                <a:rPr>
                                  <a:latin typeface="Cambria Math" panose="02040503050406030204" pitchFamily="18" charset="0"/>
                                </a:rPr>
                                <m:t>cos</m:t>
                              </m:r>
                              <m:r>
                                <a:rPr>
                                  <a:latin typeface="Cambria Math" panose="02040503050406030204" pitchFamily="18" charset="0"/>
                                </a:rPr>
                                <m:t>𝜑</m:t>
                              </m:r>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𝐞</m:t>
                                  </m:r>
                                </m:e>
                                <m:sub>
                                  <m:r>
                                    <a:rPr>
                                      <a:latin typeface="Cambria Math" panose="02040503050406030204" pitchFamily="18" charset="0"/>
                                    </a:rPr>
                                    <m:t>𝐲</m:t>
                                  </m:r>
                                </m:sub>
                              </m:sSub>
                            </m:e>
                          </m:d>
                        </m:e>
                      </m:d>
                    </m:oMath>
                  </m:oMathPara>
                </a14:m>
                <a:endParaRPr dirty="0"/>
              </a:p>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𝜑</m:t>
                      </m:r>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r>
                        <a:rPr>
                          <a:latin typeface="Cambria Math" panose="02040503050406030204" pitchFamily="18" charset="0"/>
                        </a:rPr>
                        <m:t>𝛽</m:t>
                      </m:r>
                      <m:r>
                        <m:rPr>
                          <m:sty m:val="p"/>
                        </m:rPr>
                        <a:rPr>
                          <a:latin typeface="Cambria Math" panose="02040503050406030204" pitchFamily="18" charset="0"/>
                        </a:rPr>
                        <m:t>tanh</m:t>
                      </m:r>
                      <m:d>
                        <m:dPr>
                          <m:ctrlPr>
                            <a:rPr i="1">
                              <a:latin typeface="Cambria Math" panose="02040503050406030204" pitchFamily="18" charset="0"/>
                            </a:rPr>
                          </m:ctrlPr>
                        </m:dPr>
                        <m:e>
                          <m:r>
                            <a:rPr>
                              <a:latin typeface="Cambria Math" panose="02040503050406030204" pitchFamily="18" charset="0"/>
                            </a:rPr>
                            <m:t>𝑧</m:t>
                          </m:r>
                          <m:r>
                            <a:rPr>
                              <a:latin typeface="Cambria Math" panose="02040503050406030204" pitchFamily="18" charset="0"/>
                            </a:rPr>
                            <m:t>/</m:t>
                          </m:r>
                          <m:r>
                            <a:rPr>
                              <a:latin typeface="Cambria Math" panose="02040503050406030204" pitchFamily="18" charset="0"/>
                            </a:rPr>
                            <m:t>𝐿</m:t>
                          </m:r>
                        </m:e>
                      </m:d>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4171708"/>
                <a:ext cx="8229600" cy="1097043"/>
              </a:xfrm>
              <a:blipFill>
                <a:blip r:embed="rId4"/>
                <a:stretch>
                  <a:fillRect/>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Analytical Model - Hamiltonian Approach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0"/>
                <a:ext cx="8229600" cy="3890009"/>
              </a:xfrm>
            </p:spPr>
            <p:txBody>
              <a:bodyPr>
                <a:normAutofit fontScale="92500" lnSpcReduction="10000"/>
              </a:bodyPr>
              <a:lstStyle/>
              <a:p>
                <a:pPr marL="0" lvl="0" indent="0">
                  <a:buNone/>
                </a:pPr>
                <a:r>
                  <a:rPr dirty="0"/>
                  <a:t>The motion of a particle can be expressed in the Hamiltonian formalism as follows:</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𝐻</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2</m:t>
                          </m:r>
                          <m:r>
                            <a:rPr>
                              <a:latin typeface="Cambria Math" panose="02040503050406030204" pitchFamily="18" charset="0"/>
                            </a:rPr>
                            <m:t>𝑚</m:t>
                          </m:r>
                        </m:den>
                      </m:f>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𝐩</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𝐀</m:t>
                              </m:r>
                            </m:e>
                          </m:d>
                        </m:e>
                        <m:sup>
                          <m:r>
                            <a:rPr>
                              <a:latin typeface="Cambria Math" panose="02040503050406030204" pitchFamily="18" charset="0"/>
                            </a:rPr>
                            <m:t>2</m:t>
                          </m:r>
                        </m:sup>
                      </m:sSup>
                    </m:oMath>
                  </m:oMathPara>
                </a14:m>
                <a:endParaRPr dirty="0"/>
              </a:p>
              <a:p>
                <a:pPr marL="0" lvl="0" indent="0">
                  <a:buNone/>
                </a:pPr>
                <a:r>
                  <a:rPr dirty="0"/>
                  <a:t>where </a:t>
                </a:r>
                <a14:m>
                  <m:oMath xmlns:m="http://schemas.openxmlformats.org/officeDocument/2006/math">
                    <m:r>
                      <a:rPr>
                        <a:latin typeface="Cambria Math" panose="02040503050406030204" pitchFamily="18" charset="0"/>
                      </a:rPr>
                      <m:t>𝐀</m:t>
                    </m:r>
                  </m:oMath>
                </a14:m>
                <a:r>
                  <a:rPr dirty="0"/>
                  <a:t> represents the magnetic vector potential, </a:t>
                </a:r>
                <a14:m>
                  <m:oMath xmlns:m="http://schemas.openxmlformats.org/officeDocument/2006/math">
                    <m:r>
                      <a:rPr>
                        <a:latin typeface="Cambria Math" panose="02040503050406030204" pitchFamily="18" charset="0"/>
                      </a:rPr>
                      <m:t>𝐩</m:t>
                    </m:r>
                  </m:oMath>
                </a14:m>
                <a:r>
                  <a:rPr dirty="0"/>
                  <a:t> is the canonical momentum. </a:t>
                </a:r>
                <a:endParaRPr lang="en-US" dirty="0"/>
              </a:p>
              <a:p>
                <a:pPr marL="0" lvl="0" indent="0">
                  <a:buNone/>
                </a:pPr>
                <a:endParaRPr lang="en-US" dirty="0"/>
              </a:p>
              <a:p>
                <a:pPr marL="0" lvl="0" indent="0">
                  <a:buNone/>
                </a:pPr>
                <a:r>
                  <a:rPr dirty="0"/>
                  <a:t>More specifically, the magnetic vector potential </a:t>
                </a:r>
                <a14:m>
                  <m:oMath xmlns:m="http://schemas.openxmlformats.org/officeDocument/2006/math">
                    <m:r>
                      <a:rPr>
                        <a:latin typeface="Cambria Math" panose="02040503050406030204" pitchFamily="18" charset="0"/>
                      </a:rPr>
                      <m:t>𝐀</m:t>
                    </m:r>
                  </m:oMath>
                </a14:m>
                <a:r>
                  <a:rPr dirty="0"/>
                  <a:t> can be expressed in an exact integrable form:</a:t>
                </a:r>
                <a:endParaRPr lang="en-US" dirty="0"/>
              </a:p>
              <a:p>
                <a:pPr marL="0" lvl="0" indent="0">
                  <a:buNone/>
                </a:pPr>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𝑥</m:t>
                          </m:r>
                        </m:sub>
                      </m:sSub>
                      <m:r>
                        <a:rPr>
                          <a:latin typeface="Cambria Math" panose="02040503050406030204" pitchFamily="18" charset="0"/>
                        </a:rPr>
                        <m:t>=</m:t>
                      </m:r>
                      <m:r>
                        <a:rPr>
                          <a:latin typeface="Cambria Math" panose="02040503050406030204" pitchFamily="18" charset="0"/>
                        </a:rPr>
                        <m:t>𝐿</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𝑡</m:t>
                          </m:r>
                        </m:sub>
                      </m:sSub>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1</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𝑦</m:t>
                          </m:r>
                        </m:sub>
                      </m:sSub>
                      <m:r>
                        <a:rPr>
                          <a:latin typeface="Cambria Math" panose="02040503050406030204" pitchFamily="18" charset="0"/>
                        </a:rPr>
                        <m:t>=</m:t>
                      </m:r>
                      <m:r>
                        <a:rPr>
                          <a:latin typeface="Cambria Math" panose="02040503050406030204" pitchFamily="18" charset="0"/>
                        </a:rPr>
                        <m:t>𝐿</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𝑡</m:t>
                          </m:r>
                        </m:sub>
                      </m:sSub>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2</m:t>
                          </m:r>
                        </m:sub>
                      </m:sSub>
                      <m:d>
                        <m:dPr>
                          <m:ctrlPr>
                            <a:rPr i="1">
                              <a:latin typeface="Cambria Math" panose="02040503050406030204" pitchFamily="18" charset="0"/>
                            </a:rPr>
                          </m:ctrlPr>
                        </m:dPr>
                        <m:e>
                          <m:r>
                            <a:rPr>
                              <a:latin typeface="Cambria Math" panose="02040503050406030204" pitchFamily="18" charset="0"/>
                            </a:rPr>
                            <m:t>𝑧</m:t>
                          </m:r>
                        </m:e>
                      </m:d>
                      <m:r>
                        <a:rPr>
                          <a:latin typeface="Cambria Math" panose="02040503050406030204" pitchFamily="18" charset="0"/>
                        </a:rPr>
                        <m:t>+</m:t>
                      </m:r>
                      <m:r>
                        <a:rPr>
                          <a:latin typeface="Cambria Math" panose="02040503050406030204" pitchFamily="18" charset="0"/>
                        </a:rPr>
                        <m:t>𝑥</m:t>
                      </m:r>
                      <m:sSub>
                        <m:sSubPr>
                          <m:ctrlPr>
                            <a:rPr i="1">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𝑛</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𝑧</m:t>
                          </m:r>
                        </m:sub>
                      </m:sSub>
                      <m:r>
                        <a:rPr>
                          <a:latin typeface="Cambria Math" panose="02040503050406030204" pitchFamily="18" charset="0"/>
                        </a:rPr>
                        <m:t>=0</m:t>
                      </m:r>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0"/>
                <a:ext cx="8229600" cy="3890009"/>
              </a:xfrm>
              <a:blipFill>
                <a:blip r:embed="rId3"/>
                <a:stretch>
                  <a:fillRect l="-1080" t="-1954" r="-154"/>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Analytical Model - Dimensionless Hamiltonian and Asymptotic Expansion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95194" y="1666230"/>
                <a:ext cx="8229600" cy="3394472"/>
              </a:xfrm>
            </p:spPr>
            <p:txBody>
              <a:bodyPr>
                <a:normAutofit/>
              </a:bodyPr>
              <a:lstStyle/>
              <a:p>
                <a:pPr marL="0" lvl="0" indent="0">
                  <a:buNone/>
                </a:pPr>
                <a14:m>
                  <m:oMathPara xmlns:m="http://schemas.openxmlformats.org/officeDocument/2006/math">
                    <m:oMathParaPr>
                      <m:jc m:val="center"/>
                    </m:oMathParaPr>
                    <m:oMath xmlns:m="http://schemas.openxmlformats.org/officeDocument/2006/math">
                      <m:acc>
                        <m:accPr>
                          <m:chr m:val="̃"/>
                          <m:ctrlPr>
                            <a:rPr i="1" smtClean="0">
                              <a:latin typeface="Cambria Math" panose="02040503050406030204" pitchFamily="18" charset="0"/>
                            </a:rPr>
                          </m:ctrlPr>
                        </m:accPr>
                        <m:e>
                          <m:r>
                            <a:rPr>
                              <a:latin typeface="Cambria Math" panose="02040503050406030204" pitchFamily="18" charset="0"/>
                            </a:rPr>
                            <m:t>𝐻</m:t>
                          </m:r>
                        </m:e>
                      </m:acc>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2</m:t>
                          </m:r>
                        </m:den>
                      </m:f>
                      <m:d>
                        <m:dPr>
                          <m:ctrlPr>
                            <a:rPr i="1">
                              <a:latin typeface="Cambria Math" panose="02040503050406030204" pitchFamily="18" charset="0"/>
                            </a:rPr>
                          </m:ctrlPr>
                        </m:dPr>
                        <m:e>
                          <m:sSup>
                            <m:sSupPr>
                              <m:ctrlPr>
                                <a:rPr i="1">
                                  <a:latin typeface="Cambria Math" panose="02040503050406030204" pitchFamily="18" charset="0"/>
                                </a:rPr>
                              </m:ctrlPr>
                            </m:sSupPr>
                            <m:e>
                              <m:d>
                                <m:dPr>
                                  <m:ctrlPr>
                                    <a:rPr i="1">
                                      <a:latin typeface="Cambria Math" panose="02040503050406030204" pitchFamily="18" charset="0"/>
                                    </a:rPr>
                                  </m:ctrlPr>
                                </m:dPr>
                                <m:e>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𝑥</m:t>
                                          </m:r>
                                        </m:sub>
                                      </m:sSub>
                                    </m:e>
                                  </m:acc>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1</m:t>
                                      </m:r>
                                    </m:sub>
                                  </m:sSub>
                                  <m:d>
                                    <m:dPr>
                                      <m:ctrlPr>
                                        <a:rPr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e>
                            <m:sup>
                              <m:r>
                                <a:rPr>
                                  <a:latin typeface="Cambria Math" panose="02040503050406030204" pitchFamily="18" charset="0"/>
                                </a:rPr>
                                <m:t>2</m:t>
                              </m:r>
                            </m:sup>
                          </m:sSup>
                          <m:r>
                            <a:rPr>
                              <a:latin typeface="Cambria Math" panose="02040503050406030204" pitchFamily="18" charset="0"/>
                            </a:rPr>
                            <m:t>+</m:t>
                          </m:r>
                          <m:sSup>
                            <m:sSupPr>
                              <m:ctrlPr>
                                <a:rPr i="1">
                                  <a:latin typeface="Cambria Math" panose="02040503050406030204" pitchFamily="18" charset="0"/>
                                </a:rPr>
                              </m:ctrlPr>
                            </m:sSupPr>
                            <m:e>
                              <m:d>
                                <m:dPr>
                                  <m:ctrlPr>
                                    <a:rPr i="1">
                                      <a:latin typeface="Cambria Math" panose="02040503050406030204" pitchFamily="18" charset="0"/>
                                    </a:rPr>
                                  </m:ctrlPr>
                                </m:dPr>
                                <m:e>
                                  <m:acc>
                                    <m:accPr>
                                      <m:chr m:val="̃"/>
                                      <m:ctrlPr>
                                        <a:rPr i="1">
                                          <a:latin typeface="Cambria Math" panose="02040503050406030204" pitchFamily="18" charset="0"/>
                                        </a:rPr>
                                      </m:ctrlPr>
                                    </m:accPr>
                                    <m:e>
                                      <m:r>
                                        <a:rPr>
                                          <a:latin typeface="Cambria Math" panose="02040503050406030204" pitchFamily="18" charset="0"/>
                                        </a:rPr>
                                        <m:t>𝑥</m:t>
                                      </m:r>
                                    </m:e>
                                  </m:acc>
                                  <m:r>
                                    <m:rPr>
                                      <m:sty m:val="p"/>
                                    </m:rPr>
                                    <a:rPr smtClean="0">
                                      <a:latin typeface="Cambria Math" panose="02040503050406030204" pitchFamily="18" charset="0"/>
                                    </a:rPr>
                                    <m:t>cot</m:t>
                                  </m:r>
                                  <m:r>
                                    <a:rPr smtClean="0">
                                      <a:latin typeface="Cambria Math" panose="02040503050406030204" pitchFamily="18" charset="0"/>
                                    </a:rPr>
                                    <m:t>𝜃</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2</m:t>
                                      </m:r>
                                    </m:sub>
                                  </m:sSub>
                                  <m:d>
                                    <m:dPr>
                                      <m:ctrlPr>
                                        <a:rPr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e>
                            <m:sup>
                              <m:r>
                                <a:rPr>
                                  <a:latin typeface="Cambria Math" panose="02040503050406030204" pitchFamily="18" charset="0"/>
                                </a:rPr>
                                <m:t>2</m:t>
                              </m:r>
                            </m:sup>
                          </m:sSup>
                          <m:r>
                            <a:rPr>
                              <a:latin typeface="Cambria Math" panose="02040503050406030204" pitchFamily="18" charset="0"/>
                            </a:rPr>
                            <m:t>+</m:t>
                          </m:r>
                          <m:sSup>
                            <m:sSupPr>
                              <m:ctrlPr>
                                <a:rPr i="1">
                                  <a:latin typeface="Cambria Math" panose="02040503050406030204" pitchFamily="18" charset="0"/>
                                </a:rPr>
                              </m:ctrlPr>
                            </m:sSupPr>
                            <m:e>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𝑧</m:t>
                                      </m:r>
                                    </m:sub>
                                  </m:sSub>
                                </m:e>
                              </m:acc>
                            </m:e>
                            <m:sup>
                              <m:r>
                                <a:rPr>
                                  <a:latin typeface="Cambria Math" panose="02040503050406030204" pitchFamily="18" charset="0"/>
                                </a:rPr>
                                <m:t>2</m:t>
                              </m:r>
                            </m:sup>
                          </m:sSup>
                        </m:e>
                      </m:d>
                    </m:oMath>
                  </m:oMathPara>
                </a14:m>
                <a:endParaRPr dirty="0"/>
              </a:p>
              <a:p>
                <a:pPr marL="0" lvl="0" indent="0">
                  <a:buNone/>
                </a:pP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95194" y="1666230"/>
                <a:ext cx="8229600" cy="3394472"/>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F7C56A-D763-F73B-3E9E-4B2CAF9EB317}"/>
                  </a:ext>
                </a:extLst>
              </p:cNvPr>
              <p:cNvSpPr txBox="1"/>
              <p:nvPr/>
            </p:nvSpPr>
            <p:spPr>
              <a:xfrm>
                <a:off x="213360" y="2894715"/>
                <a:ext cx="4572000" cy="22862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ar-AE" i="1" smtClean="0">
                              <a:latin typeface="Cambria Math" panose="02040503050406030204" pitchFamily="18" charset="0"/>
                            </a:rPr>
                          </m:ctrlPr>
                        </m:mPr>
                        <m:mr>
                          <m:e/>
                          <m:e>
                            <m:sSub>
                              <m:sSubPr>
                                <m:ctrlPr>
                                  <a:rPr lang="ar-AE" i="1">
                                    <a:latin typeface="Cambria Math" panose="02040503050406030204" pitchFamily="18" charset="0"/>
                                  </a:rPr>
                                </m:ctrlPr>
                              </m:sSubPr>
                              <m:e>
                                <m:r>
                                  <a:rPr lang="ar-AE">
                                    <a:latin typeface="Cambria Math" panose="02040503050406030204" pitchFamily="18" charset="0"/>
                                  </a:rPr>
                                  <m:t>𝑓</m:t>
                                </m:r>
                              </m:e>
                              <m:sub>
                                <m:r>
                                  <a:rPr lang="ar-AE">
                                    <a:latin typeface="Cambria Math" panose="02040503050406030204" pitchFamily="18" charset="0"/>
                                  </a:rPr>
                                  <m:t>1</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r>
                              <m:rPr>
                                <m:sty m:val="p"/>
                              </m:rPr>
                              <a:rPr lang="en-US">
                                <a:latin typeface="Cambria Math" panose="02040503050406030204" pitchFamily="18" charset="0"/>
                              </a:rPr>
                              <m:t>cos</m:t>
                            </m:r>
                            <m:r>
                              <a:rPr lang="en-US">
                                <a:latin typeface="Cambria Math" panose="02040503050406030204" pitchFamily="18" charset="0"/>
                              </a:rPr>
                              <m:t>𝛽</m:t>
                            </m:r>
                            <m:r>
                              <a:rPr lang="en-US">
                                <a:latin typeface="Cambria Math" panose="02040503050406030204" pitchFamily="18" charset="0"/>
                              </a:rPr>
                              <m:t> </m:t>
                            </m:r>
                            <m:d>
                              <m:dPr>
                                <m:ctrlPr>
                                  <a:rPr lang="ar-AE" i="1">
                                    <a:latin typeface="Cambria Math" panose="02040503050406030204" pitchFamily="18" charset="0"/>
                                  </a:rPr>
                                </m:ctrlPr>
                              </m:dPr>
                              <m:e>
                                <m:r>
                                  <m:rPr>
                                    <m:nor/>
                                  </m:rPr>
                                  <a:rPr lang="en-US"/>
                                  <m:t>Ci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r>
                                  <a:rPr lang="ar-AE">
                                    <a:latin typeface="Cambria Math" panose="02040503050406030204" pitchFamily="18" charset="0"/>
                                  </a:rPr>
                                  <m:t>−</m:t>
                                </m:r>
                                <m:r>
                                  <m:rPr>
                                    <m:nor/>
                                  </m:rPr>
                                  <a:rPr lang="en-US"/>
                                  <m:t>Ci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e>
                            </m:d>
                          </m:e>
                        </m:mr>
                        <m:mr>
                          <m:e/>
                          <m:e>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r>
                              <m:rPr>
                                <m:sty m:val="p"/>
                              </m:rPr>
                              <a:rPr lang="en-US">
                                <a:latin typeface="Cambria Math" panose="02040503050406030204" pitchFamily="18" charset="0"/>
                              </a:rPr>
                              <m:t>sin</m:t>
                            </m:r>
                            <m:r>
                              <a:rPr lang="en-US">
                                <a:latin typeface="Cambria Math" panose="02040503050406030204" pitchFamily="18" charset="0"/>
                              </a:rPr>
                              <m:t>𝛽</m:t>
                            </m:r>
                            <m:r>
                              <a:rPr lang="en-US">
                                <a:latin typeface="Cambria Math" panose="02040503050406030204" pitchFamily="18" charset="0"/>
                              </a:rPr>
                              <m:t> </m:t>
                            </m:r>
                            <m:d>
                              <m:dPr>
                                <m:ctrlPr>
                                  <a:rPr lang="ar-AE" i="1">
                                    <a:latin typeface="Cambria Math" panose="02040503050406030204" pitchFamily="18" charset="0"/>
                                  </a:rPr>
                                </m:ctrlPr>
                              </m:dPr>
                              <m:e>
                                <m:r>
                                  <m:rPr>
                                    <m:nor/>
                                  </m:rPr>
                                  <a:rPr lang="en-US"/>
                                  <m:t>Si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r>
                                  <a:rPr lang="ar-AE">
                                    <a:latin typeface="Cambria Math" panose="02040503050406030204" pitchFamily="18" charset="0"/>
                                  </a:rPr>
                                  <m:t>−</m:t>
                                </m:r>
                                <m:r>
                                  <m:rPr>
                                    <m:nor/>
                                  </m:rPr>
                                  <a:rPr lang="en-US"/>
                                  <m:t>Si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r>
                                          <a:rPr lang="ar-AE">
                                            <a:latin typeface="Cambria Math" panose="02040503050406030204" pitchFamily="18" charset="0"/>
                                          </a:rPr>
                                          <m:t>𝑧</m:t>
                                        </m:r>
                                      </m:e>
                                    </m:d>
                                  </m:e>
                                </m:d>
                              </m:e>
                            </m:d>
                            <m:r>
                              <a:rPr lang="ar-AE">
                                <a:latin typeface="Cambria Math" panose="02040503050406030204" pitchFamily="18" charset="0"/>
                              </a:rPr>
                              <m:t>,</m:t>
                            </m:r>
                          </m:e>
                        </m:mr>
                        <m:mr>
                          <m:e/>
                          <m:e>
                            <m:sSub>
                              <m:sSubPr>
                                <m:ctrlPr>
                                  <a:rPr lang="ar-AE" i="1">
                                    <a:latin typeface="Cambria Math" panose="02040503050406030204" pitchFamily="18" charset="0"/>
                                  </a:rPr>
                                </m:ctrlPr>
                              </m:sSubPr>
                              <m:e>
                                <m:r>
                                  <a:rPr lang="ar-AE">
                                    <a:latin typeface="Cambria Math" panose="02040503050406030204" pitchFamily="18" charset="0"/>
                                  </a:rPr>
                                  <m:t>𝑓</m:t>
                                </m:r>
                              </m:e>
                              <m:sub>
                                <m:r>
                                  <a:rPr lang="ar-AE">
                                    <a:latin typeface="Cambria Math" panose="02040503050406030204" pitchFamily="18" charset="0"/>
                                  </a:rPr>
                                  <m:t>2</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r>
                              <a:rPr lang="ar-AE" smtClean="0">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r>
                              <m:rPr>
                                <m:sty m:val="p"/>
                              </m:rPr>
                              <a:rPr lang="en-US">
                                <a:latin typeface="Cambria Math" panose="02040503050406030204" pitchFamily="18" charset="0"/>
                              </a:rPr>
                              <m:t>sin</m:t>
                            </m:r>
                            <m:r>
                              <a:rPr lang="en-US">
                                <a:latin typeface="Cambria Math" panose="02040503050406030204" pitchFamily="18" charset="0"/>
                              </a:rPr>
                              <m:t>𝛽</m:t>
                            </m:r>
                            <m:r>
                              <a:rPr lang="en-US">
                                <a:latin typeface="Cambria Math" panose="02040503050406030204" pitchFamily="18" charset="0"/>
                              </a:rPr>
                              <m:t> </m:t>
                            </m:r>
                            <m:d>
                              <m:dPr>
                                <m:ctrlPr>
                                  <a:rPr lang="ar-AE" i="1">
                                    <a:latin typeface="Cambria Math" panose="02040503050406030204" pitchFamily="18" charset="0"/>
                                  </a:rPr>
                                </m:ctrlPr>
                              </m:dPr>
                              <m:e>
                                <m:r>
                                  <m:rPr>
                                    <m:nor/>
                                  </m:rPr>
                                  <a:rPr lang="en-US"/>
                                  <m:t>Ci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r>
                                  <a:rPr lang="ar-AE">
                                    <a:latin typeface="Cambria Math" panose="02040503050406030204" pitchFamily="18" charset="0"/>
                                  </a:rPr>
                                  <m:t>+</m:t>
                                </m:r>
                                <m:r>
                                  <m:rPr>
                                    <m:nor/>
                                  </m:rPr>
                                  <a:rPr lang="en-US"/>
                                  <m:t>Ci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e>
                            </m:d>
                          </m:e>
                        </m:mr>
                        <m:mr>
                          <m:e/>
                          <m:e>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r>
                              <m:rPr>
                                <m:sty m:val="p"/>
                              </m:rPr>
                              <a:rPr lang="en-US">
                                <a:latin typeface="Cambria Math" panose="02040503050406030204" pitchFamily="18" charset="0"/>
                              </a:rPr>
                              <m:t>cos</m:t>
                            </m:r>
                            <m:r>
                              <a:rPr lang="en-US">
                                <a:latin typeface="Cambria Math" panose="02040503050406030204" pitchFamily="18" charset="0"/>
                              </a:rPr>
                              <m:t>𝛽</m:t>
                            </m:r>
                            <m:r>
                              <a:rPr lang="en-US">
                                <a:latin typeface="Cambria Math" panose="02040503050406030204" pitchFamily="18" charset="0"/>
                              </a:rPr>
                              <m:t> </m:t>
                            </m:r>
                            <m:d>
                              <m:dPr>
                                <m:ctrlPr>
                                  <a:rPr lang="ar-AE" i="1">
                                    <a:latin typeface="Cambria Math" panose="02040503050406030204" pitchFamily="18" charset="0"/>
                                  </a:rPr>
                                </m:ctrlPr>
                              </m:dPr>
                              <m:e>
                                <m:r>
                                  <m:rPr>
                                    <m:nor/>
                                  </m:rPr>
                                  <a:rPr lang="en-US"/>
                                  <m:t>Si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r>
                                  <a:rPr lang="ar-AE">
                                    <a:latin typeface="Cambria Math" panose="02040503050406030204" pitchFamily="18" charset="0"/>
                                  </a:rPr>
                                  <m:t>+</m:t>
                                </m:r>
                                <m:r>
                                  <m:rPr>
                                    <m:nor/>
                                  </m:rPr>
                                  <a:rPr lang="en-US"/>
                                  <m:t>Si</m:t>
                                </m:r>
                                <m:d>
                                  <m:dPr>
                                    <m:ctrlPr>
                                      <a:rPr lang="ar-AE" i="1">
                                        <a:latin typeface="Cambria Math" panose="02040503050406030204" pitchFamily="18" charset="0"/>
                                      </a:rPr>
                                    </m:ctrlPr>
                                  </m:dPr>
                                  <m:e>
                                    <m:r>
                                      <a:rPr lang="ar-AE">
                                        <a:latin typeface="Cambria Math" panose="02040503050406030204" pitchFamily="18" charset="0"/>
                                      </a:rPr>
                                      <m:t>𝛽</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𝑧</m:t>
                                            </m:r>
                                          </m:e>
                                        </m:acc>
                                      </m:e>
                                    </m:d>
                                  </m:e>
                                </m:d>
                              </m:e>
                            </m:d>
                          </m:e>
                        </m:mr>
                      </m:m>
                    </m:oMath>
                  </m:oMathPara>
                </a14:m>
                <a:endParaRPr lang="en-US" dirty="0"/>
              </a:p>
            </p:txBody>
          </p:sp>
        </mc:Choice>
        <mc:Fallback xmlns="">
          <p:sp>
            <p:nvSpPr>
              <p:cNvPr id="5" name="TextBox 4">
                <a:extLst>
                  <a:ext uri="{FF2B5EF4-FFF2-40B4-BE49-F238E27FC236}">
                    <a16:creationId xmlns:a16="http://schemas.microsoft.com/office/drawing/2014/main" id="{B5F7C56A-D763-F73B-3E9E-4B2CAF9EB317}"/>
                  </a:ext>
                </a:extLst>
              </p:cNvPr>
              <p:cNvSpPr txBox="1">
                <a:spLocks noRot="1" noChangeAspect="1" noMove="1" noResize="1" noEditPoints="1" noAdjustHandles="1" noChangeArrowheads="1" noChangeShapeType="1" noTextEdit="1"/>
              </p:cNvSpPr>
              <p:nvPr/>
            </p:nvSpPr>
            <p:spPr>
              <a:xfrm>
                <a:off x="213360" y="2894715"/>
                <a:ext cx="4572000" cy="2286203"/>
              </a:xfrm>
              <a:prstGeom prst="rect">
                <a:avLst/>
              </a:prstGeom>
              <a:blipFill>
                <a:blip r:embed="rId3"/>
                <a:stretch>
                  <a:fillRect l="-5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6D91C4-52AE-D43F-77D5-47A7DF83B95A}"/>
                  </a:ext>
                </a:extLst>
              </p:cNvPr>
              <p:cNvSpPr txBox="1"/>
              <p:nvPr/>
            </p:nvSpPr>
            <p:spPr>
              <a:xfrm>
                <a:off x="4751070" y="3062976"/>
                <a:ext cx="4354830" cy="1997726"/>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b="0" i="0" smtClean="0">
                          <a:latin typeface="Cambria Math" panose="02040503050406030204" pitchFamily="18" charset="0"/>
                        </a:rPr>
                        <m:t>κ</m:t>
                      </m:r>
                      <m:r>
                        <a:rPr lang="en-US" b="0" i="0" smtClean="0">
                          <a:latin typeface="Cambria Math" panose="02040503050406030204" pitchFamily="18" charset="0"/>
                        </a:rPr>
                        <m:t>=</m:t>
                      </m:r>
                      <m:r>
                        <m:rPr>
                          <m:sty m:val="p"/>
                        </m:rPr>
                        <a:rPr lang="en-US">
                          <a:latin typeface="Cambria Math" panose="02040503050406030204" pitchFamily="18" charset="0"/>
                        </a:rPr>
                        <m:t>cot</m:t>
                      </m:r>
                      <m:r>
                        <a:rPr lang="en-US">
                          <a:latin typeface="Cambria Math" panose="02040503050406030204" pitchFamily="18" charset="0"/>
                        </a:rPr>
                        <m:t>𝜃</m:t>
                      </m:r>
                    </m:oMath>
                  </m:oMathPara>
                </a14:m>
                <a:endParaRPr lang="en-US" dirty="0"/>
              </a:p>
              <a:p>
                <a:pPr marL="0" lvl="0" indent="0">
                  <a:buNone/>
                </a:pPr>
                <a:endParaRPr lang="en-US" i="1"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sSub>
                        <m:sSubPr>
                          <m:ctrlPr>
                            <a:rPr lang="ar-AE" i="1" smtClean="0">
                              <a:latin typeface="Cambria Math" panose="02040503050406030204" pitchFamily="18" charset="0"/>
                            </a:rPr>
                          </m:ctrlPr>
                        </m:sSubPr>
                        <m:e>
                          <m:r>
                            <a:rPr lang="ar-AE">
                              <a:latin typeface="Cambria Math" panose="02040503050406030204" pitchFamily="18" charset="0"/>
                            </a:rPr>
                            <m:t>𝑓</m:t>
                          </m:r>
                        </m:e>
                        <m:sub>
                          <m:r>
                            <a:rPr lang="ar-AE">
                              <a:latin typeface="Cambria Math" panose="02040503050406030204" pitchFamily="18" charset="0"/>
                            </a:rPr>
                            <m:t>1</m:t>
                          </m:r>
                        </m:sub>
                      </m:sSub>
                      <m:d>
                        <m:dPr>
                          <m:ctrlPr>
                            <a:rPr lang="ar-AE" i="1">
                              <a:latin typeface="Cambria Math" panose="02040503050406030204" pitchFamily="18" charset="0"/>
                            </a:rPr>
                          </m:ctrlPr>
                        </m:dPr>
                        <m:e>
                          <m:r>
                            <a:rPr lang="ar-AE">
                              <a:latin typeface="Cambria Math" panose="02040503050406030204" pitchFamily="18" charset="0"/>
                            </a:rPr>
                            <m:t>𝑧</m:t>
                          </m:r>
                        </m:e>
                      </m:d>
                      <m:r>
                        <a:rPr lang="ar-AE">
                          <a:latin typeface="Cambria Math" panose="02040503050406030204" pitchFamily="18" charset="0"/>
                        </a:rPr>
                        <m:t> </m:t>
                      </m:r>
                      <m:r>
                        <a:rPr lang="en-US" b="0" i="0" smtClean="0">
                          <a:latin typeface="Cambria Math" panose="02040503050406030204" pitchFamily="18" charset="0"/>
                        </a:rPr>
                        <m:t>~ </m:t>
                      </m:r>
                      <m:r>
                        <a:rPr lang="ar-AE">
                          <a:latin typeface="Cambria Math" panose="02040503050406030204" pitchFamily="18" charset="0"/>
                        </a:rPr>
                        <m:t>𝑧</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6</m:t>
                          </m:r>
                        </m:den>
                      </m:f>
                      <m:sSup>
                        <m:sSupPr>
                          <m:ctrlPr>
                            <a:rPr lang="ar-AE" i="1">
                              <a:latin typeface="Cambria Math" panose="02040503050406030204" pitchFamily="18" charset="0"/>
                            </a:rPr>
                          </m:ctrlPr>
                        </m:sSupPr>
                        <m:e>
                          <m:r>
                            <a:rPr lang="ar-AE">
                              <a:latin typeface="Cambria Math" panose="02040503050406030204" pitchFamily="18" charset="0"/>
                            </a:rPr>
                            <m:t>𝛽</m:t>
                          </m:r>
                        </m:e>
                        <m:sup>
                          <m:r>
                            <a:rPr lang="ar-AE">
                              <a:latin typeface="Cambria Math" panose="02040503050406030204" pitchFamily="18" charset="0"/>
                            </a:rPr>
                            <m:t>2</m:t>
                          </m:r>
                        </m:sup>
                      </m:sSup>
                      <m:sSup>
                        <m:sSupPr>
                          <m:ctrlPr>
                            <a:rPr lang="ar-AE" i="1">
                              <a:latin typeface="Cambria Math" panose="02040503050406030204" pitchFamily="18" charset="0"/>
                            </a:rPr>
                          </m:ctrlPr>
                        </m:sSupPr>
                        <m:e>
                          <m:r>
                            <a:rPr lang="ar-AE">
                              <a:latin typeface="Cambria Math" panose="02040503050406030204" pitchFamily="18" charset="0"/>
                            </a:rPr>
                            <m:t>𝑧</m:t>
                          </m:r>
                        </m:e>
                        <m:sup>
                          <m:r>
                            <a:rPr lang="ar-AE">
                              <a:latin typeface="Cambria Math" panose="02040503050406030204" pitchFamily="18" charset="0"/>
                            </a:rPr>
                            <m:t>3</m:t>
                          </m:r>
                        </m:sup>
                      </m:sSup>
                      <m:r>
                        <a:rPr lang="ar-AE">
                          <a:latin typeface="Cambria Math" panose="02040503050406030204" pitchFamily="18" charset="0"/>
                        </a:rPr>
                        <m:t>+</m:t>
                      </m:r>
                      <m:r>
                        <a:rPr lang="ar-AE">
                          <a:latin typeface="Cambria Math" panose="02040503050406030204" pitchFamily="18" charset="0"/>
                        </a:rPr>
                        <m:t>𝑂</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𝑧</m:t>
                              </m:r>
                            </m:e>
                            <m:sup>
                              <m:r>
                                <a:rPr lang="ar-AE">
                                  <a:latin typeface="Cambria Math" panose="02040503050406030204" pitchFamily="18" charset="0"/>
                                </a:rPr>
                                <m:t>4</m:t>
                              </m:r>
                            </m:sup>
                          </m:sSup>
                        </m:e>
                      </m:d>
                    </m:oMath>
                  </m:oMathPara>
                </a14:m>
                <a:endParaRPr lang="en-US" dirty="0"/>
              </a:p>
              <a:p>
                <a:pPr marL="0" lvl="0" indent="0">
                  <a:buNone/>
                </a:pPr>
                <a:endParaRPr lang="ar-AE" dirty="0"/>
              </a:p>
              <a:p>
                <a:pPr marL="0" lvl="0" indent="0">
                  <a:buNone/>
                </a:pPr>
                <a14:m>
                  <m:oMathPara xmlns:m="http://schemas.openxmlformats.org/officeDocument/2006/math">
                    <m:oMathParaPr>
                      <m:jc m:val="center"/>
                    </m:oMathParaPr>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𝑓</m:t>
                          </m:r>
                        </m:e>
                        <m:sub>
                          <m:r>
                            <a:rPr lang="ar-AE">
                              <a:latin typeface="Cambria Math" panose="02040503050406030204" pitchFamily="18" charset="0"/>
                            </a:rPr>
                            <m:t>2</m:t>
                          </m:r>
                        </m:sub>
                      </m:sSub>
                      <m:d>
                        <m:dPr>
                          <m:ctrlPr>
                            <a:rPr lang="ar-AE" i="1">
                              <a:latin typeface="Cambria Math" panose="02040503050406030204" pitchFamily="18" charset="0"/>
                            </a:rPr>
                          </m:ctrlPr>
                        </m:dPr>
                        <m:e>
                          <m:r>
                            <a:rPr lang="ar-AE">
                              <a:latin typeface="Cambria Math" panose="02040503050406030204" pitchFamily="18" charset="0"/>
                            </a:rPr>
                            <m:t>𝑧</m:t>
                          </m:r>
                        </m:e>
                      </m:d>
                      <m:r>
                        <a:rPr lang="ar-AE">
                          <a:latin typeface="Cambria Math" panose="02040503050406030204" pitchFamily="18" charset="0"/>
                        </a:rPr>
                        <m:t> </m:t>
                      </m:r>
                      <m:r>
                        <a:rPr lang="en-US" b="0" i="0" smtClean="0">
                          <a:latin typeface="Cambria Math" panose="02040503050406030204" pitchFamily="18" charset="0"/>
                        </a:rPr>
                        <m:t>~ </m:t>
                      </m:r>
                      <m:f>
                        <m:fPr>
                          <m:ctrlPr>
                            <a:rPr lang="ar-AE" i="1">
                              <a:latin typeface="Cambria Math" panose="02040503050406030204" pitchFamily="18" charset="0"/>
                            </a:rPr>
                          </m:ctrlPr>
                        </m:fPr>
                        <m:num>
                          <m:r>
                            <a:rPr lang="ar-AE">
                              <a:latin typeface="Cambria Math" panose="02040503050406030204" pitchFamily="18" charset="0"/>
                            </a:rPr>
                            <m:t>𝛽</m:t>
                          </m:r>
                          <m:sSup>
                            <m:sSupPr>
                              <m:ctrlPr>
                                <a:rPr lang="ar-AE" i="1">
                                  <a:latin typeface="Cambria Math" panose="02040503050406030204" pitchFamily="18" charset="0"/>
                                </a:rPr>
                              </m:ctrlPr>
                            </m:sSupPr>
                            <m:e>
                              <m:r>
                                <a:rPr lang="ar-AE">
                                  <a:latin typeface="Cambria Math" panose="02040503050406030204" pitchFamily="18" charset="0"/>
                                </a:rPr>
                                <m:t>𝑧</m:t>
                              </m:r>
                            </m:e>
                            <m:sup>
                              <m:r>
                                <a:rPr lang="ar-AE">
                                  <a:latin typeface="Cambria Math" panose="02040503050406030204" pitchFamily="18" charset="0"/>
                                </a:rPr>
                                <m:t>2</m:t>
                              </m:r>
                            </m:sup>
                          </m:sSup>
                        </m:num>
                        <m:den>
                          <m:r>
                            <a:rPr lang="ar-AE">
                              <a:latin typeface="Cambria Math" panose="02040503050406030204" pitchFamily="18" charset="0"/>
                            </a:rPr>
                            <m:t>2</m:t>
                          </m:r>
                        </m:den>
                      </m:f>
                      <m:r>
                        <a:rPr lang="ar-AE">
                          <a:latin typeface="Cambria Math" panose="02040503050406030204" pitchFamily="18" charset="0"/>
                        </a:rPr>
                        <m:t>+</m:t>
                      </m:r>
                      <m:r>
                        <a:rPr lang="ar-AE">
                          <a:latin typeface="Cambria Math" panose="02040503050406030204" pitchFamily="18" charset="0"/>
                        </a:rPr>
                        <m:t>𝑂</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𝑧</m:t>
                              </m:r>
                            </m:e>
                            <m:sup>
                              <m:r>
                                <a:rPr lang="ar-AE">
                                  <a:latin typeface="Cambria Math" panose="02040503050406030204" pitchFamily="18" charset="0"/>
                                </a:rPr>
                                <m:t>4</m:t>
                              </m:r>
                            </m:sup>
                          </m:sSup>
                        </m:e>
                      </m:d>
                    </m:oMath>
                  </m:oMathPara>
                </a14:m>
                <a:endParaRPr lang="ar-AE" dirty="0"/>
              </a:p>
            </p:txBody>
          </p:sp>
        </mc:Choice>
        <mc:Fallback xmlns="">
          <p:sp>
            <p:nvSpPr>
              <p:cNvPr id="11" name="TextBox 10">
                <a:extLst>
                  <a:ext uri="{FF2B5EF4-FFF2-40B4-BE49-F238E27FC236}">
                    <a16:creationId xmlns:a16="http://schemas.microsoft.com/office/drawing/2014/main" id="{186D91C4-52AE-D43F-77D5-47A7DF83B95A}"/>
                  </a:ext>
                </a:extLst>
              </p:cNvPr>
              <p:cNvSpPr txBox="1">
                <a:spLocks noRot="1" noChangeAspect="1" noMove="1" noResize="1" noEditPoints="1" noAdjustHandles="1" noChangeArrowheads="1" noChangeShapeType="1" noTextEdit="1"/>
              </p:cNvSpPr>
              <p:nvPr/>
            </p:nvSpPr>
            <p:spPr>
              <a:xfrm>
                <a:off x="4751070" y="3062976"/>
                <a:ext cx="4354830" cy="1997726"/>
              </a:xfrm>
              <a:prstGeom prst="rect">
                <a:avLst/>
              </a:prstGeom>
              <a:blipFill>
                <a:blip r:embed="rId4"/>
                <a:stretch>
                  <a:fillRect l="-870" b="-6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A258B9-129F-CD3B-A1AD-2F94920D9362}"/>
                  </a:ext>
                </a:extLst>
              </p:cNvPr>
              <p:cNvSpPr txBox="1"/>
              <p:nvPr/>
            </p:nvSpPr>
            <p:spPr>
              <a:xfrm>
                <a:off x="6672981" y="630428"/>
                <a:ext cx="5304772" cy="120212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ar-AE" i="1" smtClean="0">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𝑧</m:t>
                          </m:r>
                        </m:e>
                      </m:d>
                      <m:r>
                        <a:rPr lang="ar-AE">
                          <a:latin typeface="Cambria Math" panose="02040503050406030204" pitchFamily="18" charset="0"/>
                        </a:rPr>
                        <m:t>=</m:t>
                      </m:r>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a:latin typeface="Cambria Math" panose="02040503050406030204" pitchFamily="18" charset="0"/>
                                </a:rPr>
                                <m:t>𝑥</m:t>
                              </m:r>
                            </m:e>
                          </m:acc>
                          <m:r>
                            <a:rPr lang="ar-AE">
                              <a:latin typeface="Cambria Math" panose="02040503050406030204" pitchFamily="18" charset="0"/>
                            </a:rPr>
                            <m:t>𝐿</m:t>
                          </m:r>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𝑐</m:t>
                              </m:r>
                            </m:e>
                            <m:sub>
                              <m:r>
                                <a:rPr lang="ar-AE">
                                  <a:latin typeface="Cambria Math" panose="02040503050406030204" pitchFamily="18" charset="0"/>
                                </a:rPr>
                                <m:t>𝑥</m:t>
                              </m:r>
                            </m:sub>
                          </m:sSub>
                          <m:r>
                            <a:rPr lang="ar-AE">
                              <a:latin typeface="Cambria Math" panose="02040503050406030204" pitchFamily="18" charset="0"/>
                            </a:rPr>
                            <m:t>,</m:t>
                          </m:r>
                          <m:acc>
                            <m:accPr>
                              <m:chr m:val="̃"/>
                              <m:ctrlPr>
                                <a:rPr lang="ar-AE" i="1">
                                  <a:latin typeface="Cambria Math" panose="02040503050406030204" pitchFamily="18" charset="0"/>
                                </a:rPr>
                              </m:ctrlPr>
                            </m:accPr>
                            <m:e>
                              <m:r>
                                <a:rPr lang="ar-AE">
                                  <a:latin typeface="Cambria Math" panose="02040503050406030204" pitchFamily="18" charset="0"/>
                                </a:rPr>
                                <m:t>𝑧</m:t>
                              </m:r>
                            </m:e>
                          </m:acc>
                          <m:r>
                            <a:rPr lang="ar-AE" smtClean="0">
                              <a:latin typeface="Cambria Math" panose="02040503050406030204" pitchFamily="18" charset="0"/>
                            </a:rPr>
                            <m:t>𝐿</m:t>
                          </m:r>
                        </m:e>
                      </m:d>
                    </m:oMath>
                  </m:oMathPara>
                </a14:m>
                <a:endParaRPr lang="en-US" dirty="0"/>
              </a:p>
              <a:p>
                <a:pPr/>
                <a14:m>
                  <m:oMath xmlns:m="http://schemas.openxmlformats.org/officeDocument/2006/math">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𝑝</m:t>
                            </m:r>
                          </m:e>
                          <m:sub>
                            <m:r>
                              <a:rPr lang="ar-AE">
                                <a:latin typeface="Cambria Math" panose="02040503050406030204" pitchFamily="18" charset="0"/>
                              </a:rPr>
                              <m:t>𝑥</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𝑝</m:t>
                            </m:r>
                          </m:e>
                          <m:sub>
                            <m:r>
                              <a:rPr lang="ar-AE">
                                <a:latin typeface="Cambria Math" panose="02040503050406030204" pitchFamily="18" charset="0"/>
                              </a:rPr>
                              <m:t>𝑧</m:t>
                            </m:r>
                          </m:sub>
                        </m:sSub>
                      </m:e>
                    </m:d>
                    <m:r>
                      <a:rPr lang="ar-AE">
                        <a:latin typeface="Cambria Math" panose="02040503050406030204" pitchFamily="18" charset="0"/>
                      </a:rPr>
                      <m:t>=</m:t>
                    </m:r>
                    <m:r>
                      <a:rPr lang="ar-AE">
                        <a:latin typeface="Cambria Math" panose="02040503050406030204" pitchFamily="18" charset="0"/>
                      </a:rPr>
                      <m:t>𝑝</m:t>
                    </m:r>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a:latin typeface="Cambria Math" panose="02040503050406030204" pitchFamily="18" charset="0"/>
                                  </a:rPr>
                                  <m:t>𝑝</m:t>
                                </m:r>
                              </m:e>
                              <m:sub>
                                <m:r>
                                  <a:rPr lang="ar-AE">
                                    <a:latin typeface="Cambria Math" panose="02040503050406030204" pitchFamily="18" charset="0"/>
                                  </a:rPr>
                                  <m:t>𝑥</m:t>
                                </m:r>
                              </m:sub>
                            </m:sSub>
                          </m:e>
                        </m:acc>
                        <m:r>
                          <a:rPr lang="ar-AE">
                            <a:latin typeface="Cambria Math" panose="02040503050406030204" pitchFamily="18" charset="0"/>
                          </a:rPr>
                          <m:t>,</m:t>
                        </m:r>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a:latin typeface="Cambria Math" panose="02040503050406030204" pitchFamily="18" charset="0"/>
                                  </a:rPr>
                                  <m:t>𝑝</m:t>
                                </m:r>
                              </m:e>
                              <m:sub>
                                <m:r>
                                  <a:rPr lang="ar-AE">
                                    <a:latin typeface="Cambria Math" panose="02040503050406030204" pitchFamily="18" charset="0"/>
                                  </a:rPr>
                                  <m:t>𝑧</m:t>
                                </m:r>
                              </m:sub>
                            </m:sSub>
                          </m:e>
                        </m:acc>
                      </m:e>
                    </m:d>
                  </m:oMath>
                </a14:m>
                <a:r>
                  <a:rPr lang="ar-AE" dirty="0"/>
                  <a:t> </a:t>
                </a:r>
                <a:br>
                  <a:rPr lang="en-US" dirty="0"/>
                </a:b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𝑝</m:t>
                      </m:r>
                      <m:r>
                        <a:rPr lang="en-US">
                          <a:latin typeface="Cambria Math" panose="02040503050406030204" pitchFamily="18" charset="0"/>
                        </a:rPr>
                        <m:t>=</m:t>
                      </m:r>
                      <m:r>
                        <a:rPr lang="en-US">
                          <a:latin typeface="Cambria Math" panose="02040503050406030204" pitchFamily="18" charset="0"/>
                        </a:rPr>
                        <m:t>𝑞𝐿</m:t>
                      </m:r>
                      <m:sSub>
                        <m:sSubPr>
                          <m:ctrlPr>
                            <a:rPr lang="ar-AE" i="1">
                              <a:latin typeface="Cambria Math" panose="02040503050406030204" pitchFamily="18" charset="0"/>
                            </a:rPr>
                          </m:ctrlPr>
                        </m:sSubPr>
                        <m:e>
                          <m:r>
                            <a:rPr lang="ar-AE">
                              <a:latin typeface="Cambria Math" panose="02040503050406030204" pitchFamily="18" charset="0"/>
                            </a:rPr>
                            <m:t>𝐵</m:t>
                          </m:r>
                        </m:e>
                        <m:sub>
                          <m:r>
                            <a:rPr lang="ar-AE">
                              <a:latin typeface="Cambria Math" panose="02040503050406030204" pitchFamily="18" charset="0"/>
                            </a:rPr>
                            <m:t>𝑡</m:t>
                          </m:r>
                        </m:sub>
                      </m:sSub>
                      <m:r>
                        <a:rPr lang="ar-AE">
                          <a:latin typeface="Cambria Math" panose="02040503050406030204" pitchFamily="18" charset="0"/>
                        </a:rPr>
                        <m:t>/</m:t>
                      </m:r>
                      <m:r>
                        <a:rPr lang="ar-AE">
                          <a:latin typeface="Cambria Math" panose="02040503050406030204" pitchFamily="18" charset="0"/>
                        </a:rPr>
                        <m:t>𝑐</m:t>
                      </m:r>
                    </m:oMath>
                  </m:oMathPara>
                </a14:m>
                <a:endParaRPr lang="en-US"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h</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𝑞</m:t>
                          </m:r>
                        </m:e>
                        <m:sup>
                          <m:r>
                            <a:rPr lang="ar-AE">
                              <a:latin typeface="Cambria Math" panose="02040503050406030204" pitchFamily="18" charset="0"/>
                            </a:rPr>
                            <m:t>2</m:t>
                          </m:r>
                        </m:sup>
                      </m:sSup>
                      <m:sSup>
                        <m:sSupPr>
                          <m:ctrlPr>
                            <a:rPr lang="ar-AE" i="1">
                              <a:latin typeface="Cambria Math" panose="02040503050406030204" pitchFamily="18" charset="0"/>
                            </a:rPr>
                          </m:ctrlPr>
                        </m:sSupPr>
                        <m:e>
                          <m:r>
                            <a:rPr lang="ar-AE">
                              <a:latin typeface="Cambria Math" panose="02040503050406030204" pitchFamily="18" charset="0"/>
                            </a:rPr>
                            <m:t>𝐿</m:t>
                          </m:r>
                        </m:e>
                        <m:sup>
                          <m:r>
                            <a:rPr lang="ar-AE">
                              <a:latin typeface="Cambria Math" panose="02040503050406030204" pitchFamily="18" charset="0"/>
                            </a:rPr>
                            <m:t>2</m:t>
                          </m:r>
                        </m:sup>
                      </m:sSup>
                      <m:sSubSup>
                        <m:sSubSupPr>
                          <m:ctrlPr>
                            <a:rPr lang="ar-AE" i="1">
                              <a:latin typeface="Cambria Math" panose="02040503050406030204" pitchFamily="18" charset="0"/>
                            </a:rPr>
                          </m:ctrlPr>
                        </m:sSubSupPr>
                        <m:e>
                          <m:r>
                            <a:rPr lang="ar-AE">
                              <a:latin typeface="Cambria Math" panose="02040503050406030204" pitchFamily="18" charset="0"/>
                            </a:rPr>
                            <m:t>𝐵</m:t>
                          </m:r>
                        </m:e>
                        <m:sub>
                          <m:r>
                            <a:rPr lang="ar-AE">
                              <a:latin typeface="Cambria Math" panose="02040503050406030204" pitchFamily="18" charset="0"/>
                            </a:rPr>
                            <m:t>𝑡</m:t>
                          </m:r>
                        </m:sub>
                        <m:sup>
                          <m:r>
                            <a:rPr lang="ar-AE">
                              <a:latin typeface="Cambria Math" panose="02040503050406030204" pitchFamily="18" charset="0"/>
                            </a:rPr>
                            <m:t>2</m:t>
                          </m:r>
                        </m:sup>
                      </m:sSubSup>
                      <m:r>
                        <a:rPr lang="ar-AE">
                          <a:latin typeface="Cambria Math" panose="02040503050406030204" pitchFamily="18" charset="0"/>
                        </a:rPr>
                        <m:t>/</m:t>
                      </m:r>
                      <m:r>
                        <a:rPr lang="ar-AE">
                          <a:latin typeface="Cambria Math" panose="02040503050406030204" pitchFamily="18" charset="0"/>
                        </a:rPr>
                        <m:t>𝑚</m:t>
                      </m:r>
                      <m:sSup>
                        <m:sSupPr>
                          <m:ctrlPr>
                            <a:rPr lang="ar-AE" i="1">
                              <a:latin typeface="Cambria Math" panose="02040503050406030204" pitchFamily="18" charset="0"/>
                            </a:rPr>
                          </m:ctrlPr>
                        </m:sSupPr>
                        <m:e>
                          <m:r>
                            <a:rPr lang="ar-AE">
                              <a:latin typeface="Cambria Math" panose="02040503050406030204" pitchFamily="18" charset="0"/>
                            </a:rPr>
                            <m:t>𝑐</m:t>
                          </m:r>
                        </m:e>
                        <m:sup>
                          <m:r>
                            <a:rPr lang="ar-AE">
                              <a:latin typeface="Cambria Math" panose="02040503050406030204" pitchFamily="18" charset="0"/>
                            </a:rPr>
                            <m:t>2</m:t>
                          </m:r>
                        </m:sup>
                      </m:sSup>
                    </m:oMath>
                  </m:oMathPara>
                </a14:m>
                <a:endParaRPr lang="en-US" dirty="0"/>
              </a:p>
            </p:txBody>
          </p:sp>
        </mc:Choice>
        <mc:Fallback xmlns="">
          <p:sp>
            <p:nvSpPr>
              <p:cNvPr id="6" name="TextBox 5">
                <a:extLst>
                  <a:ext uri="{FF2B5EF4-FFF2-40B4-BE49-F238E27FC236}">
                    <a16:creationId xmlns:a16="http://schemas.microsoft.com/office/drawing/2014/main" id="{17A258B9-129F-CD3B-A1AD-2F94920D9362}"/>
                  </a:ext>
                </a:extLst>
              </p:cNvPr>
              <p:cNvSpPr txBox="1">
                <a:spLocks noRot="1" noChangeAspect="1" noMove="1" noResize="1" noEditPoints="1" noAdjustHandles="1" noChangeArrowheads="1" noChangeShapeType="1" noTextEdit="1"/>
              </p:cNvSpPr>
              <p:nvPr/>
            </p:nvSpPr>
            <p:spPr>
              <a:xfrm>
                <a:off x="6672981" y="630428"/>
                <a:ext cx="5304772" cy="1202124"/>
              </a:xfrm>
              <a:prstGeom prst="rect">
                <a:avLst/>
              </a:prstGeom>
              <a:blipFill>
                <a:blip r:embed="rId5"/>
                <a:stretch>
                  <a:fillRect b="-312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Adiabatic Invariance </a:t>
            </a:r>
            <a:r>
              <a:rPr lang="en-US" dirty="0"/>
              <a:t>and</a:t>
            </a:r>
            <a:r>
              <a:rPr dirty="0"/>
              <a:t> Pitch Angle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 y="1063229"/>
                <a:ext cx="4206240" cy="4034790"/>
              </a:xfrm>
            </p:spPr>
            <p:txBody>
              <a:bodyPr>
                <a:normAutofit fontScale="85000" lnSpcReduction="10000"/>
              </a:bodyPr>
              <a:lstStyle/>
              <a:p>
                <a:pPr lvl="0"/>
                <a:r>
                  <a:rPr lang="en-US" dirty="0">
                    <a:solidFill>
                      <a:schemeClr val="accent6">
                        <a:lumMod val="75000"/>
                      </a:schemeClr>
                    </a:solidFill>
                  </a:rPr>
                  <a:t>Variables </a:t>
                </a:r>
                <a14:m>
                  <m:oMath xmlns:m="http://schemas.openxmlformats.org/officeDocument/2006/math">
                    <m:d>
                      <m:dPr>
                        <m:ctrlPr>
                          <a:rPr lang="ar-AE" i="1">
                            <a:solidFill>
                              <a:schemeClr val="accent6">
                                <a:lumMod val="75000"/>
                              </a:schemeClr>
                            </a:solidFill>
                            <a:latin typeface="Cambria Math" panose="02040503050406030204" pitchFamily="18" charset="0"/>
                          </a:rPr>
                        </m:ctrlPr>
                      </m:dPr>
                      <m:e>
                        <m:r>
                          <a:rPr lang="ar-AE">
                            <a:solidFill>
                              <a:schemeClr val="accent6">
                                <a:lumMod val="75000"/>
                              </a:schemeClr>
                            </a:solidFill>
                            <a:latin typeface="Cambria Math" panose="02040503050406030204" pitchFamily="18" charset="0"/>
                          </a:rPr>
                          <m:t>𝜅</m:t>
                        </m:r>
                        <m:r>
                          <a:rPr lang="ar-AE">
                            <a:solidFill>
                              <a:schemeClr val="accent6">
                                <a:lumMod val="75000"/>
                              </a:schemeClr>
                            </a:solidFill>
                            <a:latin typeface="Cambria Math" panose="02040503050406030204" pitchFamily="18" charset="0"/>
                          </a:rPr>
                          <m:t>𝑥</m:t>
                        </m:r>
                        <m:r>
                          <a:rPr lang="ar-AE">
                            <a:solidFill>
                              <a:schemeClr val="accent6">
                                <a:lumMod val="75000"/>
                              </a:schemeClr>
                            </a:solidFill>
                            <a:latin typeface="Cambria Math" panose="02040503050406030204" pitchFamily="18" charset="0"/>
                          </a:rPr>
                          <m:t>,</m:t>
                        </m:r>
                        <m:sSub>
                          <m:sSubPr>
                            <m:ctrlPr>
                              <a:rPr lang="ar-AE" i="1">
                                <a:solidFill>
                                  <a:schemeClr val="accent6">
                                    <a:lumMod val="75000"/>
                                  </a:schemeClr>
                                </a:solidFill>
                                <a:latin typeface="Cambria Math" panose="02040503050406030204" pitchFamily="18" charset="0"/>
                              </a:rPr>
                            </m:ctrlPr>
                          </m:sSubPr>
                          <m:e>
                            <m:r>
                              <a:rPr lang="ar-AE">
                                <a:solidFill>
                                  <a:schemeClr val="accent6">
                                    <a:lumMod val="75000"/>
                                  </a:schemeClr>
                                </a:solidFill>
                                <a:latin typeface="Cambria Math" panose="02040503050406030204" pitchFamily="18" charset="0"/>
                              </a:rPr>
                              <m:t>𝑝</m:t>
                            </m:r>
                          </m:e>
                          <m:sub>
                            <m:r>
                              <a:rPr lang="ar-AE">
                                <a:solidFill>
                                  <a:schemeClr val="accent6">
                                    <a:lumMod val="75000"/>
                                  </a:schemeClr>
                                </a:solidFill>
                                <a:latin typeface="Cambria Math" panose="02040503050406030204" pitchFamily="18" charset="0"/>
                              </a:rPr>
                              <m:t>𝑥</m:t>
                            </m:r>
                          </m:sub>
                        </m:sSub>
                      </m:e>
                    </m:d>
                  </m:oMath>
                </a14:m>
                <a:r>
                  <a:rPr lang="ar-AE" dirty="0">
                    <a:solidFill>
                      <a:schemeClr val="accent6">
                        <a:lumMod val="75000"/>
                      </a:schemeClr>
                    </a:solidFill>
                  </a:rPr>
                  <a:t> </a:t>
                </a:r>
                <a:r>
                  <a:rPr lang="en-US" dirty="0">
                    <a:solidFill>
                      <a:schemeClr val="accent6">
                        <a:lumMod val="75000"/>
                      </a:schemeClr>
                    </a:solidFill>
                  </a:rPr>
                  <a:t>change much slower than </a:t>
                </a:r>
                <a14:m>
                  <m:oMath xmlns:m="http://schemas.openxmlformats.org/officeDocument/2006/math">
                    <m:d>
                      <m:dPr>
                        <m:ctrlPr>
                          <a:rPr lang="ar-AE" i="1">
                            <a:solidFill>
                              <a:schemeClr val="accent6">
                                <a:lumMod val="75000"/>
                              </a:schemeClr>
                            </a:solidFill>
                            <a:latin typeface="Cambria Math" panose="02040503050406030204" pitchFamily="18" charset="0"/>
                          </a:rPr>
                        </m:ctrlPr>
                      </m:dPr>
                      <m:e>
                        <m:r>
                          <a:rPr lang="ar-AE">
                            <a:solidFill>
                              <a:schemeClr val="accent6">
                                <a:lumMod val="75000"/>
                              </a:schemeClr>
                            </a:solidFill>
                            <a:latin typeface="Cambria Math" panose="02040503050406030204" pitchFamily="18" charset="0"/>
                          </a:rPr>
                          <m:t>𝑧</m:t>
                        </m:r>
                        <m:r>
                          <a:rPr lang="ar-AE">
                            <a:solidFill>
                              <a:schemeClr val="accent6">
                                <a:lumMod val="75000"/>
                              </a:schemeClr>
                            </a:solidFill>
                            <a:latin typeface="Cambria Math" panose="02040503050406030204" pitchFamily="18" charset="0"/>
                          </a:rPr>
                          <m:t>,</m:t>
                        </m:r>
                        <m:sSub>
                          <m:sSubPr>
                            <m:ctrlPr>
                              <a:rPr lang="ar-AE" i="1">
                                <a:solidFill>
                                  <a:schemeClr val="accent6">
                                    <a:lumMod val="75000"/>
                                  </a:schemeClr>
                                </a:solidFill>
                                <a:latin typeface="Cambria Math" panose="02040503050406030204" pitchFamily="18" charset="0"/>
                              </a:rPr>
                            </m:ctrlPr>
                          </m:sSubPr>
                          <m:e>
                            <m:r>
                              <a:rPr lang="ar-AE">
                                <a:solidFill>
                                  <a:schemeClr val="accent6">
                                    <a:lumMod val="75000"/>
                                  </a:schemeClr>
                                </a:solidFill>
                                <a:latin typeface="Cambria Math" panose="02040503050406030204" pitchFamily="18" charset="0"/>
                              </a:rPr>
                              <m:t>𝑝</m:t>
                            </m:r>
                          </m:e>
                          <m:sub>
                            <m:r>
                              <a:rPr lang="ar-AE">
                                <a:solidFill>
                                  <a:schemeClr val="accent6">
                                    <a:lumMod val="75000"/>
                                  </a:schemeClr>
                                </a:solidFill>
                                <a:latin typeface="Cambria Math" panose="02040503050406030204" pitchFamily="18" charset="0"/>
                              </a:rPr>
                              <m:t>𝑧</m:t>
                            </m:r>
                          </m:sub>
                        </m:sSub>
                      </m:e>
                    </m:d>
                  </m:oMath>
                </a14:m>
                <a:r>
                  <a:rPr lang="ar-AE" dirty="0">
                    <a:solidFill>
                      <a:schemeClr val="accent6">
                        <a:lumMod val="75000"/>
                      </a:schemeClr>
                    </a:solidFill>
                  </a:rPr>
                  <a:t> (</a:t>
                </a:r>
                <a:r>
                  <a:rPr lang="en-US" dirty="0">
                    <a:solidFill>
                      <a:schemeClr val="accent6">
                        <a:lumMod val="75000"/>
                      </a:schemeClr>
                    </a:solidFill>
                  </a:rPr>
                  <a:t>for </a:t>
                </a:r>
                <a:r>
                  <a:rPr lang="el-GR" dirty="0" err="1">
                    <a:solidFill>
                      <a:schemeClr val="accent6">
                        <a:lumMod val="75000"/>
                      </a:schemeClr>
                    </a:solidFill>
                  </a:rPr>
                  <a:t>κ</a:t>
                </a:r>
                <a:r>
                  <a:rPr lang="el-GR" dirty="0">
                    <a:solidFill>
                      <a:schemeClr val="accent6">
                        <a:lumMod val="75000"/>
                      </a:schemeClr>
                    </a:solidFill>
                  </a:rPr>
                  <a:t> &lt;&lt; 1)</a:t>
                </a:r>
              </a:p>
              <a:p>
                <a:pPr lvl="0"/>
                <a:endParaRPr dirty="0"/>
              </a:p>
              <a:p>
                <a:pPr lvl="0"/>
                <a:r>
                  <a:rPr lang="en-US" dirty="0">
                    <a:solidFill>
                      <a:schemeClr val="accent5">
                        <a:lumMod val="75000"/>
                      </a:schemeClr>
                    </a:solidFill>
                  </a:rPr>
                  <a:t>Generalized magnetic moment</a:t>
                </a:r>
                <a:br>
                  <a:rPr lang="en-US" dirty="0">
                    <a:solidFill>
                      <a:schemeClr val="accent5">
                        <a:lumMod val="75000"/>
                      </a:schemeClr>
                    </a:solidFill>
                  </a:rPr>
                </a:br>
                <a:r>
                  <a:rPr lang="en-US" dirty="0">
                    <a:solidFill>
                      <a:schemeClr val="accent5">
                        <a:lumMod val="75000"/>
                      </a:schemeClr>
                    </a:solidFill>
                  </a:rPr>
                  <a:t> </a:t>
                </a:r>
                <a14:m>
                  <m:oMath xmlns:m="http://schemas.openxmlformats.org/officeDocument/2006/math">
                    <m:sSub>
                      <m:sSubPr>
                        <m:ctrlPr>
                          <a:rPr lang="ar-AE" i="1">
                            <a:solidFill>
                              <a:schemeClr val="accent5">
                                <a:lumMod val="75000"/>
                              </a:schemeClr>
                            </a:solidFill>
                            <a:latin typeface="Cambria Math" panose="02040503050406030204" pitchFamily="18" charset="0"/>
                          </a:rPr>
                        </m:ctrlPr>
                      </m:sSubPr>
                      <m:e>
                        <m:r>
                          <a:rPr lang="ar-AE">
                            <a:solidFill>
                              <a:schemeClr val="accent5">
                                <a:lumMod val="75000"/>
                              </a:schemeClr>
                            </a:solidFill>
                            <a:latin typeface="Cambria Math" panose="02040503050406030204" pitchFamily="18" charset="0"/>
                          </a:rPr>
                          <m:t>𝐼</m:t>
                        </m:r>
                      </m:e>
                      <m:sub>
                        <m:r>
                          <a:rPr lang="ar-AE">
                            <a:solidFill>
                              <a:schemeClr val="accent5">
                                <a:lumMod val="75000"/>
                              </a:schemeClr>
                            </a:solidFill>
                            <a:latin typeface="Cambria Math" panose="02040503050406030204" pitchFamily="18" charset="0"/>
                          </a:rPr>
                          <m:t>𝑧</m:t>
                        </m:r>
                      </m:sub>
                    </m:sSub>
                    <m:r>
                      <a:rPr lang="ar-AE">
                        <a:solidFill>
                          <a:schemeClr val="accent5">
                            <a:lumMod val="75000"/>
                          </a:schemeClr>
                        </a:solidFill>
                        <a:latin typeface="Cambria Math" panose="02040503050406030204" pitchFamily="18" charset="0"/>
                      </a:rPr>
                      <m:t>=</m:t>
                    </m:r>
                    <m:sSup>
                      <m:sSupPr>
                        <m:ctrlPr>
                          <a:rPr lang="ar-AE" i="1">
                            <a:solidFill>
                              <a:schemeClr val="accent5">
                                <a:lumMod val="75000"/>
                              </a:schemeClr>
                            </a:solidFill>
                            <a:latin typeface="Cambria Math" panose="02040503050406030204" pitchFamily="18" charset="0"/>
                          </a:rPr>
                        </m:ctrlPr>
                      </m:sSupPr>
                      <m:e>
                        <m:d>
                          <m:dPr>
                            <m:ctrlPr>
                              <a:rPr lang="ar-AE" i="1">
                                <a:solidFill>
                                  <a:schemeClr val="accent5">
                                    <a:lumMod val="75000"/>
                                  </a:schemeClr>
                                </a:solidFill>
                                <a:latin typeface="Cambria Math" panose="02040503050406030204" pitchFamily="18" charset="0"/>
                              </a:rPr>
                            </m:ctrlPr>
                          </m:dPr>
                          <m:e>
                            <m:r>
                              <a:rPr lang="ar-AE">
                                <a:solidFill>
                                  <a:schemeClr val="accent5">
                                    <a:lumMod val="75000"/>
                                  </a:schemeClr>
                                </a:solidFill>
                                <a:latin typeface="Cambria Math" panose="02040503050406030204" pitchFamily="18" charset="0"/>
                              </a:rPr>
                              <m:t>2</m:t>
                            </m:r>
                            <m:r>
                              <a:rPr lang="ar-AE">
                                <a:solidFill>
                                  <a:schemeClr val="accent5">
                                    <a:lumMod val="75000"/>
                                  </a:schemeClr>
                                </a:solidFill>
                                <a:latin typeface="Cambria Math" panose="02040503050406030204" pitchFamily="18" charset="0"/>
                              </a:rPr>
                              <m:t>𝜋</m:t>
                            </m:r>
                          </m:e>
                        </m:d>
                      </m:e>
                      <m:sup>
                        <m:r>
                          <a:rPr lang="ar-AE">
                            <a:solidFill>
                              <a:schemeClr val="accent5">
                                <a:lumMod val="75000"/>
                              </a:schemeClr>
                            </a:solidFill>
                            <a:latin typeface="Cambria Math" panose="02040503050406030204" pitchFamily="18" charset="0"/>
                          </a:rPr>
                          <m:t>−1</m:t>
                        </m:r>
                      </m:sup>
                    </m:sSup>
                    <m:r>
                      <a:rPr lang="ar-AE">
                        <a:solidFill>
                          <a:schemeClr val="accent5">
                            <a:lumMod val="75000"/>
                          </a:schemeClr>
                        </a:solidFill>
                        <a:latin typeface="Cambria Math" panose="02040503050406030204" pitchFamily="18" charset="0"/>
                      </a:rPr>
                      <m:t>∮</m:t>
                    </m:r>
                    <m:sSub>
                      <m:sSubPr>
                        <m:ctrlPr>
                          <a:rPr lang="ar-AE" i="1">
                            <a:solidFill>
                              <a:schemeClr val="accent5">
                                <a:lumMod val="75000"/>
                              </a:schemeClr>
                            </a:solidFill>
                            <a:latin typeface="Cambria Math" panose="02040503050406030204" pitchFamily="18" charset="0"/>
                          </a:rPr>
                        </m:ctrlPr>
                      </m:sSubPr>
                      <m:e>
                        <m:r>
                          <a:rPr lang="ar-AE">
                            <a:solidFill>
                              <a:schemeClr val="accent5">
                                <a:lumMod val="75000"/>
                              </a:schemeClr>
                            </a:solidFill>
                            <a:latin typeface="Cambria Math" panose="02040503050406030204" pitchFamily="18" charset="0"/>
                          </a:rPr>
                          <m:t>𝑝</m:t>
                        </m:r>
                      </m:e>
                      <m:sub>
                        <m:r>
                          <a:rPr lang="ar-AE">
                            <a:solidFill>
                              <a:schemeClr val="accent5">
                                <a:lumMod val="75000"/>
                              </a:schemeClr>
                            </a:solidFill>
                            <a:latin typeface="Cambria Math" panose="02040503050406030204" pitchFamily="18" charset="0"/>
                          </a:rPr>
                          <m:t>𝑧</m:t>
                        </m:r>
                      </m:sub>
                    </m:sSub>
                    <m:r>
                      <a:rPr lang="ar-AE">
                        <a:solidFill>
                          <a:schemeClr val="accent5">
                            <a:lumMod val="75000"/>
                          </a:schemeClr>
                        </a:solidFill>
                        <a:latin typeface="Cambria Math" panose="02040503050406030204" pitchFamily="18" charset="0"/>
                      </a:rPr>
                      <m:t>𝑑𝑧</m:t>
                    </m:r>
                  </m:oMath>
                </a14:m>
                <a:r>
                  <a:rPr lang="ar-AE" dirty="0">
                    <a:solidFill>
                      <a:schemeClr val="accent5">
                        <a:lumMod val="75000"/>
                      </a:schemeClr>
                    </a:solidFill>
                  </a:rPr>
                  <a:t> </a:t>
                </a:r>
                <a:r>
                  <a:rPr lang="en-US" dirty="0">
                    <a:solidFill>
                      <a:schemeClr val="accent5">
                        <a:lumMod val="75000"/>
                      </a:schemeClr>
                    </a:solidFill>
                  </a:rPr>
                  <a:t>is conserved as the first adiabatic invariant</a:t>
                </a:r>
              </a:p>
              <a:p>
                <a:pPr lvl="0"/>
                <a:endParaRPr dirty="0"/>
              </a:p>
              <a:p>
                <a:pPr lvl="0"/>
                <a:r>
                  <a:rPr lang="en-US" dirty="0">
                    <a:solidFill>
                      <a:schemeClr val="accent4">
                        <a:lumMod val="75000"/>
                      </a:schemeClr>
                    </a:solidFill>
                  </a:rPr>
                  <a:t>Simultaneous conservation of energy and </a:t>
                </a:r>
                <a14:m>
                  <m:oMath xmlns:m="http://schemas.openxmlformats.org/officeDocument/2006/math">
                    <m:sSub>
                      <m:sSubPr>
                        <m:ctrlPr>
                          <a:rPr lang="ar-AE" i="1">
                            <a:solidFill>
                              <a:schemeClr val="accent4">
                                <a:lumMod val="75000"/>
                              </a:schemeClr>
                            </a:solidFill>
                            <a:latin typeface="Cambria Math" panose="02040503050406030204" pitchFamily="18" charset="0"/>
                          </a:rPr>
                        </m:ctrlPr>
                      </m:sSubPr>
                      <m:e>
                        <m:r>
                          <a:rPr lang="ar-AE">
                            <a:solidFill>
                              <a:schemeClr val="accent4">
                                <a:lumMod val="75000"/>
                              </a:schemeClr>
                            </a:solidFill>
                            <a:latin typeface="Cambria Math" panose="02040503050406030204" pitchFamily="18" charset="0"/>
                          </a:rPr>
                          <m:t>𝐼</m:t>
                        </m:r>
                      </m:e>
                      <m:sub>
                        <m:r>
                          <a:rPr lang="ar-AE">
                            <a:solidFill>
                              <a:schemeClr val="accent4">
                                <a:lumMod val="75000"/>
                              </a:schemeClr>
                            </a:solidFill>
                            <a:latin typeface="Cambria Math" panose="02040503050406030204" pitchFamily="18" charset="0"/>
                          </a:rPr>
                          <m:t>𝑧</m:t>
                        </m:r>
                      </m:sub>
                    </m:sSub>
                  </m:oMath>
                </a14:m>
                <a:r>
                  <a:rPr lang="ar-AE" dirty="0">
                    <a:solidFill>
                      <a:schemeClr val="accent4">
                        <a:lumMod val="75000"/>
                      </a:schemeClr>
                    </a:solidFill>
                  </a:rPr>
                  <a:t> </a:t>
                </a:r>
                <a:r>
                  <a:rPr lang="en-US" dirty="0">
                    <a:solidFill>
                      <a:schemeClr val="accent4">
                        <a:lumMod val="75000"/>
                      </a:schemeClr>
                    </a:solidFill>
                  </a:rPr>
                  <a:t>fully determines the motion of the particle</a:t>
                </a:r>
              </a:p>
              <a:p>
                <a:pPr marL="0" lvl="0" indent="0">
                  <a:buNone/>
                </a:pPr>
                <a:r>
                  <a:rPr lang="en-US" dirty="0">
                    <a:solidFill>
                      <a:schemeClr val="accent4">
                        <a:lumMod val="75000"/>
                      </a:schemeClr>
                    </a:solidFill>
                  </a:rPr>
                  <a:t>			 </a:t>
                </a:r>
                <a14:m>
                  <m:oMath xmlns:m="http://schemas.openxmlformats.org/officeDocument/2006/math">
                    <m:r>
                      <a:rPr lang="en-US">
                        <a:solidFill>
                          <a:schemeClr val="accent4">
                            <a:lumMod val="75000"/>
                          </a:schemeClr>
                        </a:solidFill>
                        <a:latin typeface="Cambria Math" panose="02040503050406030204" pitchFamily="18" charset="0"/>
                      </a:rPr>
                      <m:t>𝐯</m:t>
                    </m:r>
                    <m:r>
                      <a:rPr lang="en-US">
                        <a:solidFill>
                          <a:schemeClr val="accent4">
                            <a:lumMod val="75000"/>
                          </a:schemeClr>
                        </a:solidFill>
                        <a:latin typeface="Cambria Math" panose="02040503050406030204" pitchFamily="18" charset="0"/>
                      </a:rPr>
                      <m:t>=</m:t>
                    </m:r>
                    <m:r>
                      <a:rPr lang="en-US">
                        <a:solidFill>
                          <a:schemeClr val="accent4">
                            <a:lumMod val="75000"/>
                          </a:schemeClr>
                        </a:solidFill>
                        <a:latin typeface="Cambria Math" panose="02040503050406030204" pitchFamily="18" charset="0"/>
                      </a:rPr>
                      <m:t>𝐯</m:t>
                    </m:r>
                    <m:d>
                      <m:dPr>
                        <m:ctrlPr>
                          <a:rPr lang="ar-AE" i="1">
                            <a:solidFill>
                              <a:schemeClr val="accent4">
                                <a:lumMod val="75000"/>
                              </a:schemeClr>
                            </a:solidFill>
                            <a:latin typeface="Cambria Math" panose="02040503050406030204" pitchFamily="18" charset="0"/>
                          </a:rPr>
                        </m:ctrlPr>
                      </m:dPr>
                      <m:e>
                        <m:r>
                          <a:rPr lang="ar-AE">
                            <a:solidFill>
                              <a:schemeClr val="accent4">
                                <a:lumMod val="75000"/>
                              </a:schemeClr>
                            </a:solidFill>
                            <a:latin typeface="Cambria Math" panose="02040503050406030204" pitchFamily="18" charset="0"/>
                          </a:rPr>
                          <m:t>𝐫</m:t>
                        </m:r>
                        <m:r>
                          <a:rPr lang="ar-AE">
                            <a:solidFill>
                              <a:schemeClr val="accent4">
                                <a:lumMod val="75000"/>
                              </a:schemeClr>
                            </a:solidFill>
                            <a:latin typeface="Cambria Math" panose="02040503050406030204" pitchFamily="18" charset="0"/>
                          </a:rPr>
                          <m:t>,</m:t>
                        </m:r>
                        <m:sSub>
                          <m:sSubPr>
                            <m:ctrlPr>
                              <a:rPr lang="ar-AE" i="1">
                                <a:solidFill>
                                  <a:schemeClr val="accent4">
                                    <a:lumMod val="75000"/>
                                  </a:schemeClr>
                                </a:solidFill>
                                <a:latin typeface="Cambria Math" panose="02040503050406030204" pitchFamily="18" charset="0"/>
                              </a:rPr>
                            </m:ctrlPr>
                          </m:sSubPr>
                          <m:e>
                            <m:r>
                              <a:rPr lang="ar-AE">
                                <a:solidFill>
                                  <a:schemeClr val="accent4">
                                    <a:lumMod val="75000"/>
                                  </a:schemeClr>
                                </a:solidFill>
                                <a:latin typeface="Cambria Math" panose="02040503050406030204" pitchFamily="18" charset="0"/>
                              </a:rPr>
                              <m:t>𝐼</m:t>
                            </m:r>
                          </m:e>
                          <m:sub>
                            <m:r>
                              <a:rPr lang="ar-AE">
                                <a:solidFill>
                                  <a:schemeClr val="accent4">
                                    <a:lumMod val="75000"/>
                                  </a:schemeClr>
                                </a:solidFill>
                                <a:latin typeface="Cambria Math" panose="02040503050406030204" pitchFamily="18" charset="0"/>
                              </a:rPr>
                              <m:t>𝑧</m:t>
                            </m:r>
                          </m:sub>
                        </m:sSub>
                        <m:r>
                          <a:rPr lang="ar-AE">
                            <a:solidFill>
                              <a:schemeClr val="accent4">
                                <a:lumMod val="75000"/>
                              </a:schemeClr>
                            </a:solidFill>
                            <a:latin typeface="Cambria Math" panose="02040503050406030204" pitchFamily="18" charset="0"/>
                          </a:rPr>
                          <m:t>,</m:t>
                        </m:r>
                        <m:r>
                          <a:rPr lang="ar-AE">
                            <a:solidFill>
                              <a:schemeClr val="accent4">
                                <a:lumMod val="75000"/>
                              </a:schemeClr>
                            </a:solidFill>
                            <a:latin typeface="Cambria Math" panose="02040503050406030204" pitchFamily="18" charset="0"/>
                          </a:rPr>
                          <m:t>𝐻</m:t>
                        </m:r>
                      </m:e>
                    </m:d>
                  </m:oMath>
                </a14:m>
                <a:endParaRPr dirty="0"/>
              </a:p>
              <a:p>
                <a:pPr lvl="0"/>
                <a:r>
                  <a:rPr lang="en-US" dirty="0">
                    <a:solidFill>
                      <a:schemeClr val="accent3">
                        <a:lumMod val="75000"/>
                      </a:schemeClr>
                    </a:solidFill>
                  </a:rPr>
                  <a:t>In the absence of </a:t>
                </a:r>
                <a14:m>
                  <m:oMath xmlns:m="http://schemas.openxmlformats.org/officeDocument/2006/math">
                    <m:sSub>
                      <m:sSubPr>
                        <m:ctrlPr>
                          <a:rPr lang="ar-AE" i="1">
                            <a:solidFill>
                              <a:schemeClr val="accent3">
                                <a:lumMod val="75000"/>
                              </a:schemeClr>
                            </a:solidFill>
                            <a:latin typeface="Cambria Math" panose="02040503050406030204" pitchFamily="18" charset="0"/>
                          </a:rPr>
                        </m:ctrlPr>
                      </m:sSubPr>
                      <m:e>
                        <m:r>
                          <a:rPr lang="ar-AE">
                            <a:solidFill>
                              <a:schemeClr val="accent3">
                                <a:lumMod val="75000"/>
                              </a:schemeClr>
                            </a:solidFill>
                            <a:latin typeface="Cambria Math" panose="02040503050406030204" pitchFamily="18" charset="0"/>
                          </a:rPr>
                          <m:t>𝐼</m:t>
                        </m:r>
                      </m:e>
                      <m:sub>
                        <m:r>
                          <a:rPr lang="ar-AE">
                            <a:solidFill>
                              <a:schemeClr val="accent3">
                                <a:lumMod val="75000"/>
                              </a:schemeClr>
                            </a:solidFill>
                            <a:latin typeface="Cambria Math" panose="02040503050406030204" pitchFamily="18" charset="0"/>
                          </a:rPr>
                          <m:t>𝑧</m:t>
                        </m:r>
                      </m:sub>
                    </m:sSub>
                  </m:oMath>
                </a14:m>
                <a:r>
                  <a:rPr lang="ar-AE" dirty="0">
                    <a:solidFill>
                      <a:schemeClr val="accent3">
                        <a:lumMod val="75000"/>
                      </a:schemeClr>
                    </a:solidFill>
                  </a:rPr>
                  <a:t> </a:t>
                </a:r>
                <a:r>
                  <a:rPr lang="en-US" dirty="0">
                    <a:solidFill>
                      <a:schemeClr val="accent3">
                        <a:lumMod val="75000"/>
                      </a:schemeClr>
                    </a:solidFill>
                  </a:rPr>
                  <a:t>destruction, there is no pitch-angle scattering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 y="1063229"/>
                <a:ext cx="4206240" cy="4034790"/>
              </a:xfrm>
              <a:blipFill>
                <a:blip r:embed="rId3"/>
                <a:stretch>
                  <a:fillRect l="-1205" t="-1567" b="-2508"/>
                </a:stretch>
              </a:blipFill>
            </p:spPr>
            <p:txBody>
              <a:bodyPr/>
              <a:lstStyle/>
              <a:p>
                <a:r>
                  <a:rPr lang="en-US">
                    <a:noFill/>
                  </a:rPr>
                  <a:t> </a:t>
                </a:r>
              </a:p>
            </p:txBody>
          </p:sp>
        </mc:Fallback>
      </mc:AlternateContent>
      <p:pic>
        <p:nvPicPr>
          <p:cNvPr id="4" name="Picture 1" descr="../figures/example_traj.png">
            <a:extLst>
              <a:ext uri="{FF2B5EF4-FFF2-40B4-BE49-F238E27FC236}">
                <a16:creationId xmlns:a16="http://schemas.microsoft.com/office/drawing/2014/main" id="{3B6EE0DE-42F3-6620-DD46-41715FA3C245}"/>
              </a:ext>
            </a:extLst>
          </p:cNvPr>
          <p:cNvPicPr>
            <a:picLocks noGrp="1" noChangeAspect="1"/>
          </p:cNvPicPr>
          <p:nvPr/>
        </p:nvPicPr>
        <p:blipFill>
          <a:blip r:embed="rId4"/>
          <a:stretch>
            <a:fillRect/>
          </a:stretch>
        </p:blipFill>
        <p:spPr bwMode="auto">
          <a:xfrm>
            <a:off x="4088555" y="1101807"/>
            <a:ext cx="5055445" cy="3488212"/>
          </a:xfrm>
          <a:prstGeom prst="rect">
            <a:avLst/>
          </a:prstGeom>
          <a:noFill/>
          <a:ln w="9525">
            <a:noFill/>
            <a:headEnd/>
            <a:tailEnd/>
          </a:ln>
        </p:spPr>
      </p:pic>
      <p:sp>
        <p:nvSpPr>
          <p:cNvPr id="5" name="TextBox 3">
            <a:extLst>
              <a:ext uri="{FF2B5EF4-FFF2-40B4-BE49-F238E27FC236}">
                <a16:creationId xmlns:a16="http://schemas.microsoft.com/office/drawing/2014/main" id="{A0811210-2268-5F62-748D-7E8031DA5BDF}"/>
              </a:ext>
            </a:extLst>
          </p:cNvPr>
          <p:cNvSpPr txBox="1"/>
          <p:nvPr/>
        </p:nvSpPr>
        <p:spPr>
          <a:xfrm>
            <a:off x="2825750" y="4775200"/>
            <a:ext cx="8229600" cy="508000"/>
          </a:xfrm>
          <a:prstGeom prst="rect">
            <a:avLst/>
          </a:prstGeom>
          <a:noFill/>
        </p:spPr>
        <p:txBody>
          <a:bodyPr/>
          <a:lstStyle/>
          <a:p>
            <a:pPr marL="0" lvl="0" indent="0" algn="ctr">
              <a:buNone/>
            </a:pPr>
            <a:r>
              <a:rPr dirty="0"/>
              <a:t>Particle trajectories in phase space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848099" cy="871538"/>
          </a:xfrm>
        </p:spPr>
        <p:txBody>
          <a:bodyPr>
            <a:normAutofit fontScale="90000"/>
          </a:bodyPr>
          <a:lstStyle/>
          <a:p>
            <a:pPr marL="0" lvl="0" indent="0">
              <a:buNone/>
            </a:pPr>
            <a:r>
              <a:rPr sz="2000" dirty="0"/>
              <a:t>Destruction of Adiabatic Invariance: Separatrix and Uncertainty Curve</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1" y="1076326"/>
                <a:ext cx="3500270" cy="3518297"/>
              </a:xfrm>
            </p:spPr>
            <p:txBody>
              <a:bodyPr>
                <a:noAutofit/>
              </a:bodyPr>
              <a:lstStyle/>
              <a:p>
                <a:pPr lvl="0"/>
                <a:r>
                  <a:rPr lang="en-US" sz="1600" dirty="0">
                    <a:solidFill>
                      <a:schemeClr val="accent6">
                        <a:lumMod val="75000"/>
                      </a:schemeClr>
                    </a:solidFill>
                  </a:rPr>
                  <a:t>Two distinct types of particle trajectories in </a:t>
                </a:r>
                <a14:m>
                  <m:oMath xmlns:m="http://schemas.openxmlformats.org/officeDocument/2006/math">
                    <m:d>
                      <m:dPr>
                        <m:ctrlPr>
                          <a:rPr lang="ar-AE" sz="1600" i="1">
                            <a:solidFill>
                              <a:schemeClr val="accent6">
                                <a:lumMod val="75000"/>
                              </a:schemeClr>
                            </a:solidFill>
                            <a:latin typeface="Cambria Math" panose="02040503050406030204" pitchFamily="18" charset="0"/>
                          </a:rPr>
                        </m:ctrlPr>
                      </m:dPr>
                      <m:e>
                        <m:r>
                          <a:rPr lang="ar-AE" sz="1600">
                            <a:solidFill>
                              <a:schemeClr val="accent6">
                                <a:lumMod val="75000"/>
                              </a:schemeClr>
                            </a:solidFill>
                            <a:latin typeface="Cambria Math" panose="02040503050406030204" pitchFamily="18" charset="0"/>
                          </a:rPr>
                          <m:t>𝑧</m:t>
                        </m:r>
                        <m:r>
                          <a:rPr lang="ar-AE" sz="1600">
                            <a:solidFill>
                              <a:schemeClr val="accent6">
                                <a:lumMod val="75000"/>
                              </a:schemeClr>
                            </a:solidFill>
                            <a:latin typeface="Cambria Math" panose="02040503050406030204" pitchFamily="18" charset="0"/>
                          </a:rPr>
                          <m:t>,</m:t>
                        </m:r>
                        <m:sSub>
                          <m:sSubPr>
                            <m:ctrlPr>
                              <a:rPr lang="ar-AE" sz="1600" i="1">
                                <a:solidFill>
                                  <a:schemeClr val="accent6">
                                    <a:lumMod val="75000"/>
                                  </a:schemeClr>
                                </a:solidFill>
                                <a:latin typeface="Cambria Math" panose="02040503050406030204" pitchFamily="18" charset="0"/>
                              </a:rPr>
                            </m:ctrlPr>
                          </m:sSubPr>
                          <m:e>
                            <m:r>
                              <a:rPr lang="ar-AE" sz="1600">
                                <a:solidFill>
                                  <a:schemeClr val="accent6">
                                    <a:lumMod val="75000"/>
                                  </a:schemeClr>
                                </a:solidFill>
                                <a:latin typeface="Cambria Math" panose="02040503050406030204" pitchFamily="18" charset="0"/>
                              </a:rPr>
                              <m:t>𝑝</m:t>
                            </m:r>
                          </m:e>
                          <m:sub>
                            <m:r>
                              <a:rPr lang="ar-AE" sz="1600">
                                <a:solidFill>
                                  <a:schemeClr val="accent6">
                                    <a:lumMod val="75000"/>
                                  </a:schemeClr>
                                </a:solidFill>
                                <a:latin typeface="Cambria Math" panose="02040503050406030204" pitchFamily="18" charset="0"/>
                              </a:rPr>
                              <m:t>𝑧</m:t>
                            </m:r>
                          </m:sub>
                        </m:sSub>
                      </m:e>
                    </m:d>
                  </m:oMath>
                </a14:m>
                <a:r>
                  <a:rPr lang="ar-AE" sz="1600" dirty="0">
                    <a:solidFill>
                      <a:schemeClr val="accent6">
                        <a:lumMod val="75000"/>
                      </a:schemeClr>
                    </a:solidFill>
                  </a:rPr>
                  <a:t> </a:t>
                </a:r>
                <a:r>
                  <a:rPr lang="en-US" sz="1600" dirty="0">
                    <a:solidFill>
                      <a:schemeClr val="accent6">
                        <a:lumMod val="75000"/>
                      </a:schemeClr>
                    </a:solidFill>
                  </a:rPr>
                  <a:t>plane separated by a curve called </a:t>
                </a:r>
                <a:r>
                  <a:rPr lang="en-US" sz="1600" b="1" i="1" dirty="0">
                    <a:solidFill>
                      <a:schemeClr val="accent6">
                        <a:lumMod val="75000"/>
                      </a:schemeClr>
                    </a:solidFill>
                  </a:rPr>
                  <a:t>Separatrix</a:t>
                </a:r>
                <a:r>
                  <a:rPr lang="en-US" sz="1600" dirty="0">
                    <a:solidFill>
                      <a:schemeClr val="accent6">
                        <a:lumMod val="75000"/>
                      </a:schemeClr>
                    </a:solidFill>
                  </a:rPr>
                  <a:t>.</a:t>
                </a:r>
              </a:p>
              <a:p>
                <a:pPr lvl="0"/>
                <a:endParaRPr lang="en-US" sz="1600" dirty="0">
                  <a:solidFill>
                    <a:schemeClr val="accent6">
                      <a:lumMod val="75000"/>
                    </a:schemeClr>
                  </a:solidFill>
                </a:endParaRPr>
              </a:p>
              <a:p>
                <a:pPr lvl="0"/>
                <a:r>
                  <a:rPr lang="en-US" sz="1600" dirty="0">
                    <a:solidFill>
                      <a:schemeClr val="accent5">
                        <a:lumMod val="75000"/>
                      </a:schemeClr>
                    </a:solidFill>
                  </a:rPr>
                  <a:t>The separatrix corresponds to a point on a certain curve in the </a:t>
                </a:r>
                <a14:m>
                  <m:oMath xmlns:m="http://schemas.openxmlformats.org/officeDocument/2006/math">
                    <m:d>
                      <m:dPr>
                        <m:ctrlPr>
                          <a:rPr lang="ar-AE" sz="1600" i="1">
                            <a:solidFill>
                              <a:schemeClr val="accent5">
                                <a:lumMod val="75000"/>
                              </a:schemeClr>
                            </a:solidFill>
                            <a:latin typeface="Cambria Math" panose="02040503050406030204" pitchFamily="18" charset="0"/>
                          </a:rPr>
                        </m:ctrlPr>
                      </m:dPr>
                      <m:e>
                        <m:r>
                          <a:rPr lang="ar-AE" sz="1600">
                            <a:solidFill>
                              <a:schemeClr val="accent5">
                                <a:lumMod val="75000"/>
                              </a:schemeClr>
                            </a:solidFill>
                            <a:latin typeface="Cambria Math" panose="02040503050406030204" pitchFamily="18" charset="0"/>
                          </a:rPr>
                          <m:t>𝜅</m:t>
                        </m:r>
                        <m:r>
                          <a:rPr lang="ar-AE" sz="1600">
                            <a:solidFill>
                              <a:schemeClr val="accent5">
                                <a:lumMod val="75000"/>
                              </a:schemeClr>
                            </a:solidFill>
                            <a:latin typeface="Cambria Math" panose="02040503050406030204" pitchFamily="18" charset="0"/>
                          </a:rPr>
                          <m:t>𝑥</m:t>
                        </m:r>
                        <m:r>
                          <a:rPr lang="ar-AE" sz="1600">
                            <a:solidFill>
                              <a:schemeClr val="accent5">
                                <a:lumMod val="75000"/>
                              </a:schemeClr>
                            </a:solidFill>
                            <a:latin typeface="Cambria Math" panose="02040503050406030204" pitchFamily="18" charset="0"/>
                          </a:rPr>
                          <m:t>,</m:t>
                        </m:r>
                        <m:sSub>
                          <m:sSubPr>
                            <m:ctrlPr>
                              <a:rPr lang="ar-AE" sz="1600" i="1">
                                <a:solidFill>
                                  <a:schemeClr val="accent5">
                                    <a:lumMod val="75000"/>
                                  </a:schemeClr>
                                </a:solidFill>
                                <a:latin typeface="Cambria Math" panose="02040503050406030204" pitchFamily="18" charset="0"/>
                              </a:rPr>
                            </m:ctrlPr>
                          </m:sSubPr>
                          <m:e>
                            <m:r>
                              <a:rPr lang="ar-AE" sz="1600">
                                <a:solidFill>
                                  <a:schemeClr val="accent5">
                                    <a:lumMod val="75000"/>
                                  </a:schemeClr>
                                </a:solidFill>
                                <a:latin typeface="Cambria Math" panose="02040503050406030204" pitchFamily="18" charset="0"/>
                              </a:rPr>
                              <m:t>𝑝</m:t>
                            </m:r>
                          </m:e>
                          <m:sub>
                            <m:r>
                              <a:rPr lang="ar-AE" sz="1600">
                                <a:solidFill>
                                  <a:schemeClr val="accent5">
                                    <a:lumMod val="75000"/>
                                  </a:schemeClr>
                                </a:solidFill>
                                <a:latin typeface="Cambria Math" panose="02040503050406030204" pitchFamily="18" charset="0"/>
                              </a:rPr>
                              <m:t>𝑥</m:t>
                            </m:r>
                          </m:sub>
                        </m:sSub>
                      </m:e>
                    </m:d>
                  </m:oMath>
                </a14:m>
                <a:r>
                  <a:rPr lang="ar-AE" sz="1600" dirty="0">
                    <a:solidFill>
                      <a:schemeClr val="accent5">
                        <a:lumMod val="75000"/>
                      </a:schemeClr>
                    </a:solidFill>
                  </a:rPr>
                  <a:t> </a:t>
                </a:r>
                <a:r>
                  <a:rPr lang="en-US" sz="1600" dirty="0">
                    <a:solidFill>
                      <a:schemeClr val="accent5">
                        <a:lumMod val="75000"/>
                      </a:schemeClr>
                    </a:solidFill>
                  </a:rPr>
                  <a:t>plane, called </a:t>
                </a:r>
                <a:r>
                  <a:rPr lang="en-US" sz="1600" b="1" i="1" dirty="0">
                    <a:solidFill>
                      <a:schemeClr val="accent5">
                        <a:lumMod val="75000"/>
                      </a:schemeClr>
                    </a:solidFill>
                  </a:rPr>
                  <a:t>Uncertainty Curve</a:t>
                </a:r>
                <a:r>
                  <a:rPr lang="en-US" sz="1600" dirty="0">
                    <a:solidFill>
                      <a:schemeClr val="accent5">
                        <a:lumMod val="75000"/>
                      </a:schemeClr>
                    </a:solidFill>
                  </a:rPr>
                  <a:t>.</a:t>
                </a:r>
              </a:p>
              <a:p>
                <a:pPr lvl="0"/>
                <a:endParaRPr lang="en-US" sz="1600" dirty="0">
                  <a:solidFill>
                    <a:schemeClr val="accent5">
                      <a:lumMod val="75000"/>
                    </a:schemeClr>
                  </a:solidFill>
                </a:endParaRPr>
              </a:p>
              <a:p>
                <a:pPr marL="0" lvl="0" indent="0">
                  <a:buNone/>
                </a:pPr>
                <a:r>
                  <a:rPr sz="1600" dirty="0">
                    <a:solidFill>
                      <a:schemeClr val="accent4">
                        <a:lumMod val="75000"/>
                      </a:schemeClr>
                    </a:solidFill>
                  </a:rPr>
                  <a:t>Near the separatrix, the instantaneous period of motion increases logarithmically.</a:t>
                </a:r>
                <a:endParaRPr lang="en-US" sz="1600" dirty="0">
                  <a:solidFill>
                    <a:schemeClr val="accent4">
                      <a:lumMod val="75000"/>
                    </a:schemeClr>
                  </a:solidFill>
                </a:endParaRPr>
              </a:p>
              <a:p>
                <a:pPr marL="0" lvl="0" indent="0">
                  <a:buNone/>
                </a:pPr>
                <a:endParaRPr lang="en-US" sz="1600" dirty="0">
                  <a:solidFill>
                    <a:schemeClr val="accent4">
                      <a:lumMod val="75000"/>
                    </a:schemeClr>
                  </a:solidFill>
                </a:endParaRPr>
              </a:p>
              <a:p>
                <a:pPr marL="0" lvl="0" indent="0">
                  <a:buNone/>
                </a:pPr>
                <a:r>
                  <a:rPr sz="1600" dirty="0">
                    <a:solidFill>
                      <a:schemeClr val="accent3">
                        <a:lumMod val="75000"/>
                      </a:schemeClr>
                    </a:solidFill>
                  </a:rPr>
                  <a:t>Particle accumulates a nonvanishing change in the adiabatic invariant</a:t>
                </a:r>
                <a:r>
                  <a:rPr lang="en-US" sz="1600" dirty="0">
                    <a:solidFill>
                      <a:schemeClr val="accent3">
                        <a:lumMod val="75000"/>
                      </a:schemeClr>
                    </a:solidFill>
                  </a:rPr>
                  <a:t>: d</a:t>
                </a:r>
                <a:r>
                  <a:rPr sz="1600" dirty="0">
                    <a:solidFill>
                      <a:schemeClr val="accent3">
                        <a:lumMod val="75000"/>
                      </a:schemeClr>
                    </a:solidFill>
                  </a:rPr>
                  <a:t>ynamical jump</a:t>
                </a:r>
                <a:r>
                  <a:rPr lang="en-US" sz="1600" dirty="0">
                    <a:solidFill>
                      <a:schemeClr val="accent3">
                        <a:lumMod val="75000"/>
                      </a:schemeClr>
                    </a:solidFill>
                  </a:rPr>
                  <a:t> and g</a:t>
                </a:r>
                <a:r>
                  <a:rPr sz="1600" dirty="0">
                    <a:solidFill>
                      <a:schemeClr val="accent3">
                        <a:lumMod val="75000"/>
                      </a:schemeClr>
                    </a:solidFill>
                  </a:rPr>
                  <a:t>eometric jump</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1" y="1076326"/>
                <a:ext cx="3500270" cy="3518297"/>
              </a:xfrm>
              <a:blipFill>
                <a:blip r:embed="rId2"/>
                <a:stretch>
                  <a:fillRect l="-1087" t="-360" r="-1449" b="-1690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AEB2FDF-E464-CDA0-F76E-5D5358434BA6}"/>
              </a:ext>
            </a:extLst>
          </p:cNvPr>
          <p:cNvPicPr>
            <a:picLocks noChangeAspect="1"/>
          </p:cNvPicPr>
          <p:nvPr/>
        </p:nvPicPr>
        <p:blipFill>
          <a:blip r:embed="rId3"/>
          <a:stretch>
            <a:fillRect/>
          </a:stretch>
        </p:blipFill>
        <p:spPr>
          <a:xfrm>
            <a:off x="6002200" y="2434232"/>
            <a:ext cx="2528998" cy="2433458"/>
          </a:xfrm>
          <a:prstGeom prst="rect">
            <a:avLst/>
          </a:prstGeom>
        </p:spPr>
      </p:pic>
      <p:cxnSp>
        <p:nvCxnSpPr>
          <p:cNvPr id="7" name="Straight Arrow Connector 6">
            <a:extLst>
              <a:ext uri="{FF2B5EF4-FFF2-40B4-BE49-F238E27FC236}">
                <a16:creationId xmlns:a16="http://schemas.microsoft.com/office/drawing/2014/main" id="{2F232F39-E988-3451-A43E-E08DA0912510}"/>
              </a:ext>
            </a:extLst>
          </p:cNvPr>
          <p:cNvCxnSpPr>
            <a:cxnSpLocks/>
            <a:stCxn id="8" idx="3"/>
          </p:cNvCxnSpPr>
          <p:nvPr/>
        </p:nvCxnSpPr>
        <p:spPr>
          <a:xfrm>
            <a:off x="5545186" y="3027651"/>
            <a:ext cx="1162721" cy="42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8E88BBC-DFCC-2E18-97E9-935EABC06B75}"/>
              </a:ext>
            </a:extLst>
          </p:cNvPr>
          <p:cNvSpPr txBox="1"/>
          <p:nvPr/>
        </p:nvSpPr>
        <p:spPr>
          <a:xfrm>
            <a:off x="4158268" y="2842985"/>
            <a:ext cx="1386918" cy="369332"/>
          </a:xfrm>
          <a:prstGeom prst="rect">
            <a:avLst/>
          </a:prstGeom>
          <a:noFill/>
        </p:spPr>
        <p:txBody>
          <a:bodyPr wrap="none" rtlCol="0">
            <a:spAutoFit/>
          </a:bodyPr>
          <a:lstStyle/>
          <a:p>
            <a:r>
              <a:rPr kumimoji="1" lang="en-US" altLang="zh-CN" dirty="0"/>
              <a:t>One solution</a:t>
            </a:r>
            <a:endParaRPr kumimoji="1" lang="zh-CN" altLang="en-US" dirty="0"/>
          </a:p>
        </p:txBody>
      </p:sp>
      <p:cxnSp>
        <p:nvCxnSpPr>
          <p:cNvPr id="9" name="Straight Arrow Connector 8">
            <a:extLst>
              <a:ext uri="{FF2B5EF4-FFF2-40B4-BE49-F238E27FC236}">
                <a16:creationId xmlns:a16="http://schemas.microsoft.com/office/drawing/2014/main" id="{07F4ED7E-FF66-AD2B-4B23-A88D9E9C1C08}"/>
              </a:ext>
            </a:extLst>
          </p:cNvPr>
          <p:cNvCxnSpPr>
            <a:cxnSpLocks/>
            <a:stCxn id="10" idx="3"/>
          </p:cNvCxnSpPr>
          <p:nvPr/>
        </p:nvCxnSpPr>
        <p:spPr>
          <a:xfrm flipV="1">
            <a:off x="5600605" y="3648807"/>
            <a:ext cx="2519251" cy="724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C9AC5E9-CA2F-E235-9C1B-AD550611BF22}"/>
              </a:ext>
            </a:extLst>
          </p:cNvPr>
          <p:cNvSpPr txBox="1"/>
          <p:nvPr/>
        </p:nvSpPr>
        <p:spPr>
          <a:xfrm>
            <a:off x="4215867" y="4188526"/>
            <a:ext cx="1384738" cy="369332"/>
          </a:xfrm>
          <a:prstGeom prst="rect">
            <a:avLst/>
          </a:prstGeom>
          <a:noFill/>
        </p:spPr>
        <p:txBody>
          <a:bodyPr wrap="none" rtlCol="0">
            <a:spAutoFit/>
          </a:bodyPr>
          <a:lstStyle/>
          <a:p>
            <a:r>
              <a:rPr kumimoji="1" lang="en-US" altLang="zh-CN" dirty="0"/>
              <a:t>Two solution</a:t>
            </a:r>
            <a:endParaRPr kumimoji="1" lang="zh-CN" altLang="en-US" dirty="0"/>
          </a:p>
        </p:txBody>
      </p:sp>
      <p:pic>
        <p:nvPicPr>
          <p:cNvPr id="11" name="Content Placeholder 21">
            <a:extLst>
              <a:ext uri="{FF2B5EF4-FFF2-40B4-BE49-F238E27FC236}">
                <a16:creationId xmlns:a16="http://schemas.microsoft.com/office/drawing/2014/main" id="{6C34BF79-791D-3ECC-3C02-3B842AC9791D}"/>
              </a:ext>
            </a:extLst>
          </p:cNvPr>
          <p:cNvPicPr>
            <a:picLocks noGrp="1" noChangeAspect="1"/>
          </p:cNvPicPr>
          <p:nvPr>
            <p:ph idx="1"/>
          </p:nvPr>
        </p:nvPicPr>
        <p:blipFill>
          <a:blip r:embed="rId4"/>
          <a:srcRect t="14502" r="-790"/>
          <a:stretch/>
        </p:blipFill>
        <p:spPr>
          <a:xfrm>
            <a:off x="4655244" y="0"/>
            <a:ext cx="4351595" cy="2396490"/>
          </a:xfrm>
          <a:prstGeom prst="rect">
            <a:avLst/>
          </a:prstGeom>
        </p:spPr>
      </p:pic>
      <p:sp>
        <p:nvSpPr>
          <p:cNvPr id="12" name="TextBox 11">
            <a:extLst>
              <a:ext uri="{FF2B5EF4-FFF2-40B4-BE49-F238E27FC236}">
                <a16:creationId xmlns:a16="http://schemas.microsoft.com/office/drawing/2014/main" id="{94686FC9-0292-928D-6E1E-4AEFD0715A56}"/>
              </a:ext>
            </a:extLst>
          </p:cNvPr>
          <p:cNvSpPr txBox="1"/>
          <p:nvPr/>
        </p:nvSpPr>
        <p:spPr>
          <a:xfrm>
            <a:off x="3441859" y="3634561"/>
            <a:ext cx="1857945" cy="369332"/>
          </a:xfrm>
          <a:prstGeom prst="rect">
            <a:avLst/>
          </a:prstGeom>
          <a:noFill/>
        </p:spPr>
        <p:txBody>
          <a:bodyPr wrap="none" rtlCol="0">
            <a:spAutoFit/>
          </a:bodyPr>
          <a:lstStyle/>
          <a:p>
            <a:r>
              <a:rPr kumimoji="1" lang="en-US" altLang="zh-CN" dirty="0">
                <a:solidFill>
                  <a:schemeClr val="accent2"/>
                </a:solidFill>
              </a:rPr>
              <a:t>Uncertainty</a:t>
            </a:r>
            <a:r>
              <a:rPr kumimoji="1" lang="zh-CN" altLang="en-US" dirty="0">
                <a:solidFill>
                  <a:schemeClr val="accent2"/>
                </a:solidFill>
              </a:rPr>
              <a:t> </a:t>
            </a:r>
            <a:r>
              <a:rPr kumimoji="1" lang="en-US" altLang="zh-CN" dirty="0">
                <a:solidFill>
                  <a:schemeClr val="accent2"/>
                </a:solidFill>
              </a:rPr>
              <a:t>curve</a:t>
            </a:r>
            <a:endParaRPr kumimoji="1" lang="zh-CN" altLang="en-US" dirty="0">
              <a:solidFill>
                <a:schemeClr val="accent2"/>
              </a:solidFill>
            </a:endParaRPr>
          </a:p>
        </p:txBody>
      </p:sp>
      <p:cxnSp>
        <p:nvCxnSpPr>
          <p:cNvPr id="13" name="Straight Arrow Connector 12">
            <a:extLst>
              <a:ext uri="{FF2B5EF4-FFF2-40B4-BE49-F238E27FC236}">
                <a16:creationId xmlns:a16="http://schemas.microsoft.com/office/drawing/2014/main" id="{8D32E664-AA6A-AD39-294E-1257D91E30F8}"/>
              </a:ext>
            </a:extLst>
          </p:cNvPr>
          <p:cNvCxnSpPr>
            <a:cxnSpLocks/>
            <a:stCxn id="12" idx="3"/>
          </p:cNvCxnSpPr>
          <p:nvPr/>
        </p:nvCxnSpPr>
        <p:spPr>
          <a:xfrm flipV="1">
            <a:off x="5299804" y="3571089"/>
            <a:ext cx="2035524" cy="24813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4184EB4-D14D-49A6-AF16-5E6D8D2E3EBD}"/>
                  </a:ext>
                </a:extLst>
              </p:cNvPr>
              <p:cNvSpPr txBox="1"/>
              <p:nvPr/>
            </p:nvSpPr>
            <p:spPr>
              <a:xfrm>
                <a:off x="5643505" y="3334808"/>
                <a:ext cx="157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a:rPr kumimoji="1" lang="en-US" altLang="zh-CN" i="1">
                              <a:latin typeface="Cambria Math" panose="02040503050406030204" pitchFamily="18" charset="0"/>
                            </a:rPr>
                            <m:t>𝑝</m:t>
                          </m:r>
                        </m:e>
                        <m:sub>
                          <m:r>
                            <a:rPr kumimoji="1" lang="en-US" altLang="zh-CN" b="0" i="1" smtClean="0">
                              <a:latin typeface="Cambria Math" panose="02040503050406030204" pitchFamily="18" charset="0"/>
                            </a:rPr>
                            <m:t>𝑥</m:t>
                          </m:r>
                        </m:sub>
                      </m:sSub>
                    </m:oMath>
                  </m:oMathPara>
                </a14:m>
                <a:endParaRPr lang="en-US" dirty="0"/>
              </a:p>
            </p:txBody>
          </p:sp>
        </mc:Choice>
        <mc:Fallback xmlns="">
          <p:sp>
            <p:nvSpPr>
              <p:cNvPr id="14" name="TextBox 13">
                <a:extLst>
                  <a:ext uri="{FF2B5EF4-FFF2-40B4-BE49-F238E27FC236}">
                    <a16:creationId xmlns:a16="http://schemas.microsoft.com/office/drawing/2014/main" id="{94184EB4-D14D-49A6-AF16-5E6D8D2E3EBD}"/>
                  </a:ext>
                </a:extLst>
              </p:cNvPr>
              <p:cNvSpPr txBox="1">
                <a:spLocks noRot="1" noChangeAspect="1" noMove="1" noResize="1" noEditPoints="1" noAdjustHandles="1" noChangeArrowheads="1" noChangeShapeType="1" noTextEdit="1"/>
              </p:cNvSpPr>
              <p:nvPr/>
            </p:nvSpPr>
            <p:spPr>
              <a:xfrm>
                <a:off x="5643505" y="3334808"/>
                <a:ext cx="157898" cy="369332"/>
              </a:xfrm>
              <a:prstGeom prst="rect">
                <a:avLst/>
              </a:prstGeom>
              <a:blipFill>
                <a:blip r:embed="rId5"/>
                <a:stretch>
                  <a:fillRect r="-10769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FF4AE03-F14A-6C61-5C62-918D8220544F}"/>
                  </a:ext>
                </a:extLst>
              </p:cNvPr>
              <p:cNvSpPr txBox="1"/>
              <p:nvPr/>
            </p:nvSpPr>
            <p:spPr>
              <a:xfrm>
                <a:off x="4494124" y="1434483"/>
                <a:ext cx="157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a:rPr kumimoji="1" lang="en-US" altLang="zh-CN" i="1">
                              <a:latin typeface="Cambria Math" panose="02040503050406030204" pitchFamily="18" charset="0"/>
                            </a:rPr>
                            <m:t>𝑝</m:t>
                          </m:r>
                        </m:e>
                        <m:sub>
                          <m:r>
                            <a:rPr kumimoji="1" lang="en-US" altLang="zh-CN" b="0" i="1" smtClean="0">
                              <a:latin typeface="Cambria Math" panose="02040503050406030204" pitchFamily="18" charset="0"/>
                            </a:rPr>
                            <m:t>𝑧</m:t>
                          </m:r>
                        </m:sub>
                      </m:sSub>
                    </m:oMath>
                  </m:oMathPara>
                </a14:m>
                <a:endParaRPr lang="en-US" dirty="0"/>
              </a:p>
            </p:txBody>
          </p:sp>
        </mc:Choice>
        <mc:Fallback xmlns="">
          <p:sp>
            <p:nvSpPr>
              <p:cNvPr id="15" name="TextBox 14">
                <a:extLst>
                  <a:ext uri="{FF2B5EF4-FFF2-40B4-BE49-F238E27FC236}">
                    <a16:creationId xmlns:a16="http://schemas.microsoft.com/office/drawing/2014/main" id="{BFF4AE03-F14A-6C61-5C62-918D8220544F}"/>
                  </a:ext>
                </a:extLst>
              </p:cNvPr>
              <p:cNvSpPr txBox="1">
                <a:spLocks noRot="1" noChangeAspect="1" noMove="1" noResize="1" noEditPoints="1" noAdjustHandles="1" noChangeArrowheads="1" noChangeShapeType="1" noTextEdit="1"/>
              </p:cNvSpPr>
              <p:nvPr/>
            </p:nvSpPr>
            <p:spPr>
              <a:xfrm>
                <a:off x="4494124" y="1434483"/>
                <a:ext cx="157898" cy="369332"/>
              </a:xfrm>
              <a:prstGeom prst="rect">
                <a:avLst/>
              </a:prstGeom>
              <a:blipFill>
                <a:blip r:embed="rId6"/>
                <a:stretch>
                  <a:fillRect r="-92857"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4551490-CF41-3FA5-3431-453F4D3DDBD2}"/>
                  </a:ext>
                </a:extLst>
              </p:cNvPr>
              <p:cNvSpPr txBox="1"/>
              <p:nvPr/>
            </p:nvSpPr>
            <p:spPr>
              <a:xfrm>
                <a:off x="7117987" y="4867674"/>
                <a:ext cx="21734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i="1" smtClean="0">
                          <a:latin typeface="Cambria Math" panose="02040503050406030204" pitchFamily="18" charset="0"/>
                          <a:ea typeface="Cambria Math" panose="02040503050406030204" pitchFamily="18" charset="0"/>
                        </a:rPr>
                        <m:t>𝜅</m:t>
                      </m:r>
                      <m:r>
                        <a:rPr kumimoji="1" lang="zh-CN" altLang="en-US" b="0" i="1" smtClean="0">
                          <a:latin typeface="Cambria Math" panose="02040503050406030204" pitchFamily="18" charset="0"/>
                          <a:ea typeface="Cambria Math" panose="02040503050406030204" pitchFamily="18" charset="0"/>
                        </a:rPr>
                        <m:t> </m:t>
                      </m:r>
                      <m:r>
                        <a:rPr kumimoji="1" lang="en-US" altLang="zh-CN" b="0" i="1" smtClean="0">
                          <a:latin typeface="Cambria Math" panose="02040503050406030204" pitchFamily="18" charset="0"/>
                          <a:ea typeface="Cambria Math" panose="02040503050406030204" pitchFamily="18" charset="0"/>
                        </a:rPr>
                        <m:t>𝑥</m:t>
                      </m:r>
                    </m:oMath>
                  </m:oMathPara>
                </a14:m>
                <a:endParaRPr lang="en-US" dirty="0"/>
              </a:p>
            </p:txBody>
          </p:sp>
        </mc:Choice>
        <mc:Fallback xmlns="">
          <p:sp>
            <p:nvSpPr>
              <p:cNvPr id="16" name="TextBox 15">
                <a:extLst>
                  <a:ext uri="{FF2B5EF4-FFF2-40B4-BE49-F238E27FC236}">
                    <a16:creationId xmlns:a16="http://schemas.microsoft.com/office/drawing/2014/main" id="{C4551490-CF41-3FA5-3431-453F4D3DDBD2}"/>
                  </a:ext>
                </a:extLst>
              </p:cNvPr>
              <p:cNvSpPr txBox="1">
                <a:spLocks noRot="1" noChangeAspect="1" noMove="1" noResize="1" noEditPoints="1" noAdjustHandles="1" noChangeArrowheads="1" noChangeShapeType="1" noTextEdit="1"/>
              </p:cNvSpPr>
              <p:nvPr/>
            </p:nvSpPr>
            <p:spPr>
              <a:xfrm>
                <a:off x="7117987" y="4867674"/>
                <a:ext cx="217341" cy="369332"/>
              </a:xfrm>
              <a:prstGeom prst="rect">
                <a:avLst/>
              </a:prstGeom>
              <a:blipFill>
                <a:blip r:embed="rId7"/>
                <a:stretch>
                  <a:fillRect r="-105556" b="-16667"/>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ormAutofit fontScale="90000"/>
          </a:bodyPr>
          <a:lstStyle/>
          <a:p>
            <a:pPr marL="0" lvl="0" indent="0">
              <a:buNone/>
            </a:pPr>
            <a:r>
              <a:rPr sz="3200" dirty="0"/>
              <a:t>Uncertainty curve</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1" y="1076326"/>
                <a:ext cx="3008313" cy="3800474"/>
              </a:xfrm>
            </p:spPr>
            <p:txBody>
              <a:bodyPr>
                <a:normAutofit/>
              </a:bodyPr>
              <a:lstStyle/>
              <a:p>
                <a:r>
                  <a:rPr lang="en-US" sz="1600" dirty="0">
                    <a:solidFill>
                      <a:schemeClr val="accent6">
                        <a:lumMod val="75000"/>
                      </a:schemeClr>
                    </a:solidFill>
                  </a:rPr>
                  <a:t>The length of uncertainty curve, </a:t>
                </a:r>
                <a14:m>
                  <m:oMath xmlns:m="http://schemas.openxmlformats.org/officeDocument/2006/math">
                    <m:sSub>
                      <m:sSubPr>
                        <m:ctrlPr>
                          <a:rPr lang="en-US" sz="1600" i="1">
                            <a:solidFill>
                              <a:schemeClr val="accent6">
                                <a:lumMod val="75000"/>
                              </a:schemeClr>
                            </a:solidFill>
                            <a:latin typeface="Cambria Math" panose="02040503050406030204" pitchFamily="18" charset="0"/>
                          </a:rPr>
                        </m:ctrlPr>
                      </m:sSubPr>
                      <m:e>
                        <m:r>
                          <a:rPr lang="en-US" sz="1600">
                            <a:solidFill>
                              <a:schemeClr val="accent6">
                                <a:lumMod val="75000"/>
                              </a:schemeClr>
                            </a:solidFill>
                            <a:latin typeface="Cambria Math" panose="02040503050406030204" pitchFamily="18" charset="0"/>
                          </a:rPr>
                          <m:t>𝐿</m:t>
                        </m:r>
                      </m:e>
                      <m:sub>
                        <m:r>
                          <m:rPr>
                            <m:nor/>
                          </m:rPr>
                          <a:rPr lang="en-US" sz="1600">
                            <a:solidFill>
                              <a:schemeClr val="accent6">
                                <a:lumMod val="75000"/>
                              </a:schemeClr>
                            </a:solidFill>
                          </a:rPr>
                          <m:t>uc</m:t>
                        </m:r>
                      </m:sub>
                    </m:sSub>
                    <m:r>
                      <a:rPr lang="en-US" sz="1600">
                        <a:solidFill>
                          <a:schemeClr val="accent6">
                            <a:lumMod val="75000"/>
                          </a:schemeClr>
                        </a:solidFill>
                        <a:latin typeface="Cambria Math" panose="02040503050406030204" pitchFamily="18" charset="0"/>
                      </a:rPr>
                      <m:t>/</m:t>
                    </m:r>
                    <m:rad>
                      <m:radPr>
                        <m:degHide m:val="on"/>
                        <m:ctrlPr>
                          <a:rPr lang="en-US" sz="1600" i="1">
                            <a:solidFill>
                              <a:schemeClr val="accent6">
                                <a:lumMod val="75000"/>
                              </a:schemeClr>
                            </a:solidFill>
                            <a:latin typeface="Cambria Math" panose="02040503050406030204" pitchFamily="18" charset="0"/>
                          </a:rPr>
                        </m:ctrlPr>
                      </m:radPr>
                      <m:deg/>
                      <m:e>
                        <m:r>
                          <a:rPr lang="en-US" sz="1600">
                            <a:solidFill>
                              <a:schemeClr val="accent6">
                                <a:lumMod val="75000"/>
                              </a:schemeClr>
                            </a:solidFill>
                            <a:latin typeface="Cambria Math" panose="02040503050406030204" pitchFamily="18" charset="0"/>
                          </a:rPr>
                          <m:t>𝐻</m:t>
                        </m:r>
                      </m:e>
                    </m:rad>
                  </m:oMath>
                </a14:m>
                <a:r>
                  <a:rPr lang="en-US" sz="1600" dirty="0">
                    <a:solidFill>
                      <a:schemeClr val="accent6">
                        <a:lumMod val="75000"/>
                      </a:schemeClr>
                    </a:solidFill>
                  </a:rPr>
                  <a:t>, is a good estimate of a phase space volume filled by trajectories experiencing strong scattering.</a:t>
                </a:r>
              </a:p>
              <a:p>
                <a:endParaRPr lang="en-US" sz="1600" dirty="0"/>
              </a:p>
              <a:p>
                <a:r>
                  <a:rPr lang="en-US" sz="1600" dirty="0">
                    <a:solidFill>
                      <a:schemeClr val="accent5">
                        <a:lumMod val="75000"/>
                      </a:schemeClr>
                    </a:solidFill>
                  </a:rPr>
                  <a:t>This length increases with </a:t>
                </a:r>
                <a14:m>
                  <m:oMath xmlns:m="http://schemas.openxmlformats.org/officeDocument/2006/math">
                    <m:r>
                      <a:rPr lang="en-US" sz="1600">
                        <a:solidFill>
                          <a:schemeClr val="accent5">
                            <a:lumMod val="75000"/>
                          </a:schemeClr>
                        </a:solidFill>
                        <a:latin typeface="Cambria Math" panose="02040503050406030204" pitchFamily="18" charset="0"/>
                      </a:rPr>
                      <m:t>𝛽</m:t>
                    </m:r>
                  </m:oMath>
                </a14:m>
                <a:r>
                  <a:rPr lang="en-US" sz="1600" dirty="0">
                    <a:solidFill>
                      <a:schemeClr val="accent5">
                        <a:lumMod val="75000"/>
                      </a:schemeClr>
                    </a:solidFill>
                  </a:rPr>
                  <a:t> (for fixed </a:t>
                </a:r>
                <a14:m>
                  <m:oMath xmlns:m="http://schemas.openxmlformats.org/officeDocument/2006/math">
                    <m:r>
                      <a:rPr lang="en-US" sz="1600">
                        <a:solidFill>
                          <a:schemeClr val="accent5">
                            <a:lumMod val="75000"/>
                          </a:schemeClr>
                        </a:solidFill>
                        <a:latin typeface="Cambria Math" panose="02040503050406030204" pitchFamily="18" charset="0"/>
                      </a:rPr>
                      <m:t>𝐻</m:t>
                    </m:r>
                  </m:oMath>
                </a14:m>
                <a:r>
                  <a:rPr lang="en-US" sz="1600" dirty="0">
                    <a:solidFill>
                      <a:schemeClr val="accent5">
                        <a:lumMod val="75000"/>
                      </a:schemeClr>
                    </a:solidFill>
                  </a:rPr>
                  <a:t>) and with </a:t>
                </a:r>
                <a14:m>
                  <m:oMath xmlns:m="http://schemas.openxmlformats.org/officeDocument/2006/math">
                    <m:r>
                      <a:rPr lang="en-US" sz="1600">
                        <a:solidFill>
                          <a:schemeClr val="accent5">
                            <a:lumMod val="75000"/>
                          </a:schemeClr>
                        </a:solidFill>
                        <a:latin typeface="Cambria Math" panose="02040503050406030204" pitchFamily="18" charset="0"/>
                      </a:rPr>
                      <m:t>𝐻</m:t>
                    </m:r>
                  </m:oMath>
                </a14:m>
                <a:r>
                  <a:rPr lang="en-US" sz="1600" dirty="0">
                    <a:solidFill>
                      <a:schemeClr val="accent5">
                        <a:lumMod val="75000"/>
                      </a:schemeClr>
                    </a:solidFill>
                  </a:rPr>
                  <a:t> (for fixed </a:t>
                </a:r>
                <a14:m>
                  <m:oMath xmlns:m="http://schemas.openxmlformats.org/officeDocument/2006/math">
                    <m:r>
                      <a:rPr lang="en-US" sz="1600">
                        <a:solidFill>
                          <a:schemeClr val="accent5">
                            <a:lumMod val="75000"/>
                          </a:schemeClr>
                        </a:solidFill>
                        <a:latin typeface="Cambria Math" panose="02040503050406030204" pitchFamily="18" charset="0"/>
                      </a:rPr>
                      <m:t>𝛽</m:t>
                    </m:r>
                  </m:oMath>
                </a14:m>
                <a:r>
                  <a:rPr lang="en-US" sz="1600" dirty="0">
                    <a:solidFill>
                      <a:schemeClr val="accent5">
                        <a:lumMod val="75000"/>
                      </a:schemeClr>
                    </a:solidFill>
                  </a:rPr>
                  <a:t>). </a:t>
                </a:r>
              </a:p>
              <a:p>
                <a:endParaRPr lang="en-US" sz="1600" dirty="0"/>
              </a:p>
              <a:p>
                <a:r>
                  <a:rPr lang="en-US" sz="1600" dirty="0">
                    <a:solidFill>
                      <a:schemeClr val="accent4">
                        <a:lumMod val="75000"/>
                      </a:schemeClr>
                    </a:solidFill>
                  </a:rPr>
                  <a:t>Thus, the scattering probability is higher for larger magnetic field rotation angles and for large particle energy.</a:t>
                </a:r>
                <a:endParaRPr lang="en-US" sz="3600" dirty="0">
                  <a:solidFill>
                    <a:schemeClr val="accent4">
                      <a:lumMod val="75000"/>
                    </a:schemeClr>
                  </a:solidFill>
                  <a:effectLst/>
                </a:endParaRP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1" y="1076326"/>
                <a:ext cx="3008313" cy="3800474"/>
              </a:xfrm>
              <a:blipFill>
                <a:blip r:embed="rId2"/>
                <a:stretch>
                  <a:fillRect l="-1266" t="-333"/>
                </a:stretch>
              </a:blipFill>
            </p:spPr>
            <p:txBody>
              <a:bodyPr/>
              <a:lstStyle/>
              <a:p>
                <a:r>
                  <a:rPr lang="en-US">
                    <a:noFill/>
                  </a:rPr>
                  <a:t> </a:t>
                </a:r>
              </a:p>
            </p:txBody>
          </p:sp>
        </mc:Fallback>
      </mc:AlternateContent>
      <p:pic>
        <p:nvPicPr>
          <p:cNvPr id="3" name="Picture 1" descr="../figures/UCLength.svg"/>
          <p:cNvPicPr>
            <a:picLocks noGrp="1"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3835400" y="203200"/>
            <a:ext cx="4559300" cy="3873500"/>
          </a:xfrm>
          <a:prstGeom prst="rect">
            <a:avLst/>
          </a:prstGeom>
          <a:noFill/>
          <a:ln w="9525">
            <a:noFill/>
            <a:headEnd/>
            <a:tailEnd/>
          </a:ln>
        </p:spPr>
      </p:pic>
      <mc:AlternateContent xmlns:mc="http://schemas.openxmlformats.org/markup-compatibility/2006" xmlns:a14="http://schemas.microsoft.com/office/drawing/2010/main">
        <mc:Choice Requires="a14">
          <p:sp>
            <p:nvSpPr>
              <p:cNvPr id="5" name="TextBox 3"/>
              <p:cNvSpPr txBox="1"/>
              <p:nvPr/>
            </p:nvSpPr>
            <p:spPr>
              <a:xfrm>
                <a:off x="3568700" y="4076700"/>
                <a:ext cx="5105400" cy="508000"/>
              </a:xfrm>
              <a:prstGeom prst="rect">
                <a:avLst/>
              </a:prstGeom>
              <a:noFill/>
            </p:spPr>
            <p:txBody>
              <a:bodyPr/>
              <a:lstStyle/>
              <a:p>
                <a:pPr marL="0" lvl="0" indent="0" algn="ctr">
                  <a:buNone/>
                </a:pPr>
                <a:r>
                  <a:t>The uncertainty curve length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𝐿</m:t>
                        </m:r>
                      </m:e>
                      <m:sub>
                        <m:r>
                          <m:rPr>
                            <m:nor/>
                          </m:rPr>
                          <a:rPr/>
                          <m:t>uc</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𝐻</m:t>
                        </m:r>
                      </m:e>
                    </m:rad>
                  </m:oMath>
                </a14:m>
                <a:r>
                  <a:t> as a function of </a:t>
                </a:r>
                <a14:m>
                  <m:oMath xmlns:m="http://schemas.openxmlformats.org/officeDocument/2006/math">
                    <m:r>
                      <a:rPr>
                        <a:latin typeface="Cambria Math" panose="02040503050406030204" pitchFamily="18" charset="0"/>
                      </a:rPr>
                      <m:t>𝛽</m:t>
                    </m:r>
                  </m:oMath>
                </a14:m>
                <a:r>
                  <a:t> and normalized particle energy </a:t>
                </a:r>
                <a14:m>
                  <m:oMath xmlns:m="http://schemas.openxmlformats.org/officeDocument/2006/math">
                    <m:r>
                      <a:rPr>
                        <a:latin typeface="Cambria Math" panose="02040503050406030204" pitchFamily="18" charset="0"/>
                      </a:rPr>
                      <m:t>𝐻</m:t>
                    </m:r>
                  </m:oMath>
                </a14:m>
                <a:r>
                  <a:t>.</a:t>
                </a:r>
              </a:p>
            </p:txBody>
          </p:sp>
        </mc:Choice>
        <mc:Fallback xmlns="">
          <p:sp>
            <p:nvSpPr>
              <p:cNvPr id="5" name="TextBox 3"/>
              <p:cNvSpPr txBox="1">
                <a:spLocks noRot="1" noChangeAspect="1" noMove="1" noResize="1" noEditPoints="1" noAdjustHandles="1" noChangeArrowheads="1" noChangeShapeType="1" noTextEdit="1"/>
              </p:cNvSpPr>
              <p:nvPr/>
            </p:nvSpPr>
            <p:spPr>
              <a:xfrm>
                <a:off x="3568700" y="4076700"/>
                <a:ext cx="5105400" cy="508000"/>
              </a:xfrm>
              <a:prstGeom prst="rect">
                <a:avLst/>
              </a:prstGeom>
              <a:blipFill>
                <a:blip r:embed="rId5"/>
                <a:stretch>
                  <a:fillRect t="-2500" r="-248" b="-52500"/>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Part 2</a:t>
            </a:r>
          </a:p>
        </p:txBody>
      </p:sp>
      <p:sp>
        <p:nvSpPr>
          <p:cNvPr id="3" name="Content Placeholder 2"/>
          <p:cNvSpPr>
            <a:spLocks noGrp="1"/>
          </p:cNvSpPr>
          <p:nvPr>
            <p:ph idx="1"/>
          </p:nvPr>
        </p:nvSpPr>
        <p:spPr/>
        <p:txBody>
          <a:bodyPr>
            <a:normAutofit lnSpcReduction="10000"/>
          </a:bodyPr>
          <a:lstStyle/>
          <a:p>
            <a:pPr marL="0" lvl="0" indent="0">
              <a:buNone/>
            </a:pPr>
            <a:r>
              <a:rPr dirty="0"/>
              <a:t>In the first part, we </a:t>
            </a:r>
            <a:r>
              <a:rPr b="1" i="1" dirty="0"/>
              <a:t>introduced</a:t>
            </a:r>
            <a:r>
              <a:rPr dirty="0"/>
              <a:t> the basic physics of ion scattering by the solar wind.</a:t>
            </a:r>
            <a:endParaRPr lang="en-US" dirty="0"/>
          </a:p>
          <a:p>
            <a:pPr marL="0" lvl="0" indent="0">
              <a:buNone/>
            </a:pPr>
            <a:endParaRPr dirty="0">
              <a:solidFill>
                <a:schemeClr val="accent6">
                  <a:lumMod val="75000"/>
                </a:schemeClr>
              </a:solidFill>
            </a:endParaRPr>
          </a:p>
          <a:p>
            <a:pPr marL="0" lvl="0" indent="0">
              <a:buNone/>
            </a:pPr>
            <a:r>
              <a:rPr i="1" dirty="0">
                <a:solidFill>
                  <a:schemeClr val="accent6">
                    <a:lumMod val="75000"/>
                  </a:schemeClr>
                </a:solidFill>
              </a:rPr>
              <a:t>Takeaway 1:</a:t>
            </a:r>
            <a:r>
              <a:rPr dirty="0">
                <a:solidFill>
                  <a:schemeClr val="accent6">
                    <a:lumMod val="75000"/>
                  </a:schemeClr>
                </a:solidFill>
              </a:rPr>
              <a:t> Larger magnetic field rotation angles and higher particle energies lead to larger chance of pitch-angle scattering.</a:t>
            </a:r>
          </a:p>
          <a:p>
            <a:pPr marL="0" lvl="0" indent="0">
              <a:buNone/>
            </a:pPr>
            <a:endParaRPr lang="en-US" dirty="0"/>
          </a:p>
          <a:p>
            <a:pPr marL="0" lvl="0" indent="0">
              <a:buNone/>
            </a:pPr>
            <a:r>
              <a:rPr dirty="0"/>
              <a:t>In the following part, we will focus on the test particle simulations to </a:t>
            </a:r>
            <a:r>
              <a:rPr b="1" i="1" dirty="0"/>
              <a:t>quantify</a:t>
            </a:r>
            <a:r>
              <a:rPr dirty="0"/>
              <a:t> the ion scattering by the solar wind current sheets.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dirty="0"/>
              <a:t>Test Particle Simulations - Solar Wind Dataset</a:t>
            </a:r>
          </a:p>
        </p:txBody>
      </p:sp>
      <p:pic>
        <p:nvPicPr>
          <p:cNvPr id="3" name="Picture 1" descr="../figures/wind_hist3d.png"/>
          <p:cNvPicPr>
            <a:picLocks noGrp="1" noChangeAspect="1"/>
          </p:cNvPicPr>
          <p:nvPr/>
        </p:nvPicPr>
        <p:blipFill>
          <a:blip r:embed="rId2"/>
          <a:stretch>
            <a:fillRect/>
          </a:stretch>
        </p:blipFill>
        <p:spPr bwMode="auto">
          <a:xfrm>
            <a:off x="539750" y="994412"/>
            <a:ext cx="8064500" cy="3390900"/>
          </a:xfrm>
          <a:prstGeom prst="rect">
            <a:avLst/>
          </a:prstGeom>
          <a:noFill/>
          <a:ln w="9525">
            <a:noFill/>
            <a:headEnd/>
            <a:tailEnd/>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BF3E8C-827A-A804-0A90-C1E4D57E9DFE}"/>
                  </a:ext>
                </a:extLst>
              </p:cNvPr>
              <p:cNvSpPr txBox="1"/>
              <p:nvPr/>
            </p:nvSpPr>
            <p:spPr>
              <a:xfrm>
                <a:off x="99060" y="4210051"/>
                <a:ext cx="9098280" cy="923330"/>
              </a:xfrm>
              <a:prstGeom prst="rect">
                <a:avLst/>
              </a:prstGeom>
              <a:noFill/>
            </p:spPr>
            <p:txBody>
              <a:bodyPr wrap="square">
                <a:spAutoFit/>
              </a:bodyPr>
              <a:lstStyle/>
              <a:p>
                <a:pPr marL="0" lvl="0" indent="0">
                  <a:buNone/>
                </a:pPr>
                <a:r>
                  <a:rPr lang="en-US" dirty="0"/>
                  <a:t>The most probable values in the 3D distribution are a characteristic velocity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0</m:t>
                        </m:r>
                      </m:sub>
                    </m:sSub>
                  </m:oMath>
                </a14:m>
                <a:r>
                  <a:rPr lang="ar-AE" dirty="0"/>
                  <a:t>) </a:t>
                </a:r>
                <a:r>
                  <a:rPr lang="en-US" dirty="0"/>
                  <a:t>of approximately 250 km/s, a in-plane rotation angle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𝜔</m:t>
                        </m:r>
                      </m:e>
                      <m:sub>
                        <m:r>
                          <a:rPr lang="ar-AE">
                            <a:latin typeface="Cambria Math" panose="02040503050406030204" pitchFamily="18" charset="0"/>
                          </a:rPr>
                          <m:t>𝑖𝑛</m:t>
                        </m:r>
                      </m:sub>
                    </m:sSub>
                  </m:oMath>
                </a14:m>
                <a:r>
                  <a:rPr lang="ar-AE" dirty="0"/>
                  <a:t>) </a:t>
                </a:r>
                <a:r>
                  <a:rPr lang="en-US" dirty="0"/>
                  <a:t>about 90 degrees, and an azimuthal angle (</a:t>
                </a:r>
                <a14:m>
                  <m:oMath xmlns:m="http://schemas.openxmlformats.org/officeDocument/2006/math">
                    <m:r>
                      <a:rPr lang="en-US">
                        <a:latin typeface="Cambria Math" panose="02040503050406030204" pitchFamily="18" charset="0"/>
                      </a:rPr>
                      <m:t>𝜃</m:t>
                    </m:r>
                  </m:oMath>
                </a14:m>
                <a:r>
                  <a:rPr lang="en-US" dirty="0"/>
                  <a:t>) of around 85 degrees.</a:t>
                </a:r>
              </a:p>
            </p:txBody>
          </p:sp>
        </mc:Choice>
        <mc:Fallback xmlns="">
          <p:sp>
            <p:nvSpPr>
              <p:cNvPr id="6" name="TextBox 5">
                <a:extLst>
                  <a:ext uri="{FF2B5EF4-FFF2-40B4-BE49-F238E27FC236}">
                    <a16:creationId xmlns:a16="http://schemas.microsoft.com/office/drawing/2014/main" id="{76BF3E8C-827A-A804-0A90-C1E4D57E9DFE}"/>
                  </a:ext>
                </a:extLst>
              </p:cNvPr>
              <p:cNvSpPr txBox="1">
                <a:spLocks noRot="1" noChangeAspect="1" noMove="1" noResize="1" noEditPoints="1" noAdjustHandles="1" noChangeArrowheads="1" noChangeShapeType="1" noTextEdit="1"/>
              </p:cNvSpPr>
              <p:nvPr/>
            </p:nvSpPr>
            <p:spPr>
              <a:xfrm>
                <a:off x="99060" y="4210051"/>
                <a:ext cx="9098280" cy="923330"/>
              </a:xfrm>
              <a:prstGeom prst="rect">
                <a:avLst/>
              </a:prstGeom>
              <a:blipFill>
                <a:blip r:embed="rId3"/>
                <a:stretch>
                  <a:fillRect l="-557" t="-4054"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1B5B46B-CC33-34E1-BD04-B02581450D51}"/>
                  </a:ext>
                </a:extLst>
              </p:cNvPr>
              <p:cNvSpPr>
                <a:spLocks noGrp="1"/>
              </p:cNvSpPr>
              <p:nvPr>
                <p:ph idx="1"/>
              </p:nvPr>
            </p:nvSpPr>
            <p:spPr>
              <a:xfrm>
                <a:off x="4369349" y="1063229"/>
                <a:ext cx="4547288" cy="740858"/>
              </a:xfrm>
              <a:solidFill>
                <a:schemeClr val="bg1"/>
              </a:solidFill>
            </p:spPr>
            <p:txBody>
              <a:bodyPr>
                <a:normAutofit/>
              </a:bodyPr>
              <a:lstStyle/>
              <a:p>
                <a:pPr marL="0" lvl="0" indent="0">
                  <a:buNone/>
                </a:pPr>
                <a14:m>
                  <m:oMath xmlns:m="http://schemas.openxmlformats.org/officeDocument/2006/math">
                    <m:r>
                      <a:rPr sz="2000">
                        <a:latin typeface="Cambria Math" panose="02040503050406030204" pitchFamily="18" charset="0"/>
                      </a:rPr>
                      <m:t>𝛥</m:t>
                    </m:r>
                    <m:d>
                      <m:dPr>
                        <m:begChr m:val="|"/>
                        <m:endChr m:val="|"/>
                        <m:ctrlPr>
                          <a:rPr sz="2000" i="1">
                            <a:latin typeface="Cambria Math" panose="02040503050406030204" pitchFamily="18" charset="0"/>
                          </a:rPr>
                        </m:ctrlPr>
                      </m:dPr>
                      <m:e>
                        <m:r>
                          <a:rPr sz="2000">
                            <a:latin typeface="Cambria Math" panose="02040503050406030204" pitchFamily="18" charset="0"/>
                          </a:rPr>
                          <m:t>𝐵</m:t>
                        </m:r>
                      </m:e>
                    </m:d>
                    <m:r>
                      <a:rPr sz="2000">
                        <a:latin typeface="Cambria Math" panose="02040503050406030204" pitchFamily="18" charset="0"/>
                      </a:rPr>
                      <m:t>/</m:t>
                    </m:r>
                    <m:d>
                      <m:dPr>
                        <m:begChr m:val="|"/>
                        <m:endChr m:val="|"/>
                        <m:ctrlPr>
                          <a:rPr sz="2000" i="1">
                            <a:latin typeface="Cambria Math" panose="02040503050406030204" pitchFamily="18" charset="0"/>
                          </a:rPr>
                        </m:ctrlPr>
                      </m:dPr>
                      <m:e>
                        <m:r>
                          <a:rPr sz="2000">
                            <a:latin typeface="Cambria Math" panose="02040503050406030204" pitchFamily="18" charset="0"/>
                          </a:rPr>
                          <m:t>𝐵</m:t>
                        </m:r>
                      </m:e>
                    </m:d>
                    <m:r>
                      <a:rPr sz="2000">
                        <a:latin typeface="Cambria Math" panose="02040503050406030204" pitchFamily="18" charset="0"/>
                      </a:rPr>
                      <m:t>&gt;0.05</m:t>
                    </m:r>
                  </m:oMath>
                </a14:m>
                <a:r>
                  <a:rPr sz="2000" dirty="0"/>
                  <a:t> or </a:t>
                </a:r>
                <a14:m>
                  <m:oMath xmlns:m="http://schemas.openxmlformats.org/officeDocument/2006/math">
                    <m:r>
                      <a:rPr sz="2000">
                        <a:latin typeface="Cambria Math" panose="02040503050406030204" pitchFamily="18" charset="0"/>
                      </a:rPr>
                      <m:t>𝜔</m:t>
                    </m:r>
                    <m:r>
                      <a:rPr sz="2000">
                        <a:latin typeface="Cambria Math" panose="02040503050406030204" pitchFamily="18" charset="0"/>
                      </a:rPr>
                      <m:t>&gt;60°</m:t>
                    </m:r>
                  </m:oMath>
                </a14:m>
                <a:r>
                  <a:rPr sz="2000" dirty="0"/>
                  <a:t> (Liu et al. 2023)</a:t>
                </a:r>
              </a:p>
            </p:txBody>
          </p:sp>
        </mc:Choice>
        <mc:Fallback xmlns="">
          <p:sp>
            <p:nvSpPr>
              <p:cNvPr id="4" name="Content Placeholder 2">
                <a:extLst>
                  <a:ext uri="{FF2B5EF4-FFF2-40B4-BE49-F238E27FC236}">
                    <a16:creationId xmlns:a16="http://schemas.microsoft.com/office/drawing/2014/main" id="{B1B5B46B-CC33-34E1-BD04-B02581450D51}"/>
                  </a:ext>
                </a:extLst>
              </p:cNvPr>
              <p:cNvSpPr>
                <a:spLocks noGrp="1" noRot="1" noChangeAspect="1" noMove="1" noResize="1" noEditPoints="1" noAdjustHandles="1" noChangeArrowheads="1" noChangeShapeType="1" noTextEdit="1"/>
              </p:cNvSpPr>
              <p:nvPr>
                <p:ph idx="1"/>
              </p:nvPr>
            </p:nvSpPr>
            <p:spPr>
              <a:xfrm>
                <a:off x="4369349" y="1063229"/>
                <a:ext cx="4547288" cy="740858"/>
              </a:xfrm>
              <a:blipFill>
                <a:blip r:embed="rId4"/>
                <a:stretch>
                  <a:fillRect l="-1671" t="-3333" b="-8333"/>
                </a:stretch>
              </a:blipFill>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ormAutofit fontScale="90000"/>
          </a:bodyPr>
          <a:lstStyle/>
          <a:p>
            <a:pPr marL="0" lvl="0" indent="0">
              <a:buNone/>
            </a:pPr>
            <a:r>
              <a:rPr sz="2800" dirty="0"/>
              <a:t>Examples of Pitch Angle Scattering</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0" y="1365886"/>
                <a:ext cx="3008313" cy="3962400"/>
              </a:xfrm>
            </p:spPr>
            <p:txBody>
              <a:bodyPr>
                <a:normAutofit/>
              </a:bodyPr>
              <a:lstStyle/>
              <a:p>
                <a:pPr marL="0" lvl="0" indent="0">
                  <a:buNone/>
                </a:pPr>
                <a:r>
                  <a:rPr lang="en-US" sz="1800" dirty="0"/>
                  <a:t>“ </a:t>
                </a:r>
                <a:r>
                  <a:rPr sz="1800" dirty="0"/>
                  <a:t>Motion of particles crossing the discontinuity is extremely complex and highly sensitive to the initial conditions of the system, with transitions to a chaotic behavior.</a:t>
                </a:r>
                <a:r>
                  <a:rPr lang="en-US" sz="1800" dirty="0"/>
                  <a:t> ”</a:t>
                </a:r>
                <a:r>
                  <a:rPr sz="1800" dirty="0"/>
                  <a:t> </a:t>
                </a:r>
                <a:endParaRPr lang="en-US" sz="1800" dirty="0"/>
              </a:p>
              <a:p>
                <a:pPr marL="0" lvl="0" indent="0">
                  <a:buNone/>
                </a:pPr>
                <a:endParaRPr lang="en-US" sz="1800" dirty="0"/>
              </a:p>
              <a:p>
                <a:r>
                  <a:rPr lang="en-US" sz="1800" dirty="0">
                    <a:solidFill>
                      <a:schemeClr val="accent6">
                        <a:lumMod val="75000"/>
                      </a:schemeClr>
                    </a:solidFill>
                  </a:rPr>
                  <a:t>Scattering process</a:t>
                </a:r>
              </a:p>
              <a:p>
                <a:r>
                  <a:rPr lang="en-US" sz="1800" dirty="0">
                    <a:solidFill>
                      <a:schemeClr val="accent6">
                        <a:lumMod val="75000"/>
                      </a:schemeClr>
                    </a:solidFill>
                  </a:rPr>
                  <a:t> </a:t>
                </a:r>
                <a14:m>
                  <m:oMath xmlns:m="http://schemas.openxmlformats.org/officeDocument/2006/math">
                    <m:r>
                      <a:rPr lang="en-US" sz="1800">
                        <a:solidFill>
                          <a:schemeClr val="accent6">
                            <a:lumMod val="75000"/>
                          </a:schemeClr>
                        </a:solidFill>
                        <a:latin typeface="Cambria Math" panose="02040503050406030204" pitchFamily="18" charset="0"/>
                      </a:rPr>
                      <m:t>𝛱</m:t>
                    </m:r>
                    <m:r>
                      <a:rPr lang="en-US" sz="1800">
                        <a:solidFill>
                          <a:schemeClr val="accent6">
                            <a:lumMod val="75000"/>
                          </a:schemeClr>
                        </a:solidFill>
                        <a:latin typeface="Cambria Math" panose="02040503050406030204" pitchFamily="18" charset="0"/>
                      </a:rPr>
                      <m:t>:</m:t>
                    </m:r>
                    <m:d>
                      <m:dPr>
                        <m:ctrlPr>
                          <a:rPr lang="ar-AE" sz="1800" i="1">
                            <a:solidFill>
                              <a:schemeClr val="accent6">
                                <a:lumMod val="75000"/>
                              </a:schemeClr>
                            </a:solidFill>
                            <a:latin typeface="Cambria Math" panose="02040503050406030204" pitchFamily="18" charset="0"/>
                          </a:rPr>
                        </m:ctrlPr>
                      </m:dPr>
                      <m:e>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𝛼</m:t>
                            </m:r>
                          </m:e>
                          <m:sub>
                            <m:r>
                              <a:rPr lang="ar-AE" sz="1800">
                                <a:solidFill>
                                  <a:schemeClr val="accent6">
                                    <a:lumMod val="75000"/>
                                  </a:schemeClr>
                                </a:solidFill>
                                <a:latin typeface="Cambria Math" panose="02040503050406030204" pitchFamily="18" charset="0"/>
                              </a:rPr>
                              <m:t>0</m:t>
                            </m:r>
                          </m:sub>
                        </m:sSub>
                        <m:r>
                          <a:rPr lang="ar-AE" sz="1800">
                            <a:solidFill>
                              <a:schemeClr val="accent6">
                                <a:lumMod val="75000"/>
                              </a:schemeClr>
                            </a:solidFill>
                            <a:latin typeface="Cambria Math" panose="02040503050406030204" pitchFamily="18" charset="0"/>
                          </a:rPr>
                          <m:t>,</m:t>
                        </m:r>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𝜓</m:t>
                            </m:r>
                          </m:e>
                          <m:sub>
                            <m:r>
                              <a:rPr lang="ar-AE" sz="1800">
                                <a:solidFill>
                                  <a:schemeClr val="accent6">
                                    <a:lumMod val="75000"/>
                                  </a:schemeClr>
                                </a:solidFill>
                                <a:latin typeface="Cambria Math" panose="02040503050406030204" pitchFamily="18" charset="0"/>
                              </a:rPr>
                              <m:t>0</m:t>
                            </m:r>
                          </m:sub>
                        </m:sSub>
                      </m:e>
                    </m:d>
                    <m:r>
                      <a:rPr lang="ar-AE" sz="1800">
                        <a:solidFill>
                          <a:schemeClr val="accent6">
                            <a:lumMod val="75000"/>
                          </a:schemeClr>
                        </a:solidFill>
                        <a:latin typeface="Cambria Math" panose="02040503050406030204" pitchFamily="18" charset="0"/>
                      </a:rPr>
                      <m:t>→</m:t>
                    </m:r>
                    <m:d>
                      <m:dPr>
                        <m:ctrlPr>
                          <a:rPr lang="ar-AE" sz="1800" i="1">
                            <a:solidFill>
                              <a:schemeClr val="accent6">
                                <a:lumMod val="75000"/>
                              </a:schemeClr>
                            </a:solidFill>
                            <a:latin typeface="Cambria Math" panose="02040503050406030204" pitchFamily="18" charset="0"/>
                          </a:rPr>
                        </m:ctrlPr>
                      </m:dPr>
                      <m:e>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𝛼</m:t>
                            </m:r>
                          </m:e>
                          <m:sub>
                            <m:r>
                              <a:rPr lang="ar-AE" sz="1800">
                                <a:solidFill>
                                  <a:schemeClr val="accent6">
                                    <a:lumMod val="75000"/>
                                  </a:schemeClr>
                                </a:solidFill>
                                <a:latin typeface="Cambria Math" panose="02040503050406030204" pitchFamily="18" charset="0"/>
                              </a:rPr>
                              <m:t>1</m:t>
                            </m:r>
                          </m:sub>
                        </m:sSub>
                        <m:r>
                          <a:rPr lang="ar-AE" sz="1800">
                            <a:solidFill>
                              <a:schemeClr val="accent6">
                                <a:lumMod val="75000"/>
                              </a:schemeClr>
                            </a:solidFill>
                            <a:latin typeface="Cambria Math" panose="02040503050406030204" pitchFamily="18" charset="0"/>
                          </a:rPr>
                          <m:t>,</m:t>
                        </m:r>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𝜓</m:t>
                            </m:r>
                          </m:e>
                          <m:sub>
                            <m:r>
                              <a:rPr lang="ar-AE" sz="1800">
                                <a:solidFill>
                                  <a:schemeClr val="accent6">
                                    <a:lumMod val="75000"/>
                                  </a:schemeClr>
                                </a:solidFill>
                                <a:latin typeface="Cambria Math" panose="02040503050406030204" pitchFamily="18" charset="0"/>
                              </a:rPr>
                              <m:t>1</m:t>
                            </m:r>
                          </m:sub>
                        </m:sSub>
                      </m:e>
                    </m:d>
                  </m:oMath>
                </a14:m>
                <a:r>
                  <a:rPr lang="ar-AE" sz="1800" dirty="0">
                    <a:solidFill>
                      <a:schemeClr val="accent6">
                        <a:lumMod val="75000"/>
                      </a:schemeClr>
                    </a:solidFill>
                  </a:rPr>
                  <a:t> </a:t>
                </a:r>
                <a:endParaRPr lang="en-US" sz="1800" dirty="0">
                  <a:solidFill>
                    <a:schemeClr val="accent6">
                      <a:lumMod val="75000"/>
                    </a:schemeClr>
                  </a:solidFill>
                </a:endParaRPr>
              </a:p>
              <a:p>
                <a:r>
                  <a:rPr lang="en-US" sz="1800" dirty="0">
                    <a:solidFill>
                      <a:schemeClr val="accent6">
                        <a:lumMod val="75000"/>
                      </a:schemeClr>
                    </a:solidFill>
                  </a:rPr>
                  <a:t>is better represented as a probabilistic transition</a:t>
                </a:r>
              </a:p>
              <a:p>
                <a:r>
                  <a:rPr lang="en-US" sz="1800" dirty="0">
                    <a:solidFill>
                      <a:schemeClr val="accent6">
                        <a:lumMod val="75000"/>
                      </a:schemeClr>
                    </a:solidFill>
                  </a:rPr>
                  <a:t> </a:t>
                </a:r>
                <a14:m>
                  <m:oMath xmlns:m="http://schemas.openxmlformats.org/officeDocument/2006/math">
                    <m:r>
                      <a:rPr lang="en-US" sz="1800">
                        <a:solidFill>
                          <a:schemeClr val="accent6">
                            <a:lumMod val="75000"/>
                          </a:schemeClr>
                        </a:solidFill>
                        <a:latin typeface="Cambria Math" panose="02040503050406030204" pitchFamily="18" charset="0"/>
                      </a:rPr>
                      <m:t>𝑝</m:t>
                    </m:r>
                    <m:d>
                      <m:dPr>
                        <m:ctrlPr>
                          <a:rPr lang="ar-AE" sz="1800" i="1">
                            <a:solidFill>
                              <a:schemeClr val="accent6">
                                <a:lumMod val="75000"/>
                              </a:schemeClr>
                            </a:solidFill>
                            <a:latin typeface="Cambria Math" panose="02040503050406030204" pitchFamily="18" charset="0"/>
                          </a:rPr>
                        </m:ctrlPr>
                      </m:dPr>
                      <m:e>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𝛼</m:t>
                            </m:r>
                          </m:e>
                          <m:sub>
                            <m:r>
                              <a:rPr lang="ar-AE" sz="1800">
                                <a:solidFill>
                                  <a:schemeClr val="accent6">
                                    <a:lumMod val="75000"/>
                                  </a:schemeClr>
                                </a:solidFill>
                                <a:latin typeface="Cambria Math" panose="02040503050406030204" pitchFamily="18" charset="0"/>
                              </a:rPr>
                              <m:t>1</m:t>
                            </m:r>
                          </m:sub>
                        </m:sSub>
                        <m:r>
                          <a:rPr lang="ar-AE" sz="1800">
                            <a:solidFill>
                              <a:schemeClr val="accent6">
                                <a:lumMod val="75000"/>
                              </a:schemeClr>
                            </a:solidFill>
                            <a:latin typeface="Cambria Math" panose="02040503050406030204" pitchFamily="18" charset="0"/>
                          </a:rPr>
                          <m:t>|</m:t>
                        </m:r>
                        <m:sSub>
                          <m:sSubPr>
                            <m:ctrlPr>
                              <a:rPr lang="ar-AE" sz="1800" i="1">
                                <a:solidFill>
                                  <a:schemeClr val="accent6">
                                    <a:lumMod val="75000"/>
                                  </a:schemeClr>
                                </a:solidFill>
                                <a:latin typeface="Cambria Math" panose="02040503050406030204" pitchFamily="18" charset="0"/>
                              </a:rPr>
                            </m:ctrlPr>
                          </m:sSubPr>
                          <m:e>
                            <m:r>
                              <a:rPr lang="ar-AE" sz="1800">
                                <a:solidFill>
                                  <a:schemeClr val="accent6">
                                    <a:lumMod val="75000"/>
                                  </a:schemeClr>
                                </a:solidFill>
                                <a:latin typeface="Cambria Math" panose="02040503050406030204" pitchFamily="18" charset="0"/>
                              </a:rPr>
                              <m:t>𝛼</m:t>
                            </m:r>
                          </m:e>
                          <m:sub>
                            <m:r>
                              <a:rPr lang="ar-AE" sz="1800">
                                <a:solidFill>
                                  <a:schemeClr val="accent6">
                                    <a:lumMod val="75000"/>
                                  </a:schemeClr>
                                </a:solidFill>
                                <a:latin typeface="Cambria Math" panose="02040503050406030204" pitchFamily="18" charset="0"/>
                              </a:rPr>
                              <m:t>0</m:t>
                            </m:r>
                          </m:sub>
                        </m:sSub>
                        <m:r>
                          <a:rPr lang="ar-AE" sz="1800">
                            <a:solidFill>
                              <a:schemeClr val="accent6">
                                <a:lumMod val="75000"/>
                              </a:schemeClr>
                            </a:solidFill>
                            <a:latin typeface="Cambria Math" panose="02040503050406030204" pitchFamily="18" charset="0"/>
                          </a:rPr>
                          <m:t>,</m:t>
                        </m:r>
                        <m:r>
                          <a:rPr lang="ar-AE" sz="1800">
                            <a:solidFill>
                              <a:schemeClr val="accent6">
                                <a:lumMod val="75000"/>
                              </a:schemeClr>
                            </a:solidFill>
                            <a:latin typeface="Cambria Math" panose="02040503050406030204" pitchFamily="18" charset="0"/>
                          </a:rPr>
                          <m:t>𝛱</m:t>
                        </m:r>
                      </m:e>
                    </m:d>
                  </m:oMath>
                </a14:m>
                <a:endParaRPr lang="ar-AE" sz="1800" dirty="0"/>
              </a:p>
              <a:p>
                <a:pPr marL="0" lvl="0" indent="0">
                  <a:buNone/>
                </a:pPr>
                <a:endParaRPr sz="1800" dirty="0"/>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0" y="1365886"/>
                <a:ext cx="3008313" cy="3962400"/>
              </a:xfrm>
              <a:blipFill>
                <a:blip r:embed="rId2"/>
                <a:stretch>
                  <a:fillRect l="-1688" t="-639" r="-1266"/>
                </a:stretch>
              </a:blipFill>
            </p:spPr>
            <p:txBody>
              <a:bodyPr/>
              <a:lstStyle/>
              <a:p>
                <a:r>
                  <a:rPr lang="en-US">
                    <a:noFill/>
                  </a:rPr>
                  <a:t> </a:t>
                </a:r>
              </a:p>
            </p:txBody>
          </p:sp>
        </mc:Fallback>
      </mc:AlternateContent>
      <p:pic>
        <p:nvPicPr>
          <p:cNvPr id="5" name="Picture 1" descr="images/malaraChargedparticleChaoticDynamics2021-fig8.png"/>
          <p:cNvPicPr>
            <a:picLocks noGrp="1" noChangeAspect="1"/>
          </p:cNvPicPr>
          <p:nvPr/>
        </p:nvPicPr>
        <p:blipFill>
          <a:blip r:embed="rId3"/>
          <a:stretch>
            <a:fillRect/>
          </a:stretch>
        </p:blipFill>
        <p:spPr bwMode="auto">
          <a:xfrm>
            <a:off x="3465513" y="204787"/>
            <a:ext cx="5569527" cy="3962400"/>
          </a:xfrm>
          <a:prstGeom prst="rect">
            <a:avLst/>
          </a:prstGeom>
          <a:noFill/>
          <a:ln w="9525">
            <a:noFill/>
            <a:headEnd/>
            <a:tailEnd/>
          </a:ln>
        </p:spPr>
      </p:pic>
      <p:sp>
        <p:nvSpPr>
          <p:cNvPr id="6" name="TextBox 3"/>
          <p:cNvSpPr txBox="1"/>
          <p:nvPr/>
        </p:nvSpPr>
        <p:spPr>
          <a:xfrm>
            <a:off x="3568700" y="4076700"/>
            <a:ext cx="5105400" cy="508000"/>
          </a:xfrm>
          <a:prstGeom prst="rect">
            <a:avLst/>
          </a:prstGeom>
          <a:noFill/>
        </p:spPr>
        <p:txBody>
          <a:bodyPr/>
          <a:lstStyle/>
          <a:p>
            <a:pPr marL="0" lvl="0" indent="0" algn="ctr">
              <a:buNone/>
            </a:pPr>
            <a:r>
              <a:t>The trajectories of two particles starting with two slightly different gyrophases</a:t>
            </a:r>
          </a:p>
        </p:txBody>
      </p:sp>
      <p:sp>
        <p:nvSpPr>
          <p:cNvPr id="8" name="TextBox 7">
            <a:extLst>
              <a:ext uri="{FF2B5EF4-FFF2-40B4-BE49-F238E27FC236}">
                <a16:creationId xmlns:a16="http://schemas.microsoft.com/office/drawing/2014/main" id="{2E26EAC9-FBC9-FB43-FD15-67D5F135F20E}"/>
              </a:ext>
            </a:extLst>
          </p:cNvPr>
          <p:cNvSpPr txBox="1"/>
          <p:nvPr/>
        </p:nvSpPr>
        <p:spPr>
          <a:xfrm>
            <a:off x="5669280" y="4774168"/>
            <a:ext cx="4572000" cy="369332"/>
          </a:xfrm>
          <a:prstGeom prst="rect">
            <a:avLst/>
          </a:prstGeom>
          <a:noFill/>
        </p:spPr>
        <p:txBody>
          <a:bodyPr wrap="square">
            <a:spAutoFit/>
          </a:bodyPr>
          <a:lstStyle/>
          <a:p>
            <a:r>
              <a:rPr lang="en-US" b="1" i="1" dirty="0" err="1"/>
              <a:t>Malara</a:t>
            </a:r>
            <a:r>
              <a:rPr lang="en-US" b="1" i="1" dirty="0"/>
              <a:t>, Perri, and Zimbardo (2021)</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D8B3F23-6D13-F3F3-E99F-EAA63F937F06}"/>
                  </a:ext>
                </a:extLst>
              </p:cNvPr>
              <p:cNvSpPr txBox="1"/>
              <p:nvPr/>
            </p:nvSpPr>
            <p:spPr>
              <a:xfrm>
                <a:off x="2860342" y="2852686"/>
                <a:ext cx="847362" cy="369332"/>
              </a:xfrm>
              <a:prstGeom prst="rect">
                <a:avLst/>
              </a:prstGeom>
              <a:solidFill>
                <a:schemeClr val="bg1"/>
              </a:solidFill>
            </p:spPr>
            <p:txBody>
              <a:bodyPr wrap="square">
                <a:spAutoFit/>
              </a:bodyPr>
              <a:lstStyle/>
              <a:p>
                <a:pPr marL="0" lvl="0" indent="0">
                  <a:buNone/>
                </a:pP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rPr>
                        <m:t>c</m:t>
                      </m:r>
                      <m:r>
                        <m:rPr>
                          <m:sty m:val="p"/>
                        </m:rPr>
                        <a:rPr lang="en-US" smtClean="0">
                          <a:latin typeface="Cambria Math" panose="02040503050406030204" pitchFamily="18" charset="0"/>
                        </a:rPr>
                        <m:t>os</m:t>
                      </m:r>
                      <m:r>
                        <a:rPr lang="en-US" b="0" i="0" smtClean="0">
                          <a:latin typeface="Cambria Math" panose="02040503050406030204" pitchFamily="18" charset="0"/>
                        </a:rPr>
                        <m:t> </m:t>
                      </m:r>
                      <m:r>
                        <a:rPr lang="en-US" smtClean="0">
                          <a:latin typeface="Cambria Math" panose="02040503050406030204" pitchFamily="18" charset="0"/>
                        </a:rPr>
                        <m:t>𝛼</m:t>
                      </m:r>
                      <m:r>
                        <a:rPr lang="en-US" b="0" i="0" smtClean="0">
                          <a:latin typeface="Cambria Math" panose="02040503050406030204" pitchFamily="18" charset="0"/>
                        </a:rPr>
                        <m:t>(</m:t>
                      </m:r>
                      <m:r>
                        <m:rPr>
                          <m:sty m:val="p"/>
                        </m:rPr>
                        <a:rPr lang="en-US" b="0" i="0" smtClean="0">
                          <a:latin typeface="Cambria Math" panose="02040503050406030204" pitchFamily="18" charset="0"/>
                        </a:rPr>
                        <m:t>t</m:t>
                      </m:r>
                      <m:r>
                        <a:rPr lang="en-US" b="0" i="0" smtClean="0">
                          <a:latin typeface="Cambria Math" panose="02040503050406030204" pitchFamily="18" charset="0"/>
                        </a:rPr>
                        <m:t>)</m:t>
                      </m:r>
                    </m:oMath>
                  </m:oMathPara>
                </a14:m>
                <a:endParaRPr lang="en-US" b="1" i="1" dirty="0"/>
              </a:p>
            </p:txBody>
          </p:sp>
        </mc:Choice>
        <mc:Fallback xmlns="">
          <p:sp>
            <p:nvSpPr>
              <p:cNvPr id="7" name="TextBox 6">
                <a:extLst>
                  <a:ext uri="{FF2B5EF4-FFF2-40B4-BE49-F238E27FC236}">
                    <a16:creationId xmlns:a16="http://schemas.microsoft.com/office/drawing/2014/main" id="{8D8B3F23-6D13-F3F3-E99F-EAA63F937F06}"/>
                  </a:ext>
                </a:extLst>
              </p:cNvPr>
              <p:cNvSpPr txBox="1">
                <a:spLocks noRot="1" noChangeAspect="1" noMove="1" noResize="1" noEditPoints="1" noAdjustHandles="1" noChangeArrowheads="1" noChangeShapeType="1" noTextEdit="1"/>
              </p:cNvSpPr>
              <p:nvPr/>
            </p:nvSpPr>
            <p:spPr>
              <a:xfrm>
                <a:off x="2860342" y="2852686"/>
                <a:ext cx="847362" cy="369332"/>
              </a:xfrm>
              <a:prstGeom prst="rect">
                <a:avLst/>
              </a:prstGeom>
              <a:blipFill>
                <a:blip r:embed="rId4"/>
                <a:stretch>
                  <a:fillRect r="-16418" b="-16667"/>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s/tm/example_subset.png"/>
          <p:cNvPicPr>
            <a:picLocks noGrp="1" noChangeAspect="1"/>
          </p:cNvPicPr>
          <p:nvPr/>
        </p:nvPicPr>
        <p:blipFill>
          <a:blip r:embed="rId3"/>
          <a:stretch>
            <a:fillRect/>
          </a:stretch>
        </p:blipFill>
        <p:spPr bwMode="auto">
          <a:xfrm>
            <a:off x="2649343" y="865901"/>
            <a:ext cx="4272033" cy="3942080"/>
          </a:xfrm>
          <a:prstGeom prst="rect">
            <a:avLst/>
          </a:prstGeom>
          <a:noFill/>
          <a:ln w="9525">
            <a:noFill/>
            <a:headEnd/>
            <a:tailEnd/>
          </a:ln>
        </p:spPr>
      </p:pic>
      <p:sp>
        <p:nvSpPr>
          <p:cNvPr id="3" name="TextBox 3"/>
          <p:cNvSpPr txBox="1"/>
          <p:nvPr/>
        </p:nvSpPr>
        <p:spPr>
          <a:xfrm>
            <a:off x="457200" y="4732020"/>
            <a:ext cx="8229600" cy="508000"/>
          </a:xfrm>
          <a:prstGeom prst="rect">
            <a:avLst/>
          </a:prstGeom>
          <a:noFill/>
        </p:spPr>
        <p:txBody>
          <a:bodyPr/>
          <a:lstStyle/>
          <a:p>
            <a:pPr marL="0" lvl="0" indent="0" algn="ctr">
              <a:buNone/>
            </a:pPr>
            <a:r>
              <a:rPr dirty="0"/>
              <a:t>Transition matrix for 100 keV protons under four distinct magnetic field configurations</a:t>
            </a:r>
          </a:p>
        </p:txBody>
      </p:sp>
      <p:sp>
        <p:nvSpPr>
          <p:cNvPr id="4" name="Title 1">
            <a:extLst>
              <a:ext uri="{FF2B5EF4-FFF2-40B4-BE49-F238E27FC236}">
                <a16:creationId xmlns:a16="http://schemas.microsoft.com/office/drawing/2014/main" id="{0E4D8832-3BDC-6DF6-2C2D-AD4CCA5EDBE9}"/>
              </a:ext>
            </a:extLst>
          </p:cNvPr>
          <p:cNvSpPr>
            <a:spLocks noGrp="1"/>
          </p:cNvSpPr>
          <p:nvPr>
            <p:ph type="title"/>
          </p:nvPr>
        </p:nvSpPr>
        <p:spPr>
          <a:xfrm>
            <a:off x="457200" y="205979"/>
            <a:ext cx="8229600" cy="857250"/>
          </a:xfrm>
        </p:spPr>
        <p:txBody>
          <a:bodyPr/>
          <a:lstStyle/>
          <a:p>
            <a:pPr marL="0" lvl="0" indent="0">
              <a:buNone/>
            </a:pPr>
            <a:r>
              <a:rPr dirty="0"/>
              <a:t>Transition Matrix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Pitch angle scattering by typical discontinuity</a:t>
            </a:r>
          </a:p>
        </p:txBody>
      </p:sp>
      <p:pic>
        <p:nvPicPr>
          <p:cNvPr id="3" name="Picture 1" descr="../figures/pa_layout=v_β=47.5_θ=85.png"/>
          <p:cNvPicPr>
            <a:picLocks noGrp="1" noChangeAspect="1"/>
          </p:cNvPicPr>
          <p:nvPr/>
        </p:nvPicPr>
        <p:blipFill>
          <a:blip r:embed="rId3"/>
          <a:stretch>
            <a:fillRect/>
          </a:stretch>
        </p:blipFill>
        <p:spPr bwMode="auto">
          <a:xfrm>
            <a:off x="2311400" y="980440"/>
            <a:ext cx="4521200" cy="3390900"/>
          </a:xfrm>
          <a:prstGeom prst="rect">
            <a:avLst/>
          </a:prstGeom>
          <a:noFill/>
          <a:ln w="9525">
            <a:noFill/>
            <a:headEnd/>
            <a:tailEnd/>
          </a:ln>
        </p:spPr>
      </p:pic>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D9775DC-767A-19E4-EDD2-8B23025A3440}"/>
                  </a:ext>
                </a:extLst>
              </p:cNvPr>
              <p:cNvSpPr>
                <a:spLocks noGrp="1"/>
              </p:cNvSpPr>
              <p:nvPr>
                <p:ph idx="1"/>
              </p:nvPr>
            </p:nvSpPr>
            <p:spPr>
              <a:xfrm>
                <a:off x="457200" y="4371340"/>
                <a:ext cx="8229600" cy="1508523"/>
              </a:xfrm>
            </p:spPr>
            <p:txBody>
              <a:bodyPr>
                <a:normAutofit/>
              </a:bodyPr>
              <a:lstStyle/>
              <a:p>
                <a:pPr marL="0" lvl="0" indent="0">
                  <a:buNone/>
                </a:pPr>
                <a:r>
                  <a:rPr dirty="0"/>
                  <a:t>With in-plane rotation angle (</a:t>
                </a:r>
                <a14:m>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𝑖𝑛</m:t>
                        </m:r>
                      </m:sub>
                    </m:sSub>
                  </m:oMath>
                </a14:m>
                <a:r>
                  <a:rPr dirty="0"/>
                  <a:t>) about 90 degrees, and azimuthal angle (</a:t>
                </a:r>
                <a14:m>
                  <m:oMath xmlns:m="http://schemas.openxmlformats.org/officeDocument/2006/math">
                    <m:r>
                      <a:rPr>
                        <a:latin typeface="Cambria Math" panose="02040503050406030204" pitchFamily="18" charset="0"/>
                      </a:rPr>
                      <m:t>𝜃</m:t>
                    </m:r>
                  </m:oMath>
                </a14:m>
                <a:r>
                  <a:rPr dirty="0"/>
                  <a:t>) of around 85 degrees. </a:t>
                </a:r>
              </a:p>
            </p:txBody>
          </p:sp>
        </mc:Choice>
        <mc:Fallback xmlns="">
          <p:sp>
            <p:nvSpPr>
              <p:cNvPr id="4" name="Content Placeholder 2">
                <a:extLst>
                  <a:ext uri="{FF2B5EF4-FFF2-40B4-BE49-F238E27FC236}">
                    <a16:creationId xmlns:a16="http://schemas.microsoft.com/office/drawing/2014/main" id="{6D9775DC-767A-19E4-EDD2-8B23025A3440}"/>
                  </a:ext>
                </a:extLst>
              </p:cNvPr>
              <p:cNvSpPr>
                <a:spLocks noGrp="1" noRot="1" noChangeAspect="1" noMove="1" noResize="1" noEditPoints="1" noAdjustHandles="1" noChangeArrowheads="1" noChangeShapeType="1" noTextEdit="1"/>
              </p:cNvSpPr>
              <p:nvPr>
                <p:ph idx="1"/>
              </p:nvPr>
            </p:nvSpPr>
            <p:spPr>
              <a:xfrm>
                <a:off x="457200" y="4371340"/>
                <a:ext cx="8229600" cy="1508523"/>
              </a:xfrm>
              <a:blipFill>
                <a:blip r:embed="rId4"/>
                <a:stretch>
                  <a:fillRect l="-1235" t="-25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EE52E87-294A-95AE-6F92-8DF4D91043CE}"/>
              </a:ext>
            </a:extLst>
          </p:cNvPr>
          <p:cNvSpPr txBox="1"/>
          <p:nvPr/>
        </p:nvSpPr>
        <p:spPr>
          <a:xfrm>
            <a:off x="2260600" y="5446892"/>
            <a:ext cx="4572000" cy="646331"/>
          </a:xfrm>
          <a:prstGeom prst="rect">
            <a:avLst/>
          </a:prstGeom>
          <a:noFill/>
        </p:spPr>
        <p:txBody>
          <a:bodyPr wrap="square">
            <a:spAutoFit/>
          </a:bodyPr>
          <a:lstStyle/>
          <a:p>
            <a:r>
              <a:rPr lang="en-US" dirty="0"/>
              <a:t>Luckily, higher or lower energy do not exhibit apparently different scattering probabilities.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Transition Matrix</a:t>
            </a:r>
          </a:p>
        </p:txBody>
      </p:sp>
      <p:pic>
        <p:nvPicPr>
          <p:cNvPr id="3" name="Picture 1" descr="../figures/tm/example.png"/>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ormAutofit/>
          </a:bodyPr>
          <a:lstStyle/>
          <a:p>
            <a:pPr marL="0" lvl="0" indent="0">
              <a:buNone/>
            </a:pPr>
            <a:r>
              <a:rPr sz="2400" dirty="0"/>
              <a:t>Weighted Transition Matrix</a:t>
            </a:r>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57201" y="1076326"/>
                <a:ext cx="3268979" cy="3518297"/>
              </a:xfrm>
            </p:spPr>
            <p:txBody>
              <a:bodyPr>
                <a:normAutofit/>
              </a:bodyPr>
              <a:lstStyle/>
              <a:p>
                <a:pPr marL="0" lvl="0" indent="0">
                  <a:buNone/>
                </a:pPr>
                <a:endParaRPr lang="en-US" sz="1800" dirty="0"/>
              </a:p>
              <a:p>
                <a:pPr marL="0" lvl="0" indent="0">
                  <a:buNone/>
                </a:pPr>
                <a:endParaRPr lang="en-US" sz="1800" dirty="0"/>
              </a:p>
              <a:p>
                <a:pPr marL="0" lvl="0" indent="0">
                  <a:buNone/>
                </a:pPr>
                <a:r>
                  <a:rPr lang="en-US" sz="1800" dirty="0"/>
                  <a:t>Aggregates scattering probabilities across observed current sheets.</a:t>
                </a:r>
              </a:p>
              <a:p>
                <a:pPr marL="0" lvl="0" indent="0">
                  <a:buNone/>
                </a:pPr>
                <a:endParaRPr lang="en-US" sz="1800" dirty="0"/>
              </a:p>
              <a:p>
                <a:pPr marL="0" lvl="0" indent="0">
                  <a:buNone/>
                </a:pPr>
                <a:r>
                  <a:rPr lang="en-US" sz="1800" dirty="0"/>
                  <a:t> </a:t>
                </a:r>
                <a14:m>
                  <m:oMath xmlns:m="http://schemas.openxmlformats.org/officeDocument/2006/math">
                    <m:r>
                      <a:rPr lang="en-US" sz="1800">
                        <a:latin typeface="Cambria Math" panose="02040503050406030204" pitchFamily="18" charset="0"/>
                      </a:rPr>
                      <m:t>𝑝</m:t>
                    </m:r>
                    <m:d>
                      <m:dPr>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1</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0</m:t>
                            </m:r>
                          </m:sub>
                        </m:sSub>
                        <m:r>
                          <a:rPr lang="ar-AE" sz="1800">
                            <a:latin typeface="Cambria Math" panose="02040503050406030204" pitchFamily="18" charset="0"/>
                          </a:rPr>
                          <m:t>,</m:t>
                        </m:r>
                        <m:r>
                          <a:rPr lang="ar-AE" sz="1800">
                            <a:latin typeface="Cambria Math" panose="02040503050406030204" pitchFamily="18" charset="0"/>
                          </a:rPr>
                          <m:t>𝛱</m:t>
                        </m:r>
                      </m:e>
                    </m:d>
                  </m:oMath>
                </a14:m>
                <a:r>
                  <a:rPr lang="ar-AE" sz="1800" dirty="0"/>
                  <a:t> </a:t>
                </a:r>
                <a:r>
                  <a:rPr lang="en-US" sz="1800" dirty="0"/>
                  <a:t> =</a:t>
                </a:r>
                <a:r>
                  <a:rPr lang="ar-AE" sz="1800" dirty="0"/>
                  <a:t>&gt;</a:t>
                </a:r>
              </a:p>
              <a:p>
                <a:pPr marL="0" lvl="0" indent="0">
                  <a:buNone/>
                </a:pPr>
                <a:r>
                  <a:rPr lang="ar-AE" sz="1800" dirty="0"/>
                  <a:t> </a:t>
                </a:r>
                <a14:m>
                  <m:oMath xmlns:m="http://schemas.openxmlformats.org/officeDocument/2006/math">
                    <m:r>
                      <a:rPr lang="ar-AE" sz="1800">
                        <a:latin typeface="Cambria Math" panose="02040503050406030204" pitchFamily="18" charset="0"/>
                      </a:rPr>
                      <m:t>𝑝</m:t>
                    </m:r>
                    <m:d>
                      <m:dPr>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1</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0</m:t>
                            </m:r>
                          </m:sub>
                        </m:sSub>
                      </m:e>
                    </m:d>
                    <m:r>
                      <a:rPr lang="ar-AE" sz="1800" b="0" i="0" smtClean="0">
                        <a:latin typeface="Cambria Math" panose="02040503050406030204" pitchFamily="18" charset="0"/>
                      </a:rPr>
                      <m:t>=</m:t>
                    </m:r>
                    <m:nary>
                      <m:naryPr>
                        <m:chr m:val="∑"/>
                        <m:limLoc m:val="undOvr"/>
                        <m:ctrlPr>
                          <a:rPr lang="ar-AE" sz="1800" i="1">
                            <a:latin typeface="Cambria Math" panose="02040503050406030204" pitchFamily="18" charset="0"/>
                          </a:rPr>
                        </m:ctrlPr>
                      </m:naryPr>
                      <m:sub>
                        <m:r>
                          <a:rPr lang="ar-AE" sz="1800">
                            <a:latin typeface="Cambria Math" panose="02040503050406030204" pitchFamily="18" charset="0"/>
                          </a:rPr>
                          <m:t>𝑖</m:t>
                        </m:r>
                      </m:sub>
                      <m:sup>
                        <m:r>
                          <a:rPr lang="ar-AE" sz="1800">
                            <a:latin typeface="Cambria Math" panose="02040503050406030204" pitchFamily="18" charset="0"/>
                          </a:rPr>
                          <m:t>​</m:t>
                        </m:r>
                      </m:sup>
                      <m:e>
                        <m:r>
                          <a:rPr lang="ar-AE" sz="1800">
                            <a:latin typeface="Cambria Math" panose="02040503050406030204" pitchFamily="18" charset="0"/>
                          </a:rPr>
                          <m:t>𝑝</m:t>
                        </m:r>
                      </m:e>
                    </m:nary>
                    <m:d>
                      <m:dPr>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1</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𝛼</m:t>
                            </m:r>
                          </m:e>
                          <m:sub>
                            <m:r>
                              <a:rPr lang="ar-AE" sz="1800">
                                <a:latin typeface="Cambria Math" panose="02040503050406030204" pitchFamily="18" charset="0"/>
                              </a:rPr>
                              <m:t>0</m:t>
                            </m:r>
                          </m:sub>
                        </m:sSub>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𝛱</m:t>
                            </m:r>
                          </m:e>
                          <m:sub>
                            <m:r>
                              <a:rPr lang="ar-AE" sz="1800">
                                <a:latin typeface="Cambria Math" panose="02040503050406030204" pitchFamily="18" charset="0"/>
                              </a:rPr>
                              <m:t>𝑖</m:t>
                            </m:r>
                          </m:sub>
                        </m:sSub>
                      </m:e>
                    </m:d>
                    <m:sSub>
                      <m:sSubPr>
                        <m:ctrlPr>
                          <a:rPr lang="ar-AE" sz="1800" i="1">
                            <a:latin typeface="Cambria Math" panose="02040503050406030204" pitchFamily="18" charset="0"/>
                          </a:rPr>
                        </m:ctrlPr>
                      </m:sSubPr>
                      <m:e>
                        <m:r>
                          <a:rPr lang="ar-AE" sz="1800">
                            <a:latin typeface="Cambria Math" panose="02040503050406030204" pitchFamily="18" charset="0"/>
                          </a:rPr>
                          <m:t>𝑤</m:t>
                        </m:r>
                      </m:e>
                      <m:sub>
                        <m:r>
                          <a:rPr lang="ar-AE" sz="1800">
                            <a:latin typeface="Cambria Math" panose="02040503050406030204" pitchFamily="18" charset="0"/>
                          </a:rPr>
                          <m:t>𝑖</m:t>
                        </m:r>
                      </m:sub>
                    </m:sSub>
                  </m:oMath>
                </a14:m>
                <a:endParaRPr sz="1800" dirty="0"/>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57201" y="1076326"/>
                <a:ext cx="3268979" cy="3518297"/>
              </a:xfrm>
              <a:blipFill>
                <a:blip r:embed="rId3"/>
                <a:stretch>
                  <a:fillRect l="-1550"/>
                </a:stretch>
              </a:blipFill>
            </p:spPr>
            <p:txBody>
              <a:bodyPr/>
              <a:lstStyle/>
              <a:p>
                <a:r>
                  <a:rPr lang="en-US">
                    <a:noFill/>
                  </a:rPr>
                  <a:t> </a:t>
                </a:r>
              </a:p>
            </p:txBody>
          </p:sp>
        </mc:Fallback>
      </mc:AlternateContent>
      <p:pic>
        <p:nvPicPr>
          <p:cNvPr id="3" name="Picture 1" descr="../figures/tm/tm_stats_100keV.png"/>
          <p:cNvPicPr>
            <a:picLocks noGrp="1" noChangeAspect="1"/>
          </p:cNvPicPr>
          <p:nvPr/>
        </p:nvPicPr>
        <p:blipFill>
          <a:blip r:embed="rId4"/>
          <a:stretch>
            <a:fillRect/>
          </a:stretch>
        </p:blipFill>
        <p:spPr bwMode="auto">
          <a:xfrm>
            <a:off x="3568700" y="0"/>
            <a:ext cx="5575300" cy="4594623"/>
          </a:xfrm>
          <a:prstGeom prst="rect">
            <a:avLst/>
          </a:prstGeom>
          <a:noFill/>
          <a:ln w="9525">
            <a:noFill/>
            <a:headEnd/>
            <a:tailEnd/>
          </a:ln>
        </p:spPr>
      </p:pic>
      <p:sp>
        <p:nvSpPr>
          <p:cNvPr id="5" name="TextBox 3"/>
          <p:cNvSpPr txBox="1"/>
          <p:nvPr/>
        </p:nvSpPr>
        <p:spPr>
          <a:xfrm>
            <a:off x="3803650" y="4594623"/>
            <a:ext cx="5105400" cy="508000"/>
          </a:xfrm>
          <a:prstGeom prst="rect">
            <a:avLst/>
          </a:prstGeom>
          <a:noFill/>
        </p:spPr>
        <p:txBody>
          <a:bodyPr/>
          <a:lstStyle/>
          <a:p>
            <a:pPr marL="0" lvl="0" indent="0" algn="ctr">
              <a:buNone/>
            </a:pPr>
            <a:r>
              <a:rPr dirty="0"/>
              <a:t>Transition matrix for 100 keV particles.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Long-Term Pitch Angle Evolution</a:t>
            </a:r>
          </a:p>
        </p:txBody>
      </p:sp>
      <p:pic>
        <p:nvPicPr>
          <p:cNvPr id="3" name="Picture 1" descr="../figures/pa_jump_history.png"/>
          <p:cNvPicPr>
            <a:picLocks noGrp="1" noChangeAspect="1"/>
          </p:cNvPicPr>
          <p:nvPr/>
        </p:nvPicPr>
        <p:blipFill>
          <a:blip r:embed="rId3"/>
          <a:stretch>
            <a:fillRect/>
          </a:stretch>
        </p:blipFill>
        <p:spPr bwMode="auto">
          <a:xfrm>
            <a:off x="219153" y="991080"/>
            <a:ext cx="5542658" cy="4152420"/>
          </a:xfrm>
          <a:prstGeom prst="rect">
            <a:avLst/>
          </a:prstGeom>
          <a:noFill/>
          <a:ln w="9525">
            <a:noFill/>
            <a:headEnd/>
            <a:tailEnd/>
          </a:ln>
        </p:spPr>
      </p:pic>
      <p:sp>
        <p:nvSpPr>
          <p:cNvPr id="4" name="TextBox 3"/>
          <p:cNvSpPr txBox="1"/>
          <p:nvPr/>
        </p:nvSpPr>
        <p:spPr>
          <a:xfrm>
            <a:off x="5999858" y="1063229"/>
            <a:ext cx="3015673" cy="1057249"/>
          </a:xfrm>
          <a:prstGeom prst="rect">
            <a:avLst/>
          </a:prstGeom>
          <a:noFill/>
        </p:spPr>
        <p:txBody>
          <a:bodyPr/>
          <a:lstStyle/>
          <a:p>
            <a:pPr marL="0" lvl="0" indent="0" algn="ctr">
              <a:buNone/>
            </a:pPr>
            <a:r>
              <a:rPr dirty="0"/>
              <a:t>Example of Multiple Pitch Angle Scattering for Different Energies</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CC71EFA7-5EF9-CADF-AE5E-0E10306193E3}"/>
                  </a:ext>
                </a:extLst>
              </p:cNvPr>
              <p:cNvSpPr>
                <a:spLocks noGrp="1"/>
              </p:cNvSpPr>
              <p:nvPr>
                <p:ph idx="1"/>
              </p:nvPr>
            </p:nvSpPr>
            <p:spPr>
              <a:xfrm>
                <a:off x="5761810" y="2571750"/>
                <a:ext cx="3382190" cy="3394472"/>
              </a:xfrm>
            </p:spPr>
            <p:txBody>
              <a:bodyPr/>
              <a:lstStyle/>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𝑛</m:t>
                          </m:r>
                          <m:r>
                            <a:rPr>
                              <a:latin typeface="Cambria Math" panose="02040503050406030204" pitchFamily="18" charset="0"/>
                            </a:rPr>
                            <m:t>+1,</m:t>
                          </m:r>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𝑊</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𝜉</m:t>
                              </m:r>
                            </m:e>
                            <m:sub>
                              <m:r>
                                <a:rPr>
                                  <a:latin typeface="Cambria Math" panose="02040503050406030204" pitchFamily="18" charset="0"/>
                                </a:rPr>
                                <m:t>𝑛</m:t>
                              </m:r>
                              <m:r>
                                <a:rPr>
                                  <a:latin typeface="Cambria Math" panose="02040503050406030204" pitchFamily="18" charset="0"/>
                                </a:rPr>
                                <m:t>,</m:t>
                              </m:r>
                              <m:r>
                                <a:rPr>
                                  <a:latin typeface="Cambria Math" panose="02040503050406030204" pitchFamily="18" charset="0"/>
                                </a:rPr>
                                <m:t>𝑖</m:t>
                              </m:r>
                            </m:sub>
                          </m:sSub>
                        </m:e>
                      </m:d>
                    </m:oMath>
                  </m:oMathPara>
                </a14:m>
                <a:endParaRPr dirty="0"/>
              </a:p>
            </p:txBody>
          </p:sp>
        </mc:Choice>
        <mc:Fallback xmlns="">
          <p:sp>
            <p:nvSpPr>
              <p:cNvPr id="5" name="Content Placeholder 2">
                <a:extLst>
                  <a:ext uri="{FF2B5EF4-FFF2-40B4-BE49-F238E27FC236}">
                    <a16:creationId xmlns:a16="http://schemas.microsoft.com/office/drawing/2014/main" id="{CC71EFA7-5EF9-CADF-AE5E-0E10306193E3}"/>
                  </a:ext>
                </a:extLst>
              </p:cNvPr>
              <p:cNvSpPr>
                <a:spLocks noGrp="1" noRot="1" noChangeAspect="1" noMove="1" noResize="1" noEditPoints="1" noAdjustHandles="1" noChangeArrowheads="1" noChangeShapeType="1" noTextEdit="1"/>
              </p:cNvSpPr>
              <p:nvPr>
                <p:ph idx="1"/>
              </p:nvPr>
            </p:nvSpPr>
            <p:spPr>
              <a:xfrm>
                <a:off x="5761810" y="2571750"/>
                <a:ext cx="3382190" cy="3394472"/>
              </a:xfrm>
              <a:blipFill>
                <a:blip r:embed="rId4"/>
                <a:stretch>
                  <a:fillRect/>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801EB-B2CE-CEB1-1989-81D37DB25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FEA24-26A9-B67C-270D-177083A8B423}"/>
              </a:ext>
            </a:extLst>
          </p:cNvPr>
          <p:cNvSpPr>
            <a:spLocks noGrp="1"/>
          </p:cNvSpPr>
          <p:nvPr>
            <p:ph type="title"/>
          </p:nvPr>
        </p:nvSpPr>
        <p:spPr/>
        <p:txBody>
          <a:bodyPr/>
          <a:lstStyle/>
          <a:p>
            <a:pPr marL="0" lvl="0" indent="0">
              <a:buNone/>
            </a:pPr>
            <a:r>
              <a:t>Long-Term Pitch Angle Evolution</a:t>
            </a:r>
          </a:p>
        </p:txBody>
      </p:sp>
      <p:pic>
        <p:nvPicPr>
          <p:cNvPr id="9" name="Content Placeholder 8" descr="./figures/pa_cdf.png">
            <a:extLst>
              <a:ext uri="{FF2B5EF4-FFF2-40B4-BE49-F238E27FC236}">
                <a16:creationId xmlns:a16="http://schemas.microsoft.com/office/drawing/2014/main" id="{61E5A10D-C6C3-D379-2292-68D5726A1737}"/>
              </a:ext>
            </a:extLst>
          </p:cNvPr>
          <p:cNvPicPr>
            <a:picLocks noGrp="1" noChangeAspect="1"/>
          </p:cNvPicPr>
          <p:nvPr>
            <p:ph idx="1"/>
          </p:nvPr>
        </p:nvPicPr>
        <p:blipFill>
          <a:blip r:embed="rId3"/>
          <a:stretch>
            <a:fillRect/>
          </a:stretch>
        </p:blipFill>
        <p:spPr bwMode="auto">
          <a:xfrm>
            <a:off x="1849962" y="854464"/>
            <a:ext cx="5444075" cy="4083057"/>
          </a:xfrm>
          <a:prstGeom prst="rect">
            <a:avLst/>
          </a:prstGeom>
          <a:noFill/>
          <a:ln w="9525">
            <a:noFill/>
            <a:headEnd/>
            <a:tailEnd/>
          </a:ln>
        </p:spPr>
      </p:pic>
      <p:sp>
        <p:nvSpPr>
          <p:cNvPr id="10" name="TextBox 9">
            <a:extLst>
              <a:ext uri="{FF2B5EF4-FFF2-40B4-BE49-F238E27FC236}">
                <a16:creationId xmlns:a16="http://schemas.microsoft.com/office/drawing/2014/main" id="{613AD561-882B-E28B-3B07-83E4CA854847}"/>
              </a:ext>
            </a:extLst>
          </p:cNvPr>
          <p:cNvSpPr txBox="1"/>
          <p:nvPr/>
        </p:nvSpPr>
        <p:spPr>
          <a:xfrm>
            <a:off x="7575486" y="4633096"/>
            <a:ext cx="1351652" cy="369332"/>
          </a:xfrm>
          <a:prstGeom prst="rect">
            <a:avLst/>
          </a:prstGeom>
          <a:noFill/>
        </p:spPr>
        <p:txBody>
          <a:bodyPr wrap="none" rtlCol="0">
            <a:spAutoFit/>
          </a:bodyPr>
          <a:lstStyle/>
          <a:p>
            <a:r>
              <a:rPr lang="en-US" b="0" i="0" dirty="0">
                <a:solidFill>
                  <a:srgbClr val="101418"/>
                </a:solidFill>
                <a:effectLst/>
                <a:latin typeface="Linux Libertine"/>
              </a:rPr>
              <a:t>Ergodicity?</a:t>
            </a:r>
            <a:r>
              <a:rPr lang="en-US" dirty="0"/>
              <a:t> </a:t>
            </a:r>
          </a:p>
        </p:txBody>
      </p:sp>
    </p:spTree>
    <p:extLst>
      <p:ext uri="{BB962C8B-B14F-4D97-AF65-F5344CB8AC3E}">
        <p14:creationId xmlns:p14="http://schemas.microsoft.com/office/powerpoint/2010/main" val="368931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E74F0-EC36-1E1C-2976-B029C2238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23167-78C0-DF56-F172-8978765F3A37}"/>
              </a:ext>
            </a:extLst>
          </p:cNvPr>
          <p:cNvSpPr>
            <a:spLocks noGrp="1"/>
          </p:cNvSpPr>
          <p:nvPr>
            <p:ph type="title"/>
          </p:nvPr>
        </p:nvSpPr>
        <p:spPr/>
        <p:txBody>
          <a:bodyPr>
            <a:normAutofit/>
          </a:bodyPr>
          <a:lstStyle/>
          <a:p>
            <a:r>
              <a:rPr lang="en-US" dirty="0"/>
              <a:t>Pitch angle scattering =&gt; Parallel Diffusion</a:t>
            </a:r>
            <a:endParaRPr dirty="0"/>
          </a:p>
        </p:txBody>
      </p:sp>
      <mc:AlternateContent xmlns:mc="http://schemas.openxmlformats.org/markup-compatibility/2006" xmlns:a14="http://schemas.microsoft.com/office/drawing/2010/main">
        <mc:Choice Requires="a14">
          <p:sp>
            <p:nvSpPr>
              <p:cNvPr id="7" name="Text Placeholder 3">
                <a:extLst>
                  <a:ext uri="{FF2B5EF4-FFF2-40B4-BE49-F238E27FC236}">
                    <a16:creationId xmlns:a16="http://schemas.microsoft.com/office/drawing/2014/main" id="{ADFA9886-AB84-F1E2-50AD-AFD95C83BC48}"/>
                  </a:ext>
                </a:extLst>
              </p:cNvPr>
              <p:cNvSpPr txBox="1">
                <a:spLocks/>
              </p:cNvSpPr>
              <p:nvPr/>
            </p:nvSpPr>
            <p:spPr>
              <a:xfrm>
                <a:off x="4899660" y="858442"/>
                <a:ext cx="4320539" cy="1389458"/>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14:m>
                  <m:oMathPara xmlns:m="http://schemas.openxmlformats.org/officeDocument/2006/math">
                    <m:oMathParaPr>
                      <m:jc m:val="center"/>
                    </m:oMathParaPr>
                    <m:oMath xmlns:m="http://schemas.openxmlformats.org/officeDocument/2006/math">
                      <m:m>
                        <m:mPr>
                          <m:plcHide m:val="on"/>
                          <m:mcs>
                            <m:mc>
                              <m:mcPr>
                                <m:count m:val="1"/>
                                <m:mcJc m:val="center"/>
                              </m:mcPr>
                            </m:mc>
                          </m:mcs>
                          <m:ctrlPr>
                            <a:rPr lang="ar-AE" sz="1600" i="1" smtClean="0">
                              <a:latin typeface="Cambria Math" panose="02040503050406030204" pitchFamily="18" charset="0"/>
                            </a:rPr>
                          </m:ctrlPr>
                        </m:mPr>
                        <m:mr>
                          <m:e>
                            <m:sSub>
                              <m:sSubPr>
                                <m:ctrlPr>
                                  <a:rPr lang="ar-AE" sz="1600" i="1">
                                    <a:latin typeface="Cambria Math" panose="02040503050406030204" pitchFamily="18" charset="0"/>
                                  </a:rPr>
                                </m:ctrlPr>
                              </m:sSubPr>
                              <m:e>
                                <m:r>
                                  <a:rPr lang="ar-AE" sz="1600">
                                    <a:latin typeface="Cambria Math" panose="02040503050406030204" pitchFamily="18" charset="0"/>
                                  </a:rPr>
                                  <m:t>𝑀</m:t>
                                </m:r>
                              </m:e>
                              <m:sub>
                                <m:r>
                                  <a:rPr lang="ar-AE" sz="1600">
                                    <a:latin typeface="Cambria Math" panose="02040503050406030204" pitchFamily="18" charset="0"/>
                                  </a:rPr>
                                  <m:t>1</m:t>
                                </m:r>
                              </m:sub>
                            </m:sSub>
                            <m:d>
                              <m:dPr>
                                <m:ctrlPr>
                                  <a:rPr lang="ar-AE" sz="1600" i="1">
                                    <a:latin typeface="Cambria Math" panose="02040503050406030204" pitchFamily="18" charset="0"/>
                                  </a:rPr>
                                </m:ctrlPr>
                              </m:dPr>
                              <m:e>
                                <m:r>
                                  <a:rPr lang="ar-AE" sz="1600">
                                    <a:latin typeface="Cambria Math" panose="02040503050406030204" pitchFamily="18" charset="0"/>
                                  </a:rPr>
                                  <m:t>𝑛</m:t>
                                </m:r>
                              </m:e>
                            </m:d>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a:latin typeface="Cambria Math" panose="02040503050406030204" pitchFamily="18" charset="0"/>
                                  </a:rPr>
                                  <m:t>𝑁</m:t>
                                </m:r>
                              </m:e>
                              <m:sup>
                                <m:r>
                                  <a:rPr lang="ar-AE" sz="1600">
                                    <a:latin typeface="Cambria Math" panose="02040503050406030204" pitchFamily="18" charset="0"/>
                                  </a:rPr>
                                  <m:t>−1</m:t>
                                </m:r>
                              </m:sup>
                            </m:sSup>
                            <m:nary>
                              <m:naryPr>
                                <m:chr m:val="∑"/>
                                <m:limLoc m:val="undOvr"/>
                                <m:ctrlPr>
                                  <a:rPr lang="ar-AE" sz="1600" i="1">
                                    <a:latin typeface="Cambria Math" panose="02040503050406030204" pitchFamily="18" charset="0"/>
                                  </a:rPr>
                                </m:ctrlPr>
                              </m:naryPr>
                              <m:sub>
                                <m:r>
                                  <a:rPr lang="ar-AE" sz="1600">
                                    <a:latin typeface="Cambria Math" panose="02040503050406030204" pitchFamily="18" charset="0"/>
                                  </a:rPr>
                                  <m:t>𝑖</m:t>
                                </m:r>
                                <m:r>
                                  <a:rPr lang="ar-AE" sz="1600">
                                    <a:latin typeface="Cambria Math" panose="02040503050406030204" pitchFamily="18" charset="0"/>
                                  </a:rPr>
                                  <m:t>=1</m:t>
                                </m:r>
                              </m:sub>
                              <m:sup>
                                <m:r>
                                  <a:rPr lang="ar-AE" sz="1600">
                                    <a:latin typeface="Cambria Math" panose="02040503050406030204" pitchFamily="18" charset="0"/>
                                  </a:rPr>
                                  <m:t>𝑁</m:t>
                                </m:r>
                              </m:sup>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𝛼</m:t>
                                        </m:r>
                                      </m:e>
                                      <m:sub>
                                        <m:r>
                                          <a:rPr lang="ar-AE" sz="1600">
                                            <a:latin typeface="Cambria Math" panose="02040503050406030204" pitchFamily="18" charset="0"/>
                                          </a:rPr>
                                          <m:t>𝑛</m:t>
                                        </m:r>
                                        <m:r>
                                          <a:rPr lang="ar-AE" sz="1600">
                                            <a:latin typeface="Cambria Math" panose="02040503050406030204" pitchFamily="18" charset="0"/>
                                          </a:rPr>
                                          <m:t>,</m:t>
                                        </m:r>
                                        <m:r>
                                          <a:rPr lang="ar-AE" sz="1600">
                                            <a:latin typeface="Cambria Math" panose="02040503050406030204" pitchFamily="18" charset="0"/>
                                          </a:rPr>
                                          <m:t>𝑖</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𝛼</m:t>
                                        </m:r>
                                      </m:e>
                                      <m:sub>
                                        <m:r>
                                          <a:rPr lang="ar-AE" sz="1600">
                                            <a:latin typeface="Cambria Math" panose="02040503050406030204" pitchFamily="18" charset="0"/>
                                          </a:rPr>
                                          <m:t>0,</m:t>
                                        </m:r>
                                        <m:r>
                                          <a:rPr lang="ar-AE" sz="1600">
                                            <a:latin typeface="Cambria Math" panose="02040503050406030204" pitchFamily="18" charset="0"/>
                                          </a:rPr>
                                          <m:t>𝑖</m:t>
                                        </m:r>
                                      </m:sub>
                                    </m:sSub>
                                  </m:e>
                                </m:d>
                              </m:e>
                            </m:nary>
                          </m:e>
                        </m:mr>
                        <m:mr>
                          <m:e>
                            <m:sSub>
                              <m:sSubPr>
                                <m:ctrlPr>
                                  <a:rPr lang="ar-AE" sz="1600" i="1">
                                    <a:latin typeface="Cambria Math" panose="02040503050406030204" pitchFamily="18" charset="0"/>
                                  </a:rPr>
                                </m:ctrlPr>
                              </m:sSubPr>
                              <m:e>
                                <m:r>
                                  <a:rPr lang="ar-AE" sz="1600">
                                    <a:latin typeface="Cambria Math" panose="02040503050406030204" pitchFamily="18" charset="0"/>
                                  </a:rPr>
                                  <m:t>𝑀</m:t>
                                </m:r>
                              </m:e>
                              <m:sub>
                                <m:r>
                                  <a:rPr lang="ar-AE" sz="1600">
                                    <a:latin typeface="Cambria Math" panose="02040503050406030204" pitchFamily="18" charset="0"/>
                                  </a:rPr>
                                  <m:t>2</m:t>
                                </m:r>
                              </m:sub>
                            </m:sSub>
                            <m:d>
                              <m:dPr>
                                <m:ctrlPr>
                                  <a:rPr lang="ar-AE" sz="1600" i="1">
                                    <a:latin typeface="Cambria Math" panose="02040503050406030204" pitchFamily="18" charset="0"/>
                                  </a:rPr>
                                </m:ctrlPr>
                              </m:dPr>
                              <m:e>
                                <m:r>
                                  <a:rPr lang="ar-AE" sz="1600">
                                    <a:latin typeface="Cambria Math" panose="02040503050406030204" pitchFamily="18" charset="0"/>
                                  </a:rPr>
                                  <m:t>𝑛</m:t>
                                </m:r>
                              </m:e>
                            </m:d>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a:latin typeface="Cambria Math" panose="02040503050406030204" pitchFamily="18" charset="0"/>
                                  </a:rPr>
                                  <m:t>𝑁</m:t>
                                </m:r>
                              </m:e>
                              <m:sup>
                                <m:r>
                                  <a:rPr lang="ar-AE" sz="1600">
                                    <a:latin typeface="Cambria Math" panose="02040503050406030204" pitchFamily="18" charset="0"/>
                                  </a:rPr>
                                  <m:t>−1</m:t>
                                </m:r>
                              </m:sup>
                            </m:sSup>
                            <m:nary>
                              <m:naryPr>
                                <m:chr m:val="∑"/>
                                <m:limLoc m:val="undOvr"/>
                                <m:ctrlPr>
                                  <a:rPr lang="ar-AE" sz="1600" i="1">
                                    <a:latin typeface="Cambria Math" panose="02040503050406030204" pitchFamily="18" charset="0"/>
                                  </a:rPr>
                                </m:ctrlPr>
                              </m:naryPr>
                              <m:sub>
                                <m:r>
                                  <a:rPr lang="ar-AE" sz="1600">
                                    <a:latin typeface="Cambria Math" panose="02040503050406030204" pitchFamily="18" charset="0"/>
                                  </a:rPr>
                                  <m:t>𝑖</m:t>
                                </m:r>
                                <m:r>
                                  <a:rPr lang="ar-AE" sz="1600">
                                    <a:latin typeface="Cambria Math" panose="02040503050406030204" pitchFamily="18" charset="0"/>
                                  </a:rPr>
                                  <m:t>=1</m:t>
                                </m:r>
                              </m:sub>
                              <m:sup>
                                <m:r>
                                  <a:rPr lang="ar-AE" sz="1600">
                                    <a:latin typeface="Cambria Math" panose="02040503050406030204" pitchFamily="18" charset="0"/>
                                  </a:rPr>
                                  <m:t>𝑁</m:t>
                                </m:r>
                              </m:sup>
                              <m:e>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𝛼</m:t>
                                            </m:r>
                                          </m:e>
                                          <m:sub>
                                            <m:r>
                                              <a:rPr lang="ar-AE" sz="1600">
                                                <a:latin typeface="Cambria Math" panose="02040503050406030204" pitchFamily="18" charset="0"/>
                                              </a:rPr>
                                              <m:t>𝑛</m:t>
                                            </m:r>
                                            <m:r>
                                              <a:rPr lang="ar-AE" sz="1600">
                                                <a:latin typeface="Cambria Math" panose="02040503050406030204" pitchFamily="18" charset="0"/>
                                              </a:rPr>
                                              <m:t>,</m:t>
                                            </m:r>
                                            <m:r>
                                              <a:rPr lang="ar-AE" sz="1600">
                                                <a:latin typeface="Cambria Math" panose="02040503050406030204" pitchFamily="18" charset="0"/>
                                              </a:rPr>
                                              <m:t>𝑖</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𝛼</m:t>
                                            </m:r>
                                          </m:e>
                                          <m:sub>
                                            <m:r>
                                              <a:rPr lang="ar-AE" sz="1600">
                                                <a:latin typeface="Cambria Math" panose="02040503050406030204" pitchFamily="18" charset="0"/>
                                              </a:rPr>
                                              <m:t>0,</m:t>
                                            </m:r>
                                            <m:r>
                                              <a:rPr lang="ar-AE" sz="1600">
                                                <a:latin typeface="Cambria Math" panose="02040503050406030204" pitchFamily="18" charset="0"/>
                                              </a:rPr>
                                              <m:t>𝑖</m:t>
                                            </m:r>
                                          </m:sub>
                                        </m:sSub>
                                      </m:e>
                                    </m:d>
                                  </m:e>
                                  <m:sup>
                                    <m:r>
                                      <a:rPr lang="ar-AE" sz="1600">
                                        <a:latin typeface="Cambria Math" panose="02040503050406030204" pitchFamily="18" charset="0"/>
                                      </a:rPr>
                                      <m:t>2</m:t>
                                    </m:r>
                                  </m:sup>
                                </m:sSup>
                              </m:e>
                            </m:nary>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a:latin typeface="Cambria Math" panose="02040503050406030204" pitchFamily="18" charset="0"/>
                                  </a:rPr>
                                  <m:t>𝑀</m:t>
                                </m:r>
                              </m:e>
                              <m:sub>
                                <m:r>
                                  <a:rPr lang="ar-AE" sz="1600">
                                    <a:latin typeface="Cambria Math" panose="02040503050406030204" pitchFamily="18" charset="0"/>
                                  </a:rPr>
                                  <m:t>1</m:t>
                                </m:r>
                              </m:sub>
                              <m:sup>
                                <m:r>
                                  <a:rPr lang="ar-AE" sz="1600">
                                    <a:latin typeface="Cambria Math" panose="02040503050406030204" pitchFamily="18" charset="0"/>
                                  </a:rPr>
                                  <m:t>2</m:t>
                                </m:r>
                              </m:sup>
                            </m:sSubSup>
                            <m:d>
                              <m:dPr>
                                <m:ctrlPr>
                                  <a:rPr lang="ar-AE" sz="1600" i="1">
                                    <a:latin typeface="Cambria Math" panose="02040503050406030204" pitchFamily="18" charset="0"/>
                                  </a:rPr>
                                </m:ctrlPr>
                              </m:dPr>
                              <m:e>
                                <m:r>
                                  <a:rPr lang="ar-AE" sz="1600">
                                    <a:latin typeface="Cambria Math" panose="02040503050406030204" pitchFamily="18" charset="0"/>
                                  </a:rPr>
                                  <m:t>𝑛</m:t>
                                </m:r>
                              </m:e>
                            </m:d>
                          </m:e>
                        </m:mr>
                      </m:m>
                    </m:oMath>
                  </m:oMathPara>
                </a14:m>
                <a:endParaRPr lang="ar-AE" sz="1600" dirty="0"/>
              </a:p>
            </p:txBody>
          </p:sp>
        </mc:Choice>
        <mc:Fallback xmlns="">
          <p:sp>
            <p:nvSpPr>
              <p:cNvPr id="7" name="Text Placeholder 3">
                <a:extLst>
                  <a:ext uri="{FF2B5EF4-FFF2-40B4-BE49-F238E27FC236}">
                    <a16:creationId xmlns:a16="http://schemas.microsoft.com/office/drawing/2014/main" id="{ADFA9886-AB84-F1E2-50AD-AFD95C83BC48}"/>
                  </a:ext>
                </a:extLst>
              </p:cNvPr>
              <p:cNvSpPr txBox="1">
                <a:spLocks noRot="1" noChangeAspect="1" noMove="1" noResize="1" noEditPoints="1" noAdjustHandles="1" noChangeArrowheads="1" noChangeShapeType="1" noTextEdit="1"/>
              </p:cNvSpPr>
              <p:nvPr/>
            </p:nvSpPr>
            <p:spPr>
              <a:xfrm>
                <a:off x="4899660" y="858442"/>
                <a:ext cx="4320539" cy="1389458"/>
              </a:xfrm>
              <a:prstGeom prst="rect">
                <a:avLst/>
              </a:prstGeom>
              <a:blipFill>
                <a:blip r:embed="rId3"/>
                <a:stretch>
                  <a:fillRect t="-54054" b="-93694"/>
                </a:stretch>
              </a:blipFill>
            </p:spPr>
            <p:txBody>
              <a:bodyPr/>
              <a:lstStyle/>
              <a:p>
                <a:r>
                  <a:rPr lang="en-US">
                    <a:noFill/>
                  </a:rPr>
                  <a:t> </a:t>
                </a:r>
              </a:p>
            </p:txBody>
          </p:sp>
        </mc:Fallback>
      </mc:AlternateContent>
      <p:pic>
        <p:nvPicPr>
          <p:cNvPr id="8" name="Picture 1" descr="../figures/mixing_rate.png">
            <a:extLst>
              <a:ext uri="{FF2B5EF4-FFF2-40B4-BE49-F238E27FC236}">
                <a16:creationId xmlns:a16="http://schemas.microsoft.com/office/drawing/2014/main" id="{61629440-A4FB-4C93-0CBA-42F5ECDF092D}"/>
              </a:ext>
            </a:extLst>
          </p:cNvPr>
          <p:cNvPicPr>
            <a:picLocks noGrp="1" noChangeAspect="1"/>
          </p:cNvPicPr>
          <p:nvPr/>
        </p:nvPicPr>
        <p:blipFill>
          <a:blip r:embed="rId4"/>
          <a:stretch>
            <a:fillRect/>
          </a:stretch>
        </p:blipFill>
        <p:spPr bwMode="auto">
          <a:xfrm>
            <a:off x="0" y="1057586"/>
            <a:ext cx="5107747" cy="4085914"/>
          </a:xfrm>
          <a:prstGeom prst="rect">
            <a:avLst/>
          </a:prstGeom>
          <a:noFill/>
          <a:ln w="9525">
            <a:noFill/>
            <a:headEnd/>
            <a:tailEnd/>
          </a:ln>
        </p:spPr>
      </p:pic>
      <p:pic>
        <p:nvPicPr>
          <p:cNvPr id="3" name="Picture 2">
            <a:extLst>
              <a:ext uri="{FF2B5EF4-FFF2-40B4-BE49-F238E27FC236}">
                <a16:creationId xmlns:a16="http://schemas.microsoft.com/office/drawing/2014/main" id="{CBD2F7DE-CAED-F007-BF32-43E0D36D2FED}"/>
              </a:ext>
            </a:extLst>
          </p:cNvPr>
          <p:cNvPicPr>
            <a:picLocks noChangeAspect="1"/>
          </p:cNvPicPr>
          <p:nvPr/>
        </p:nvPicPr>
        <p:blipFill>
          <a:blip r:embed="rId5"/>
          <a:stretch>
            <a:fillRect/>
          </a:stretch>
        </p:blipFill>
        <p:spPr>
          <a:xfrm>
            <a:off x="5088430" y="2447044"/>
            <a:ext cx="4053438" cy="2696456"/>
          </a:xfrm>
          <a:prstGeom prst="rect">
            <a:avLst/>
          </a:prstGeom>
        </p:spPr>
      </p:pic>
    </p:spTree>
    <p:extLst>
      <p:ext uri="{BB962C8B-B14F-4D97-AF65-F5344CB8AC3E}">
        <p14:creationId xmlns:p14="http://schemas.microsoft.com/office/powerpoint/2010/main" val="70900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Implications for Particle Transport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00150"/>
                <a:ext cx="8229600" cy="4019919"/>
              </a:xfrm>
            </p:spPr>
            <p:txBody>
              <a:bodyPr>
                <a:normAutofit/>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h</m:t>
                      </m:r>
                      <m:r>
                        <a:rPr>
                          <a:latin typeface="Cambria Math" panose="02040503050406030204" pitchFamily="18" charset="0"/>
                        </a:rPr>
                        <m:t>=</m:t>
                      </m:r>
                      <m:f>
                        <m:fPr>
                          <m:ctrlPr>
                            <a:rPr i="1">
                              <a:latin typeface="Cambria Math" panose="02040503050406030204" pitchFamily="18" charset="0"/>
                            </a:rPr>
                          </m:ctrlPr>
                        </m:fPr>
                        <m:num>
                          <m:sSup>
                            <m:sSupPr>
                              <m:ctrlPr>
                                <a:rPr i="1">
                                  <a:latin typeface="Cambria Math" panose="02040503050406030204" pitchFamily="18" charset="0"/>
                                </a:rPr>
                              </m:ctrlPr>
                            </m:sSupPr>
                            <m:e>
                              <m:r>
                                <a:rPr>
                                  <a:latin typeface="Cambria Math" panose="02040503050406030204" pitchFamily="18" charset="0"/>
                                </a:rPr>
                                <m:t>𝑞</m:t>
                              </m:r>
                            </m:e>
                            <m:sup>
                              <m:r>
                                <a:rPr>
                                  <a:latin typeface="Cambria Math" panose="02040503050406030204" pitchFamily="18" charset="0"/>
                                </a:rPr>
                                <m:t>2</m:t>
                              </m:r>
                            </m:sup>
                          </m:sSup>
                          <m:sSup>
                            <m:sSupPr>
                              <m:ctrlPr>
                                <a:rPr i="1">
                                  <a:latin typeface="Cambria Math" panose="02040503050406030204" pitchFamily="18" charset="0"/>
                                </a:rPr>
                              </m:ctrlPr>
                            </m:sSupPr>
                            <m:e>
                              <m:r>
                                <a:rPr>
                                  <a:latin typeface="Cambria Math" panose="02040503050406030204" pitchFamily="18" charset="0"/>
                                </a:rPr>
                                <m:t>𝐿</m:t>
                              </m:r>
                            </m:e>
                            <m:sup>
                              <m:r>
                                <a:rPr>
                                  <a:latin typeface="Cambria Math" panose="02040503050406030204" pitchFamily="18" charset="0"/>
                                </a:rPr>
                                <m:t>2</m:t>
                              </m:r>
                            </m:sup>
                          </m:sSup>
                          <m:sSubSup>
                            <m:sSubSupPr>
                              <m:ctrlPr>
                                <a:rPr i="1">
                                  <a:latin typeface="Cambria Math" panose="02040503050406030204" pitchFamily="18" charset="0"/>
                                </a:rPr>
                              </m:ctrlPr>
                            </m:sSubSupPr>
                            <m:e>
                              <m:r>
                                <a:rPr>
                                  <a:latin typeface="Cambria Math" panose="02040503050406030204" pitchFamily="18" charset="0"/>
                                </a:rPr>
                                <m:t>𝐵</m:t>
                              </m:r>
                            </m:e>
                            <m:sub>
                              <m:r>
                                <a:rPr>
                                  <a:latin typeface="Cambria Math" panose="02040503050406030204" pitchFamily="18" charset="0"/>
                                </a:rPr>
                                <m:t>𝑡</m:t>
                              </m:r>
                            </m:sub>
                            <m:sup>
                              <m:r>
                                <a:rPr>
                                  <a:latin typeface="Cambria Math" panose="02040503050406030204" pitchFamily="18" charset="0"/>
                                </a:rPr>
                                <m:t>2</m:t>
                              </m:r>
                            </m:sup>
                          </m:sSubSup>
                        </m:num>
                        <m:den>
                          <m:r>
                            <a:rPr>
                              <a:latin typeface="Cambria Math" panose="02040503050406030204" pitchFamily="18" charset="0"/>
                            </a:rPr>
                            <m:t>𝑚</m:t>
                          </m:r>
                          <m:sSup>
                            <m:sSupPr>
                              <m:ctrlPr>
                                <a:rPr i="1">
                                  <a:latin typeface="Cambria Math" panose="02040503050406030204" pitchFamily="18" charset="0"/>
                                </a:rPr>
                              </m:ctrlPr>
                            </m:sSupPr>
                            <m:e>
                              <m:r>
                                <a:rPr>
                                  <a:latin typeface="Cambria Math" panose="02040503050406030204" pitchFamily="18" charset="0"/>
                                </a:rPr>
                                <m:t>𝑐</m:t>
                              </m:r>
                            </m:e>
                            <m:sup>
                              <m:r>
                                <a:rPr>
                                  <a:latin typeface="Cambria Math" panose="02040503050406030204" pitchFamily="18" charset="0"/>
                                </a:rPr>
                                <m:t>2</m:t>
                              </m:r>
                            </m:sup>
                          </m:sSup>
                        </m:den>
                      </m:f>
                    </m:oMath>
                  </m:oMathPara>
                </a14:m>
                <a:endParaRPr dirty="0"/>
              </a:p>
              <a:p>
                <a:pPr marL="0" lvl="0" indent="0">
                  <a:buNone/>
                </a:pPr>
                <a:endParaRPr lang="en-US" dirty="0">
                  <a:latin typeface="Cambria Math" panose="02040503050406030204" pitchFamily="18" charset="0"/>
                </a:endParaRPr>
              </a:p>
              <a:p>
                <a:pPr marL="0" lvl="0" indent="0">
                  <a:buNone/>
                </a:pPr>
                <a14:m>
                  <m:oMath xmlns:m="http://schemas.openxmlformats.org/officeDocument/2006/math">
                    <m:r>
                      <a:rPr>
                        <a:latin typeface="Cambria Math" panose="02040503050406030204" pitchFamily="18" charset="0"/>
                      </a:rPr>
                      <m:t>𝐵</m:t>
                    </m:r>
                    <m:r>
                      <a:rPr>
                        <a:latin typeface="Cambria Math" panose="02040503050406030204" pitchFamily="18" charset="0"/>
                      </a:rPr>
                      <m:t>∼1/</m:t>
                    </m:r>
                    <m:r>
                      <a:rPr>
                        <a:latin typeface="Cambria Math" panose="02040503050406030204" pitchFamily="18" charset="0"/>
                      </a:rPr>
                      <m:t>𝑟</m:t>
                    </m:r>
                  </m:oMath>
                </a14:m>
                <a:r>
                  <a:rPr dirty="0"/>
                  <a:t> and </a:t>
                </a:r>
                <a14:m>
                  <m:oMath xmlns:m="http://schemas.openxmlformats.org/officeDocument/2006/math">
                    <m:r>
                      <a:rPr>
                        <a:latin typeface="Cambria Math" panose="02040503050406030204" pitchFamily="18" charset="0"/>
                      </a:rPr>
                      <m:t>𝐿</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𝑑</m:t>
                        </m:r>
                      </m:e>
                      <m:sub>
                        <m:r>
                          <a:rPr>
                            <a:latin typeface="Cambria Math" panose="02040503050406030204" pitchFamily="18" charset="0"/>
                          </a:rPr>
                          <m:t>𝑖</m:t>
                        </m:r>
                      </m:sub>
                    </m:sSub>
                    <m:r>
                      <a:rPr>
                        <a:latin typeface="Cambria Math" panose="02040503050406030204" pitchFamily="18" charset="0"/>
                      </a:rPr>
                      <m:t> </m:t>
                    </m:r>
                    <m:r>
                      <a:rPr lang="en-US">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𝑛</m:t>
                        </m:r>
                      </m:e>
                      <m:sup>
                        <m:r>
                          <a:rPr>
                            <a:latin typeface="Cambria Math" panose="02040503050406030204" pitchFamily="18" charset="0"/>
                          </a:rPr>
                          <m:t>−1/2</m:t>
                        </m:r>
                      </m:sup>
                    </m:sSup>
                    <m:r>
                      <a:rPr>
                        <a:latin typeface="Cambria Math" panose="02040503050406030204" pitchFamily="18" charset="0"/>
                      </a:rPr>
                      <m:t> </m:t>
                    </m:r>
                    <m:r>
                      <a:rPr lang="en-US">
                        <a:latin typeface="Cambria Math" panose="02040503050406030204" pitchFamily="18" charset="0"/>
                      </a:rPr>
                      <m:t>∼</m:t>
                    </m:r>
                    <m:r>
                      <a:rPr>
                        <a:latin typeface="Cambria Math" panose="02040503050406030204" pitchFamily="18" charset="0"/>
                      </a:rPr>
                      <m:t>𝑟</m:t>
                    </m:r>
                  </m:oMath>
                </a14:m>
                <a:r>
                  <a:rPr dirty="0"/>
                  <a:t> </a:t>
                </a:r>
                <a:endParaRPr lang="en-US" dirty="0"/>
              </a:p>
              <a:p>
                <a:pPr marL="0" lvl="0" indent="0">
                  <a:buNone/>
                </a:pPr>
                <a:endParaRPr lang="en-US" dirty="0"/>
              </a:p>
              <a:p>
                <a:pPr marL="0" lvl="0" indent="0">
                  <a:buNone/>
                </a:pPr>
                <a:r>
                  <a:rPr dirty="0"/>
                  <a:t>=&gt; </a:t>
                </a:r>
                <a:r>
                  <a:rPr lang="en-US" dirty="0"/>
                  <a:t>C</a:t>
                </a:r>
                <a:r>
                  <a:rPr dirty="0"/>
                  <a:t>ontinuous scattering by current sheets during propagation </a:t>
                </a:r>
                <a:endParaRPr lang="en-US" dirty="0"/>
              </a:p>
              <a:p>
                <a:pPr marL="0" lvl="0" indent="0">
                  <a:buNone/>
                </a:pPr>
                <a:r>
                  <a:rPr dirty="0"/>
                  <a:t>=&gt; </a:t>
                </a:r>
                <a:r>
                  <a:rPr lang="en-US" dirty="0"/>
                  <a:t>H</a:t>
                </a:r>
                <a:r>
                  <a:rPr dirty="0"/>
                  <a:t>igher occurrence rate of current sheets closer to the Sun </a:t>
                </a:r>
                <a:endParaRPr lang="en-US" dirty="0"/>
              </a:p>
              <a:p>
                <a:pPr marL="0" lvl="0" indent="0">
                  <a:buNone/>
                </a:pPr>
                <a:r>
                  <a:rPr dirty="0"/>
                  <a:t>=&gt; ???</a:t>
                </a:r>
                <a:r>
                  <a:rPr lang="en-US" dirty="0"/>
                  <a:t> </a:t>
                </a:r>
                <a:r>
                  <a:rPr dirty="0"/>
                  <a:t>Large gradual solar energetic particle events</a:t>
                </a:r>
                <a:r>
                  <a:rPr lang="en-US" dirty="0"/>
                  <a:t> </a:t>
                </a:r>
                <a:r>
                  <a:rP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00150"/>
                <a:ext cx="8229600" cy="4019919"/>
              </a:xfrm>
              <a:blipFill>
                <a:blip r:embed="rId3"/>
                <a:stretch>
                  <a:fillRect l="-1235"/>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A51D-3D1B-75DB-56BD-75E4A88DB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DA96B-C98E-B1F5-C290-958F6B96A644}"/>
              </a:ext>
            </a:extLst>
          </p:cNvPr>
          <p:cNvSpPr>
            <a:spLocks noGrp="1"/>
          </p:cNvSpPr>
          <p:nvPr>
            <p:ph type="title"/>
          </p:nvPr>
        </p:nvSpPr>
        <p:spPr/>
        <p:txBody>
          <a:bodyPr/>
          <a:lstStyle/>
          <a:p>
            <a:pPr marL="0" lvl="0" indent="0">
              <a:buNone/>
            </a:pPr>
            <a:r>
              <a:rPr dirty="0"/>
              <a:t>Part </a:t>
            </a:r>
            <a:r>
              <a:rPr lang="en-US" dirty="0"/>
              <a:t>3</a:t>
            </a:r>
            <a:endParaRPr dirty="0"/>
          </a:p>
        </p:txBody>
      </p:sp>
      <p:sp>
        <p:nvSpPr>
          <p:cNvPr id="3" name="Content Placeholder 2">
            <a:extLst>
              <a:ext uri="{FF2B5EF4-FFF2-40B4-BE49-F238E27FC236}">
                <a16:creationId xmlns:a16="http://schemas.microsoft.com/office/drawing/2014/main" id="{7C46F580-3565-2CB3-8810-E5F613931F8C}"/>
              </a:ext>
            </a:extLst>
          </p:cNvPr>
          <p:cNvSpPr>
            <a:spLocks noGrp="1"/>
          </p:cNvSpPr>
          <p:nvPr>
            <p:ph idx="1"/>
          </p:nvPr>
        </p:nvSpPr>
        <p:spPr/>
        <p:txBody>
          <a:bodyPr>
            <a:normAutofit lnSpcReduction="10000"/>
          </a:bodyPr>
          <a:lstStyle/>
          <a:p>
            <a:pPr marL="0" indent="0">
              <a:buNone/>
            </a:pPr>
            <a:r>
              <a:rPr dirty="0"/>
              <a:t>In the </a:t>
            </a:r>
            <a:r>
              <a:rPr lang="en-US" dirty="0"/>
              <a:t>second </a:t>
            </a:r>
            <a:r>
              <a:rPr dirty="0"/>
              <a:t>part, we</a:t>
            </a:r>
            <a:r>
              <a:rPr lang="en-US" dirty="0"/>
              <a:t> </a:t>
            </a:r>
            <a:r>
              <a:rPr lang="en-US" sz="3000" b="1" i="1" dirty="0"/>
              <a:t>quantified</a:t>
            </a:r>
            <a:r>
              <a:rPr lang="en-US" dirty="0"/>
              <a:t> the pitch-angle scattering by the solar wind current sheets. </a:t>
            </a:r>
          </a:p>
          <a:p>
            <a:pPr marL="0" lvl="0" indent="0">
              <a:buNone/>
            </a:pPr>
            <a:endParaRPr dirty="0">
              <a:solidFill>
                <a:schemeClr val="accent6">
                  <a:lumMod val="75000"/>
                </a:schemeClr>
              </a:solidFill>
            </a:endParaRPr>
          </a:p>
          <a:p>
            <a:pPr marL="0" lvl="0" indent="0">
              <a:buNone/>
            </a:pPr>
            <a:r>
              <a:rPr i="1" dirty="0">
                <a:solidFill>
                  <a:schemeClr val="accent6">
                    <a:lumMod val="75000"/>
                  </a:schemeClr>
                </a:solidFill>
              </a:rPr>
              <a:t>Takeaway </a:t>
            </a:r>
            <a:r>
              <a:rPr lang="en-US" i="1" dirty="0">
                <a:solidFill>
                  <a:schemeClr val="accent6">
                    <a:lumMod val="75000"/>
                  </a:schemeClr>
                </a:solidFill>
              </a:rPr>
              <a:t>2</a:t>
            </a:r>
            <a:r>
              <a:rPr i="1" dirty="0">
                <a:solidFill>
                  <a:schemeClr val="accent6">
                    <a:lumMod val="75000"/>
                  </a:schemeClr>
                </a:solidFill>
              </a:rPr>
              <a:t>:</a:t>
            </a:r>
            <a:r>
              <a:rPr dirty="0">
                <a:solidFill>
                  <a:schemeClr val="accent6">
                    <a:lumMod val="75000"/>
                  </a:schemeClr>
                </a:solidFill>
              </a:rPr>
              <a:t> </a:t>
            </a:r>
            <a:r>
              <a:rPr lang="en-US" dirty="0">
                <a:solidFill>
                  <a:schemeClr val="accent6">
                    <a:lumMod val="75000"/>
                  </a:schemeClr>
                </a:solidFill>
              </a:rPr>
              <a:t>Infrequent but substantial jumps leads to fast mixing in the pitch-angle distribution.</a:t>
            </a:r>
          </a:p>
          <a:p>
            <a:pPr marL="0" lvl="0" indent="0">
              <a:buNone/>
            </a:pPr>
            <a:endParaRPr lang="en-US" dirty="0"/>
          </a:p>
          <a:p>
            <a:pPr marL="0" lvl="0" indent="0">
              <a:buNone/>
            </a:pPr>
            <a:r>
              <a:rPr dirty="0"/>
              <a:t>In the following part, we will </a:t>
            </a:r>
            <a:r>
              <a:rPr lang="en-US" dirty="0"/>
              <a:t>investigate</a:t>
            </a:r>
            <a:r>
              <a:rPr dirty="0"/>
              <a:t> the </a:t>
            </a:r>
            <a:r>
              <a:rPr lang="en-US" dirty="0"/>
              <a:t>spatial transport of energetic particles due to their interaction with </a:t>
            </a:r>
            <a:r>
              <a:rPr dirty="0"/>
              <a:t>current sheets.</a:t>
            </a:r>
          </a:p>
        </p:txBody>
      </p:sp>
    </p:spTree>
    <p:extLst>
      <p:ext uri="{BB962C8B-B14F-4D97-AF65-F5344CB8AC3E}">
        <p14:creationId xmlns:p14="http://schemas.microsoft.com/office/powerpoint/2010/main" val="819268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s/dR_perp.png">
            <a:extLst>
              <a:ext uri="{FF2B5EF4-FFF2-40B4-BE49-F238E27FC236}">
                <a16:creationId xmlns:a16="http://schemas.microsoft.com/office/drawing/2014/main" id="{C5583946-6A69-3FDA-4947-E5269B240B32}"/>
              </a:ext>
            </a:extLst>
          </p:cNvPr>
          <p:cNvPicPr>
            <a:picLocks noGrp="1" noChangeAspect="1"/>
          </p:cNvPicPr>
          <p:nvPr/>
        </p:nvPicPr>
        <p:blipFill>
          <a:blip r:embed="rId2"/>
          <a:stretch>
            <a:fillRect/>
          </a:stretch>
        </p:blipFill>
        <p:spPr bwMode="auto">
          <a:xfrm>
            <a:off x="3848142" y="194632"/>
            <a:ext cx="5231469" cy="3930109"/>
          </a:xfrm>
          <a:prstGeom prst="rect">
            <a:avLst/>
          </a:prstGeom>
          <a:noFill/>
          <a:ln w="9525">
            <a:noFill/>
            <a:headEnd/>
            <a:tailEnd/>
          </a:ln>
        </p:spPr>
      </p:pic>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64389" y="413716"/>
                <a:ext cx="4008782" cy="5121274"/>
              </a:xfrm>
            </p:spPr>
            <p:txBody>
              <a:bodyPr>
                <a:normAutofit/>
              </a:bodyPr>
              <a:lstStyle/>
              <a:p>
                <a:pPr marL="0" lvl="0" indent="0">
                  <a:buNone/>
                </a:pPr>
                <a:r>
                  <a:rPr lang="en-US" dirty="0"/>
                  <a:t>The total time between two consecutive current sheet encounters:</a:t>
                </a:r>
              </a:p>
              <a:p>
                <a:pPr marL="228600" lvl="0" indent="-228600">
                  <a:buAutoNum type="arabicPeriod"/>
                </a:pPr>
                <a:r>
                  <a:rPr lang="en-US" dirty="0"/>
                  <a:t>Time inside the current sheet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𝑐𝑠</m:t>
                        </m:r>
                      </m:sub>
                    </m:sSub>
                  </m:oMath>
                </a14:m>
                <a:r>
                  <a:rPr lang="ar-AE" dirty="0"/>
                  <a:t>, </a:t>
                </a:r>
                <a:r>
                  <a:rPr lang="en-US" dirty="0"/>
                  <a:t>and </a:t>
                </a:r>
              </a:p>
              <a:p>
                <a:pPr marL="228600" lvl="0" indent="-228600">
                  <a:buAutoNum type="arabicPeriod"/>
                </a:pPr>
                <a:r>
                  <a:rPr lang="en-US" dirty="0"/>
                  <a:t>Time spent free-streaming between sheets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𝑓𝑠</m:t>
                        </m:r>
                      </m:sub>
                    </m:sSub>
                    <m:r>
                      <a:rPr lang="ar-AE" b="0" i="0" smtClean="0">
                        <a:latin typeface="Cambria Math" panose="02040503050406030204" pitchFamily="18" charset="0"/>
                      </a:rPr>
                      <m:t>.</m:t>
                    </m:r>
                  </m:oMath>
                </a14:m>
                <a:endParaRPr lang="ar-AE" dirty="0"/>
              </a:p>
              <a:p>
                <a:pPr marL="0" lvl="0" indent="0">
                  <a:buNone/>
                </a:pPr>
                <a:endParaRPr lang="ar-AE"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ar-AE">
                          <a:latin typeface="Cambria Math" panose="02040503050406030204" pitchFamily="18" charset="0"/>
                        </a:rPr>
                        <m:t>𝑇</m:t>
                      </m:r>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𝑐𝑠</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𝑓𝑠</m:t>
                          </m:r>
                        </m:sub>
                      </m:sSub>
                      <m:r>
                        <a:rPr lang="ar-AE">
                          <a:latin typeface="Cambria Math" panose="02040503050406030204" pitchFamily="18" charset="0"/>
                        </a:rPr>
                        <m:t>, </m:t>
                      </m:r>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𝑓𝑠</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𝑓𝑠</m:t>
                              </m:r>
                            </m:sub>
                          </m:sSub>
                        </m:num>
                        <m:den>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e>
                          </m:d>
                        </m:den>
                      </m:f>
                    </m:oMath>
                  </m:oMathPara>
                </a14:m>
                <a:endParaRPr lang="ar-AE" dirty="0"/>
              </a:p>
              <a:p>
                <a:pPr marL="0" lvl="0" indent="0">
                  <a:buNone/>
                </a:pPr>
                <a:endParaRPr lang="ar-AE" dirty="0"/>
              </a:p>
              <a:p>
                <a:pPr marL="0" lvl="0" indent="0">
                  <a:buNone/>
                </a:pPr>
                <a:r>
                  <a:rPr lang="en-US" dirty="0"/>
                  <a:t>In the absence of scattering, the particle would follow the field line and travel a distance:</a:t>
                </a:r>
              </a:p>
              <a:p>
                <a:pPr marL="0" lvl="0" indent="0">
                  <a:buNone/>
                </a:pPr>
                <a:endParaRPr lang="en-US" dirty="0"/>
              </a:p>
              <a:p>
                <a:pPr marL="0" lvl="0" indent="0">
                  <a:buNone/>
                </a:pPr>
                <a14:m>
                  <m:oMathPara xmlns:m="http://schemas.openxmlformats.org/officeDocument/2006/math">
                    <m:oMathParaPr>
                      <m:jc m:val="center"/>
                    </m:oMathParaPr>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𝑠</m:t>
                          </m:r>
                        </m:e>
                        <m:sub>
                          <m:r>
                            <a:rPr lang="ar-AE" sz="1400">
                              <a:latin typeface="Cambria Math" panose="02040503050406030204" pitchFamily="18" charset="0"/>
                            </a:rPr>
                            <m:t>0</m:t>
                          </m:r>
                        </m:sub>
                      </m:sSub>
                      <m:r>
                        <a:rPr lang="ar-AE" sz="1400">
                          <a:latin typeface="Cambria Math" panose="02040503050406030204" pitchFamily="18" charset="0"/>
                        </a:rPr>
                        <m:t>=</m:t>
                      </m:r>
                      <m:d>
                        <m:dPr>
                          <m:begChr m:val="|"/>
                          <m:endChr m:val="|"/>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𝑣</m:t>
                              </m:r>
                            </m:e>
                            <m:sub>
                              <m:r>
                                <a:rPr lang="ar-AE" sz="1400">
                                  <a:latin typeface="Cambria Math" panose="02040503050406030204" pitchFamily="18" charset="0"/>
                                </a:rPr>
                                <m:t>∥,0</m:t>
                              </m:r>
                            </m:sub>
                          </m:sSub>
                        </m:e>
                      </m:d>
                      <m:r>
                        <a:rPr lang="ar-AE" sz="1400">
                          <a:latin typeface="Cambria Math" panose="02040503050406030204" pitchFamily="18" charset="0"/>
                        </a:rPr>
                        <m:t>⋅</m:t>
                      </m:r>
                      <m:r>
                        <a:rPr lang="ar-AE" sz="1400">
                          <a:latin typeface="Cambria Math" panose="02040503050406030204" pitchFamily="18" charset="0"/>
                        </a:rPr>
                        <m:t>𝑇</m:t>
                      </m:r>
                    </m:oMath>
                  </m:oMathPara>
                </a14:m>
                <a:endParaRPr lang="ar-AE" sz="1400" dirty="0"/>
              </a:p>
              <a:p>
                <a:pPr marL="0" lvl="0" indent="0">
                  <a:buNone/>
                </a:pPr>
                <a:endParaRPr lang="ar-AE" dirty="0"/>
              </a:p>
              <a:p>
                <a:pPr marL="0" lvl="0" indent="0">
                  <a:buNone/>
                </a:pPr>
                <a:r>
                  <a:rPr lang="en-US" dirty="0"/>
                  <a:t>However, when scattering occurs, the total distance traveled becomes:</a:t>
                </a:r>
              </a:p>
              <a:p>
                <a:pPr marL="0" lvl="0" indent="0">
                  <a:buNone/>
                </a:pPr>
                <a:endParaRPr lang="en-US"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𝑠</m:t>
                      </m:r>
                      <m:r>
                        <a:rPr lang="en-US">
                          <a:latin typeface="Cambria Math" panose="02040503050406030204" pitchFamily="18" charset="0"/>
                        </a:rPr>
                        <m:t>=</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𝑐𝑠</m:t>
                          </m:r>
                        </m:sub>
                        <m:sup>
                          <m:r>
                            <a:rPr lang="ar-AE">
                              <a:latin typeface="Cambria Math" panose="02040503050406030204" pitchFamily="18" charset="0"/>
                            </a:rPr>
                            <m:t>∗</m:t>
                          </m:r>
                        </m:sup>
                      </m:sSubSup>
                      <m:r>
                        <a:rPr lang="ar-AE">
                          <a:latin typeface="Cambria Math" panose="02040503050406030204" pitchFamily="18" charset="0"/>
                        </a:rPr>
                        <m:t>+</m:t>
                      </m:r>
                      <m:r>
                        <m:rPr>
                          <m:nor/>
                        </m:rPr>
                        <a:rPr lang="en-US" smtClean="0">
                          <a:solidFill>
                            <a:srgbClr val="FF0000"/>
                          </a:solidFill>
                        </a:rPr>
                        <m:t>sign</m:t>
                      </m:r>
                      <m:d>
                        <m:dPr>
                          <m:ctrlPr>
                            <a:rPr lang="ar-AE" i="1">
                              <a:latin typeface="Cambria Math" panose="02040503050406030204" pitchFamily="18" charset="0"/>
                            </a:rPr>
                          </m:ctrlPr>
                        </m:dPr>
                        <m:e>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num>
                            <m:den>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∥,0</m:t>
                                  </m:r>
                                </m:sub>
                              </m:sSub>
                            </m:den>
                          </m:f>
                        </m:e>
                      </m:d>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𝑓𝑠</m:t>
                          </m:r>
                        </m:sub>
                      </m:sSub>
                    </m:oMath>
                  </m:oMathPara>
                </a14:m>
                <a:endParaRPr lang="ar-AE" dirty="0"/>
              </a:p>
              <a:p>
                <a:pPr marL="0" lvl="0" indent="0">
                  <a:buNone/>
                </a:pPr>
                <a:endParaRPr lang="ar-AE" dirty="0"/>
              </a:p>
              <a:p>
                <a:pPr marL="0" lvl="0" indent="0">
                  <a:buNone/>
                </a:pPr>
                <a:endParaRPr lang="ar-AE" dirty="0"/>
              </a:p>
              <a:p>
                <a:pPr marL="0" lvl="0" indent="0">
                  <a:buNone/>
                </a:pPr>
                <a:r>
                  <a:rPr lang="en-US" dirty="0"/>
                  <a:t>The net displacement compared to the unperturbed case is then:</a:t>
                </a:r>
              </a:p>
              <a:p>
                <a:pPr marL="0" lvl="0" indent="0">
                  <a:buNone/>
                </a:pPr>
                <a:endParaRPr lang="en-US" dirty="0"/>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𝛥</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m:t>
                      </m:r>
                      <m:r>
                        <a:rPr lang="ar-AE">
                          <a:latin typeface="Cambria Math" panose="02040503050406030204" pitchFamily="18" charset="0"/>
                        </a:rPr>
                        <m:t>𝑠</m:t>
                      </m:r>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0</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𝑓𝑠</m:t>
                          </m:r>
                        </m:sub>
                      </m:sSub>
                      <m:d>
                        <m:dPr>
                          <m:ctrlPr>
                            <a:rPr lang="ar-AE" i="1">
                              <a:latin typeface="Cambria Math" panose="02040503050406030204" pitchFamily="18" charset="0"/>
                            </a:rPr>
                          </m:ctrlPr>
                        </m:dPr>
                        <m:e>
                          <m:r>
                            <m:rPr>
                              <m:nor/>
                            </m:rPr>
                            <a:rPr lang="en-US"/>
                            <m:t>sign</m:t>
                          </m:r>
                          <m:d>
                            <m:dPr>
                              <m:ctrlPr>
                                <a:rPr lang="ar-AE" i="1">
                                  <a:latin typeface="Cambria Math" panose="02040503050406030204" pitchFamily="18" charset="0"/>
                                </a:rPr>
                              </m:ctrlPr>
                            </m:dPr>
                            <m:e>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num>
                                <m:den>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∥,0</m:t>
                                      </m:r>
                                    </m:sub>
                                  </m:sSub>
                                </m:den>
                              </m:f>
                            </m:e>
                          </m:d>
                          <m:r>
                            <a:rPr lang="ar-AE">
                              <a:latin typeface="Cambria Math" panose="02040503050406030204" pitchFamily="18" charset="0"/>
                            </a:rPr>
                            <m:t>−</m:t>
                          </m:r>
                          <m:f>
                            <m:fPr>
                              <m:ctrlPr>
                                <a:rPr lang="ar-AE" i="1">
                                  <a:latin typeface="Cambria Math" panose="02040503050406030204" pitchFamily="18" charset="0"/>
                                </a:rPr>
                              </m:ctrlPr>
                            </m:fPr>
                            <m:num>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∥,0</m:t>
                                      </m:r>
                                    </m:sub>
                                  </m:sSub>
                                </m:e>
                              </m:d>
                            </m:num>
                            <m:den>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∥,1</m:t>
                                      </m:r>
                                    </m:sub>
                                  </m:sSub>
                                </m:e>
                              </m:d>
                            </m:den>
                          </m:f>
                        </m:e>
                      </m:d>
                      <m:r>
                        <a:rPr lang="ar-AE">
                          <a:latin typeface="Cambria Math" panose="02040503050406030204" pitchFamily="18" charset="0"/>
                        </a:rPr>
                        <m:t>+</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𝑐𝑠</m:t>
                          </m:r>
                        </m:sub>
                        <m:sup>
                          <m:r>
                            <a:rPr lang="ar-AE">
                              <a:latin typeface="Cambria Math" panose="02040503050406030204" pitchFamily="18" charset="0"/>
                            </a:rPr>
                            <m:t>∗</m:t>
                          </m:r>
                        </m:sup>
                      </m:sSubSup>
                      <m:r>
                        <a:rPr lang="ar-AE">
                          <a:latin typeface="Cambria Math" panose="02040503050406030204" pitchFamily="18" charset="0"/>
                        </a:rPr>
                        <m:t>−</m:t>
                      </m:r>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a:latin typeface="Cambria Math" panose="02040503050406030204" pitchFamily="18" charset="0"/>
                                </a:rPr>
                                <m:t>𝑣</m:t>
                              </m:r>
                            </m:e>
                            <m:sub>
                              <m:r>
                                <a:rPr lang="ar-AE">
                                  <a:latin typeface="Cambria Math" panose="02040503050406030204" pitchFamily="18" charset="0"/>
                                </a:rPr>
                                <m:t>∥,0</m:t>
                              </m:r>
                            </m:sub>
                          </m:sSub>
                        </m:e>
                      </m:d>
                      <m:sSub>
                        <m:sSubPr>
                          <m:ctrlPr>
                            <a:rPr lang="ar-AE" i="1">
                              <a:latin typeface="Cambria Math" panose="02040503050406030204" pitchFamily="18" charset="0"/>
                            </a:rPr>
                          </m:ctrlPr>
                        </m:sSubPr>
                        <m:e>
                          <m:r>
                            <a:rPr lang="ar-AE">
                              <a:latin typeface="Cambria Math" panose="02040503050406030204" pitchFamily="18" charset="0"/>
                            </a:rPr>
                            <m:t>𝑇</m:t>
                          </m:r>
                        </m:e>
                        <m:sub>
                          <m:r>
                            <a:rPr lang="ar-AE">
                              <a:latin typeface="Cambria Math" panose="02040503050406030204" pitchFamily="18" charset="0"/>
                            </a:rPr>
                            <m:t>𝑐𝑠</m:t>
                          </m:r>
                        </m:sub>
                      </m:sSub>
                    </m:oMath>
                  </m:oMathPara>
                </a14:m>
                <a:endParaRPr lang="ar-AE" dirty="0"/>
              </a:p>
              <a:p>
                <a:pPr marL="0" lvl="0" indent="0">
                  <a:buNone/>
                </a:pPr>
                <a:endParaRPr dirty="0"/>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64389" y="413716"/>
                <a:ext cx="4008782" cy="5121274"/>
              </a:xfrm>
              <a:blipFill>
                <a:blip r:embed="rId3"/>
                <a:stretch>
                  <a:fillRect/>
                </a:stretch>
              </a:blipFill>
            </p:spPr>
            <p:txBody>
              <a:bodyPr/>
              <a:lstStyle/>
              <a:p>
                <a:r>
                  <a:rPr lang="en-US">
                    <a:noFill/>
                  </a:rPr>
                  <a:t> </a:t>
                </a:r>
              </a:p>
            </p:txBody>
          </p:sp>
        </mc:Fallback>
      </mc:AlternateContent>
      <p:sp>
        <p:nvSpPr>
          <p:cNvPr id="5" name="TextBox 3">
            <a:extLst>
              <a:ext uri="{FF2B5EF4-FFF2-40B4-BE49-F238E27FC236}">
                <a16:creationId xmlns:a16="http://schemas.microsoft.com/office/drawing/2014/main" id="{18E21175-4945-5224-20AB-0EAE75A2A77E}"/>
              </a:ext>
            </a:extLst>
          </p:cNvPr>
          <p:cNvSpPr txBox="1"/>
          <p:nvPr/>
        </p:nvSpPr>
        <p:spPr>
          <a:xfrm>
            <a:off x="3848142" y="4492063"/>
            <a:ext cx="5105400" cy="508000"/>
          </a:xfrm>
          <a:prstGeom prst="rect">
            <a:avLst/>
          </a:prstGeom>
          <a:noFill/>
        </p:spPr>
        <p:txBody>
          <a:bodyPr/>
          <a:lstStyle/>
          <a:p>
            <a:pPr marL="0" lvl="0" indent="0" algn="ctr">
              <a:buNone/>
            </a:pPr>
            <a:r>
              <a:rPr dirty="0"/>
              <a:t>Example trajectory of a particle interacting with a current sheet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6465F7-A6C5-2B57-303B-CCC756F2124B}"/>
                  </a:ext>
                </a:extLst>
              </p:cNvPr>
              <p:cNvSpPr txBox="1"/>
              <p:nvPr/>
            </p:nvSpPr>
            <p:spPr>
              <a:xfrm>
                <a:off x="7414592" y="2571750"/>
                <a:ext cx="616225" cy="381515"/>
              </a:xfrm>
              <a:prstGeom prst="rect">
                <a:avLst/>
              </a:prstGeom>
              <a:noFill/>
            </p:spPr>
            <p:txBody>
              <a:bodyPr wrap="square">
                <a:spAutoFit/>
              </a:bodyPr>
              <a:lstStyle/>
              <a:p>
                <a14:m>
                  <m:oMath xmlns:m="http://schemas.openxmlformats.org/officeDocument/2006/math">
                    <m:sSub>
                      <m:sSubPr>
                        <m:ctrlPr>
                          <a:rPr lang="ar-AE" i="1" smtClean="0">
                            <a:solidFill>
                              <a:srgbClr val="FF0000"/>
                            </a:solidFill>
                            <a:latin typeface="Cambria Math" panose="02040503050406030204" pitchFamily="18" charset="0"/>
                          </a:rPr>
                        </m:ctrlPr>
                      </m:sSubPr>
                      <m:e>
                        <m:r>
                          <a:rPr lang="ar-AE">
                            <a:solidFill>
                              <a:srgbClr val="FF0000"/>
                            </a:solidFill>
                            <a:latin typeface="Cambria Math" panose="02040503050406030204" pitchFamily="18" charset="0"/>
                          </a:rPr>
                          <m:t>𝑣</m:t>
                        </m:r>
                      </m:e>
                      <m:sub>
                        <m:r>
                          <a:rPr lang="ar-AE">
                            <a:solidFill>
                              <a:srgbClr val="FF0000"/>
                            </a:solidFill>
                            <a:latin typeface="Cambria Math" panose="02040503050406030204" pitchFamily="18" charset="0"/>
                          </a:rPr>
                          <m:t>∥,0</m:t>
                        </m:r>
                      </m:sub>
                    </m:sSub>
                  </m:oMath>
                </a14:m>
                <a:r>
                  <a:rPr lang="ar-AE" dirty="0"/>
                  <a:t> </a:t>
                </a:r>
                <a:endParaRPr lang="en-US" dirty="0"/>
              </a:p>
            </p:txBody>
          </p:sp>
        </mc:Choice>
        <mc:Fallback xmlns="">
          <p:sp>
            <p:nvSpPr>
              <p:cNvPr id="9" name="TextBox 8">
                <a:extLst>
                  <a:ext uri="{FF2B5EF4-FFF2-40B4-BE49-F238E27FC236}">
                    <a16:creationId xmlns:a16="http://schemas.microsoft.com/office/drawing/2014/main" id="{FD6465F7-A6C5-2B57-303B-CCC756F2124B}"/>
                  </a:ext>
                </a:extLst>
              </p:cNvPr>
              <p:cNvSpPr txBox="1">
                <a:spLocks noRot="1" noChangeAspect="1" noMove="1" noResize="1" noEditPoints="1" noAdjustHandles="1" noChangeArrowheads="1" noChangeShapeType="1" noTextEdit="1"/>
              </p:cNvSpPr>
              <p:nvPr/>
            </p:nvSpPr>
            <p:spPr>
              <a:xfrm>
                <a:off x="7414592" y="2571750"/>
                <a:ext cx="616225" cy="381515"/>
              </a:xfrm>
              <a:prstGeom prst="rect">
                <a:avLst/>
              </a:prstGeom>
              <a:blipFill>
                <a:blip r:embed="rId4"/>
                <a:stretch>
                  <a:fillRect t="-9677" r="-4000"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A423CCF-C2A6-67A2-4733-931E968A9B69}"/>
                  </a:ext>
                </a:extLst>
              </p:cNvPr>
              <p:cNvSpPr txBox="1"/>
              <p:nvPr/>
            </p:nvSpPr>
            <p:spPr>
              <a:xfrm>
                <a:off x="5127656" y="1018759"/>
                <a:ext cx="616225" cy="381515"/>
              </a:xfrm>
              <a:prstGeom prst="rect">
                <a:avLst/>
              </a:prstGeom>
              <a:noFill/>
            </p:spPr>
            <p:txBody>
              <a:bodyPr wrap="square">
                <a:spAutoFit/>
              </a:bodyPr>
              <a:lstStyle/>
              <a:p>
                <a14:m>
                  <m:oMath xmlns:m="http://schemas.openxmlformats.org/officeDocument/2006/math">
                    <m:sSub>
                      <m:sSubPr>
                        <m:ctrlPr>
                          <a:rPr lang="ar-AE" i="1" smtClean="0">
                            <a:solidFill>
                              <a:srgbClr val="FF0000"/>
                            </a:solidFill>
                            <a:latin typeface="Cambria Math" panose="02040503050406030204" pitchFamily="18" charset="0"/>
                          </a:rPr>
                        </m:ctrlPr>
                      </m:sSubPr>
                      <m:e>
                        <m:r>
                          <a:rPr lang="ar-AE">
                            <a:solidFill>
                              <a:srgbClr val="FF0000"/>
                            </a:solidFill>
                            <a:latin typeface="Cambria Math" panose="02040503050406030204" pitchFamily="18" charset="0"/>
                          </a:rPr>
                          <m:t>𝑣</m:t>
                        </m:r>
                      </m:e>
                      <m:sub>
                        <m:r>
                          <a:rPr lang="ar-AE">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1</m:t>
                        </m:r>
                      </m:sub>
                    </m:sSub>
                  </m:oMath>
                </a14:m>
                <a:r>
                  <a:rPr lang="ar-AE" dirty="0"/>
                  <a:t> </a:t>
                </a:r>
                <a:endParaRPr lang="en-US" dirty="0"/>
              </a:p>
            </p:txBody>
          </p:sp>
        </mc:Choice>
        <mc:Fallback xmlns="">
          <p:sp>
            <p:nvSpPr>
              <p:cNvPr id="10" name="TextBox 9">
                <a:extLst>
                  <a:ext uri="{FF2B5EF4-FFF2-40B4-BE49-F238E27FC236}">
                    <a16:creationId xmlns:a16="http://schemas.microsoft.com/office/drawing/2014/main" id="{8A423CCF-C2A6-67A2-4733-931E968A9B69}"/>
                  </a:ext>
                </a:extLst>
              </p:cNvPr>
              <p:cNvSpPr txBox="1">
                <a:spLocks noRot="1" noChangeAspect="1" noMove="1" noResize="1" noEditPoints="1" noAdjustHandles="1" noChangeArrowheads="1" noChangeShapeType="1" noTextEdit="1"/>
              </p:cNvSpPr>
              <p:nvPr/>
            </p:nvSpPr>
            <p:spPr>
              <a:xfrm>
                <a:off x="5127656" y="1018759"/>
                <a:ext cx="616225" cy="381515"/>
              </a:xfrm>
              <a:prstGeom prst="rect">
                <a:avLst/>
              </a:prstGeom>
              <a:blipFill>
                <a:blip r:embed="rId5"/>
                <a:stretch>
                  <a:fillRect t="-9677" r="-4000" b="-1935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1E8B1B6-A1F0-6A41-BBFE-186155E0700B}"/>
              </a:ext>
            </a:extLst>
          </p:cNvPr>
          <p:cNvSpPr txBox="1"/>
          <p:nvPr/>
        </p:nvSpPr>
        <p:spPr>
          <a:xfrm>
            <a:off x="2014031" y="3783618"/>
            <a:ext cx="2151270" cy="261610"/>
          </a:xfrm>
          <a:prstGeom prst="rect">
            <a:avLst/>
          </a:prstGeom>
          <a:noFill/>
        </p:spPr>
        <p:txBody>
          <a:bodyPr wrap="square" rtlCol="0">
            <a:spAutoFit/>
          </a:bodyPr>
          <a:lstStyle/>
          <a:p>
            <a:r>
              <a:rPr lang="en-US" sz="1100" dirty="0">
                <a:solidFill>
                  <a:srgbClr val="FF0000"/>
                </a:solidFill>
              </a:rPr>
              <a:t>-1 </a:t>
            </a:r>
            <a:r>
              <a:rPr lang="en-US" sz="1100" dirty="0"/>
              <a:t>for reflected particle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48366" y="53009"/>
                <a:ext cx="3008313" cy="4811075"/>
              </a:xfrm>
            </p:spPr>
            <p:txBody>
              <a:bodyPr>
                <a:normAutofit/>
              </a:bodyPr>
              <a:lstStyle/>
              <a:p>
                <a:r>
                  <a:rPr lang="en-US" dirty="0">
                    <a:latin typeface="Cambria Math" panose="02040503050406030204" pitchFamily="18" charset="0"/>
                  </a:rPr>
                  <a:t>Averaged parallel displacements </a:t>
                </a:r>
              </a:p>
              <a:p>
                <a:pPr marL="0" lvl="0" indent="0">
                  <a:buNone/>
                </a:pPr>
                <a:endParaRPr lang="en-US"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&lt;</m:t>
                      </m:r>
                      <m:r>
                        <a:rPr lang="en-US">
                          <a:latin typeface="Cambria Math" panose="02040503050406030204" pitchFamily="18" charset="0"/>
                        </a:rPr>
                        <m:t>𝛥</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&gt;=∫</m:t>
                      </m:r>
                      <m:r>
                        <a:rPr lang="ar-AE">
                          <a:latin typeface="Cambria Math" panose="02040503050406030204" pitchFamily="18" charset="0"/>
                        </a:rPr>
                        <m:t>𝛥</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𝑃</m:t>
                      </m:r>
                      <m:d>
                        <m:dPr>
                          <m:ctrlPr>
                            <a:rPr lang="ar-AE" i="1">
                              <a:latin typeface="Cambria Math" panose="02040503050406030204" pitchFamily="18" charset="0"/>
                            </a:rPr>
                          </m:ctrlPr>
                        </m:dPr>
                        <m:e>
                          <m:r>
                            <a:rPr lang="ar-AE">
                              <a:latin typeface="Cambria Math" panose="02040503050406030204" pitchFamily="18" charset="0"/>
                            </a:rPr>
                            <m:t>𝐯</m:t>
                          </m:r>
                        </m:e>
                      </m:d>
                      <m:r>
                        <a:rPr lang="ar-AE">
                          <a:latin typeface="Cambria Math" panose="02040503050406030204" pitchFamily="18" charset="0"/>
                        </a:rPr>
                        <m:t>𝑑</m:t>
                      </m:r>
                      <m:r>
                        <a:rPr lang="ar-AE">
                          <a:latin typeface="Cambria Math" panose="02040503050406030204" pitchFamily="18" charset="0"/>
                        </a:rPr>
                        <m:t>=2</m:t>
                      </m:r>
                      <m:r>
                        <a:rPr lang="ar-AE">
                          <a:latin typeface="Cambria Math" panose="02040503050406030204" pitchFamily="18" charset="0"/>
                        </a:rPr>
                        <m:t>𝜋</m:t>
                      </m:r>
                      <m:sSup>
                        <m:sSupPr>
                          <m:ctrlPr>
                            <a:rPr lang="ar-AE" i="1">
                              <a:latin typeface="Cambria Math" panose="02040503050406030204" pitchFamily="18" charset="0"/>
                            </a:rPr>
                          </m:ctrlPr>
                        </m:sSupPr>
                        <m:e>
                          <m:r>
                            <a:rPr lang="ar-AE">
                              <a:latin typeface="Cambria Math" panose="02040503050406030204" pitchFamily="18" charset="0"/>
                            </a:rPr>
                            <m:t>𝑣</m:t>
                          </m:r>
                        </m:e>
                        <m:sup>
                          <m:r>
                            <a:rPr lang="ar-AE">
                              <a:latin typeface="Cambria Math" panose="02040503050406030204" pitchFamily="18" charset="0"/>
                            </a:rPr>
                            <m:t>2</m:t>
                          </m:r>
                        </m:sup>
                      </m:sSup>
                      <m:nary>
                        <m:naryPr>
                          <m:limLoc m:val="subSup"/>
                          <m:ctrlPr>
                            <a:rPr lang="ar-AE" i="1">
                              <a:latin typeface="Cambria Math" panose="02040503050406030204" pitchFamily="18" charset="0"/>
                            </a:rPr>
                          </m:ctrlPr>
                        </m:naryPr>
                        <m:sub>
                          <m:r>
                            <a:rPr lang="ar-AE">
                              <a:latin typeface="Cambria Math" panose="02040503050406030204" pitchFamily="18" charset="0"/>
                            </a:rPr>
                            <m:t>0</m:t>
                          </m:r>
                        </m:sub>
                        <m:sup>
                          <m:r>
                            <a:rPr lang="ar-AE">
                              <a:latin typeface="Cambria Math" panose="02040503050406030204" pitchFamily="18" charset="0"/>
                            </a:rPr>
                            <m:t>𝜋</m:t>
                          </m:r>
                        </m:sup>
                        <m:e>
                          <m:r>
                            <a:rPr lang="ar-AE">
                              <a:latin typeface="Cambria Math" panose="02040503050406030204" pitchFamily="18" charset="0"/>
                            </a:rPr>
                            <m:t>𝛥</m:t>
                          </m:r>
                        </m:e>
                      </m:nary>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𝑃</m:t>
                      </m:r>
                      <m:d>
                        <m:dPr>
                          <m:ctrlPr>
                            <a:rPr lang="ar-AE" i="1">
                              <a:latin typeface="Cambria Math" panose="02040503050406030204" pitchFamily="18" charset="0"/>
                            </a:rPr>
                          </m:ctrlPr>
                        </m:dPr>
                        <m:e>
                          <m:r>
                            <a:rPr lang="ar-AE">
                              <a:latin typeface="Cambria Math" panose="02040503050406030204" pitchFamily="18" charset="0"/>
                            </a:rPr>
                            <m:t>𝛼</m:t>
                          </m:r>
                        </m:e>
                      </m:d>
                      <m:r>
                        <m:rPr>
                          <m:sty m:val="p"/>
                        </m:rPr>
                        <a:rPr lang="en-US">
                          <a:latin typeface="Cambria Math" panose="02040503050406030204" pitchFamily="18" charset="0"/>
                        </a:rPr>
                        <m:t>sin</m:t>
                      </m:r>
                      <m:r>
                        <a:rPr lang="en-US">
                          <a:latin typeface="Cambria Math" panose="02040503050406030204" pitchFamily="18" charset="0"/>
                        </a:rPr>
                        <m:t>𝛼</m:t>
                      </m:r>
                      <m:r>
                        <a:rPr lang="en-US">
                          <a:latin typeface="Cambria Math" panose="02040503050406030204" pitchFamily="18" charset="0"/>
                        </a:rPr>
                        <m:t>𝑑</m:t>
                      </m:r>
                      <m:r>
                        <a:rPr lang="en-US">
                          <a:latin typeface="Cambria Math" panose="02040503050406030204" pitchFamily="18" charset="0"/>
                        </a:rPr>
                        <m:t>𝛼</m:t>
                      </m:r>
                    </m:oMath>
                  </m:oMathPara>
                </a14:m>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48366" y="53009"/>
                <a:ext cx="3008313" cy="4811075"/>
              </a:xfrm>
              <a:blipFill>
                <a:blip r:embed="rId2"/>
                <a:stretch>
                  <a:fillRect t="-7105"/>
                </a:stretch>
              </a:blipFill>
            </p:spPr>
            <p:txBody>
              <a:bodyPr/>
              <a:lstStyle/>
              <a:p>
                <a:r>
                  <a:rPr lang="en-US">
                    <a:noFill/>
                  </a:rPr>
                  <a:t> </a:t>
                </a:r>
              </a:p>
            </p:txBody>
          </p:sp>
        </mc:Fallback>
      </mc:AlternateContent>
      <p:pic>
        <p:nvPicPr>
          <p:cNvPr id="2" name="Picture 1" descr="./figures/Δs_β=60.pdf"/>
          <p:cNvPicPr>
            <a:picLocks noGrp="1" noChangeAspect="1"/>
          </p:cNvPicPr>
          <p:nvPr/>
        </p:nvPicPr>
        <p:blipFill>
          <a:blip r:embed="rId3"/>
          <a:stretch>
            <a:fillRect/>
          </a:stretch>
        </p:blipFill>
        <p:spPr bwMode="auto">
          <a:xfrm>
            <a:off x="3763065" y="327991"/>
            <a:ext cx="5105400" cy="4570896"/>
          </a:xfrm>
          <a:prstGeom prst="rect">
            <a:avLst/>
          </a:prstGeom>
          <a:noFill/>
          <a:ln w="9525">
            <a:noFill/>
            <a:headEnd/>
            <a:tailEnd/>
          </a:ln>
        </p:spPr>
      </p:pic>
      <p:pic>
        <p:nvPicPr>
          <p:cNvPr id="6" name="Content Placeholder 8" descr="./figures/pa_cdf.png">
            <a:extLst>
              <a:ext uri="{FF2B5EF4-FFF2-40B4-BE49-F238E27FC236}">
                <a16:creationId xmlns:a16="http://schemas.microsoft.com/office/drawing/2014/main" id="{C3292400-6CF5-6230-5A7D-07EB7A78C9F1}"/>
              </a:ext>
            </a:extLst>
          </p:cNvPr>
          <p:cNvPicPr>
            <a:picLocks noGrp="1" noChangeAspect="1"/>
          </p:cNvPicPr>
          <p:nvPr>
            <p:ph idx="1"/>
          </p:nvPr>
        </p:nvPicPr>
        <p:blipFill>
          <a:blip r:embed="rId4"/>
          <a:stretch>
            <a:fillRect/>
          </a:stretch>
        </p:blipFill>
        <p:spPr bwMode="auto">
          <a:xfrm>
            <a:off x="107417" y="710140"/>
            <a:ext cx="3256633" cy="2442475"/>
          </a:xfrm>
          <a:prstGeom prst="rect">
            <a:avLst/>
          </a:prstGeom>
          <a:noFill/>
          <a:ln w="9525">
            <a:noFill/>
            <a:headEnd/>
            <a:tailEnd/>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4B9563-8359-3181-E989-76BD5BA3061F}"/>
                  </a:ext>
                </a:extLst>
              </p:cNvPr>
              <p:cNvSpPr txBox="1"/>
              <p:nvPr/>
            </p:nvSpPr>
            <p:spPr>
              <a:xfrm>
                <a:off x="1246395" y="2163205"/>
                <a:ext cx="4020476" cy="600164"/>
              </a:xfrm>
              <a:prstGeom prst="rect">
                <a:avLst/>
              </a:prstGeom>
              <a:noFill/>
            </p:spPr>
            <p:txBody>
              <a:bodyPr wrap="square">
                <a:spAutoFit/>
              </a:bodyPr>
              <a:lstStyle/>
              <a:p>
                <a:pPr marL="0" lvl="0" indent="0">
                  <a:buNone/>
                </a:pPr>
                <a14:m>
                  <m:oMathPara xmlns:m="http://schemas.openxmlformats.org/officeDocument/2006/math">
                    <m:oMathParaPr>
                      <m:jc m:val="centerGroup"/>
                    </m:oMathParaPr>
                    <m:oMath xmlns:m="http://schemas.openxmlformats.org/officeDocument/2006/math">
                      <m:r>
                        <a:rPr lang="en-US" sz="1100" smtClean="0">
                          <a:solidFill>
                            <a:srgbClr val="FF0000"/>
                          </a:solidFill>
                          <a:latin typeface="Cambria Math" panose="02040503050406030204" pitchFamily="18" charset="0"/>
                        </a:rPr>
                        <m:t>𝑃</m:t>
                      </m:r>
                      <m:d>
                        <m:dPr>
                          <m:ctrlPr>
                            <a:rPr lang="ar-AE" sz="1100" i="1">
                              <a:solidFill>
                                <a:srgbClr val="FF0000"/>
                              </a:solidFill>
                              <a:latin typeface="Cambria Math" panose="02040503050406030204" pitchFamily="18" charset="0"/>
                            </a:rPr>
                          </m:ctrlPr>
                        </m:dPr>
                        <m:e>
                          <m:r>
                            <a:rPr lang="ar-AE" sz="1100">
                              <a:solidFill>
                                <a:srgbClr val="FF0000"/>
                              </a:solidFill>
                              <a:latin typeface="Cambria Math" panose="02040503050406030204" pitchFamily="18" charset="0"/>
                            </a:rPr>
                            <m:t>𝛼</m:t>
                          </m:r>
                        </m:e>
                      </m:d>
                      <m:r>
                        <a:rPr lang="ar-AE" sz="1100">
                          <a:solidFill>
                            <a:srgbClr val="FF0000"/>
                          </a:solidFill>
                          <a:latin typeface="Cambria Math" panose="02040503050406030204" pitchFamily="18" charset="0"/>
                        </a:rPr>
                        <m:t>𝑑</m:t>
                      </m:r>
                      <m:r>
                        <a:rPr lang="ar-AE" sz="1100">
                          <a:solidFill>
                            <a:srgbClr val="FF0000"/>
                          </a:solidFill>
                          <a:latin typeface="Cambria Math" panose="02040503050406030204" pitchFamily="18" charset="0"/>
                        </a:rPr>
                        <m:t>𝛼</m:t>
                      </m:r>
                      <m:r>
                        <a:rPr lang="ar-AE" sz="1100">
                          <a:solidFill>
                            <a:srgbClr val="FF0000"/>
                          </a:solidFill>
                          <a:latin typeface="Cambria Math" panose="02040503050406030204" pitchFamily="18" charset="0"/>
                        </a:rPr>
                        <m:t>=</m:t>
                      </m:r>
                      <m:r>
                        <a:rPr lang="ar-AE" sz="1100">
                          <a:solidFill>
                            <a:srgbClr val="FF0000"/>
                          </a:solidFill>
                          <a:latin typeface="Cambria Math" panose="02040503050406030204" pitchFamily="18" charset="0"/>
                        </a:rPr>
                        <m:t>𝑑</m:t>
                      </m:r>
                      <m:d>
                        <m:dPr>
                          <m:ctrlPr>
                            <a:rPr lang="ar-AE" sz="1100" i="1">
                              <a:solidFill>
                                <a:srgbClr val="FF0000"/>
                              </a:solidFill>
                              <a:latin typeface="Cambria Math" panose="02040503050406030204" pitchFamily="18" charset="0"/>
                            </a:rPr>
                          </m:ctrlPr>
                        </m:dPr>
                        <m:e>
                          <m:sSup>
                            <m:sSupPr>
                              <m:ctrlPr>
                                <a:rPr lang="ar-AE" sz="1100" i="1">
                                  <a:solidFill>
                                    <a:srgbClr val="FF0000"/>
                                  </a:solidFill>
                                  <a:latin typeface="Cambria Math" panose="02040503050406030204" pitchFamily="18" charset="0"/>
                                </a:rPr>
                              </m:ctrlPr>
                            </m:sSupPr>
                            <m:e>
                              <m:r>
                                <m:rPr>
                                  <m:sty m:val="p"/>
                                </m:rPr>
                                <a:rPr lang="en-US" sz="1100">
                                  <a:solidFill>
                                    <a:srgbClr val="FF0000"/>
                                  </a:solidFill>
                                  <a:latin typeface="Cambria Math" panose="02040503050406030204" pitchFamily="18" charset="0"/>
                                </a:rPr>
                                <m:t>sin</m:t>
                              </m:r>
                            </m:e>
                            <m:sup>
                              <m:r>
                                <a:rPr lang="ar-AE" sz="1100">
                                  <a:solidFill>
                                    <a:srgbClr val="FF0000"/>
                                  </a:solidFill>
                                  <a:latin typeface="Cambria Math" panose="02040503050406030204" pitchFamily="18" charset="0"/>
                                </a:rPr>
                                <m:t>2</m:t>
                              </m:r>
                            </m:sup>
                          </m:sSup>
                          <m:r>
                            <a:rPr lang="ar-AE" sz="1100">
                              <a:solidFill>
                                <a:srgbClr val="FF0000"/>
                              </a:solidFill>
                              <a:latin typeface="Cambria Math" panose="02040503050406030204" pitchFamily="18" charset="0"/>
                            </a:rPr>
                            <m:t>𝛼</m:t>
                          </m:r>
                        </m:e>
                      </m:d>
                      <m:r>
                        <a:rPr lang="en-US" sz="1100" b="0" i="0" smtClean="0">
                          <a:solidFill>
                            <a:srgbClr val="FF0000"/>
                          </a:solidFill>
                          <a:latin typeface="Cambria Math" panose="02040503050406030204" pitchFamily="18" charset="0"/>
                        </a:rPr>
                        <m:t>  </m:t>
                      </m:r>
                      <m:r>
                        <a:rPr lang="ar-AE" sz="1100">
                          <a:solidFill>
                            <a:srgbClr val="FF0000"/>
                          </a:solidFill>
                          <a:latin typeface="Cambria Math" panose="02040503050406030204" pitchFamily="18" charset="0"/>
                        </a:rPr>
                        <m:t>=&gt;</m:t>
                      </m:r>
                    </m:oMath>
                  </m:oMathPara>
                </a14:m>
                <a:endParaRPr lang="ar-AE" sz="1100" dirty="0">
                  <a:solidFill>
                    <a:srgbClr val="FF0000"/>
                  </a:solidFill>
                  <a:latin typeface="Cambria Math" panose="02040503050406030204" pitchFamily="18" charset="0"/>
                </a:endParaRPr>
              </a:p>
              <a:p>
                <a:pPr marL="0" lvl="0" indent="0">
                  <a:buNone/>
                </a:pPr>
                <a:endParaRPr lang="en-US" sz="1100" dirty="0">
                  <a:solidFill>
                    <a:srgbClr val="FF0000"/>
                  </a:solidFill>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ar-AE" sz="1100">
                          <a:solidFill>
                            <a:srgbClr val="FF0000"/>
                          </a:solidFill>
                          <a:latin typeface="Cambria Math" panose="02040503050406030204" pitchFamily="18" charset="0"/>
                        </a:rPr>
                        <m:t>𝑃</m:t>
                      </m:r>
                      <m:d>
                        <m:dPr>
                          <m:ctrlPr>
                            <a:rPr lang="ar-AE" sz="1100" i="1">
                              <a:solidFill>
                                <a:srgbClr val="FF0000"/>
                              </a:solidFill>
                              <a:latin typeface="Cambria Math" panose="02040503050406030204" pitchFamily="18" charset="0"/>
                            </a:rPr>
                          </m:ctrlPr>
                        </m:dPr>
                        <m:e>
                          <m:r>
                            <a:rPr lang="ar-AE" sz="1100">
                              <a:solidFill>
                                <a:srgbClr val="FF0000"/>
                              </a:solidFill>
                              <a:latin typeface="Cambria Math" panose="02040503050406030204" pitchFamily="18" charset="0"/>
                            </a:rPr>
                            <m:t>𝛼</m:t>
                          </m:r>
                        </m:e>
                      </m:d>
                      <m:r>
                        <a:rPr lang="ar-AE" sz="1100">
                          <a:solidFill>
                            <a:srgbClr val="FF0000"/>
                          </a:solidFill>
                          <a:latin typeface="Cambria Math" panose="02040503050406030204" pitchFamily="18" charset="0"/>
                        </a:rPr>
                        <m:t>=</m:t>
                      </m:r>
                      <m:r>
                        <m:rPr>
                          <m:sty m:val="p"/>
                        </m:rPr>
                        <a:rPr lang="en-US" sz="1100">
                          <a:solidFill>
                            <a:srgbClr val="FF0000"/>
                          </a:solidFill>
                          <a:latin typeface="Cambria Math" panose="02040503050406030204" pitchFamily="18" charset="0"/>
                        </a:rPr>
                        <m:t>sin</m:t>
                      </m:r>
                      <m:r>
                        <a:rPr lang="en-US" sz="1100">
                          <a:solidFill>
                            <a:srgbClr val="FF0000"/>
                          </a:solidFill>
                          <a:latin typeface="Cambria Math" panose="02040503050406030204" pitchFamily="18" charset="0"/>
                        </a:rPr>
                        <m:t>𝛼</m:t>
                      </m:r>
                      <m:d>
                        <m:dPr>
                          <m:begChr m:val="|"/>
                          <m:endChr m:val="|"/>
                          <m:ctrlPr>
                            <a:rPr lang="ar-AE" sz="1100" i="1">
                              <a:solidFill>
                                <a:srgbClr val="FF0000"/>
                              </a:solidFill>
                              <a:latin typeface="Cambria Math" panose="02040503050406030204" pitchFamily="18" charset="0"/>
                            </a:rPr>
                          </m:ctrlPr>
                        </m:dPr>
                        <m:e>
                          <m:r>
                            <m:rPr>
                              <m:sty m:val="p"/>
                            </m:rPr>
                            <a:rPr lang="en-US" sz="1100">
                              <a:solidFill>
                                <a:srgbClr val="FF0000"/>
                              </a:solidFill>
                              <a:latin typeface="Cambria Math" panose="02040503050406030204" pitchFamily="18" charset="0"/>
                            </a:rPr>
                            <m:t>cos</m:t>
                          </m:r>
                          <m:r>
                            <a:rPr lang="en-US" sz="1100">
                              <a:solidFill>
                                <a:srgbClr val="FF0000"/>
                              </a:solidFill>
                              <a:latin typeface="Cambria Math" panose="02040503050406030204" pitchFamily="18" charset="0"/>
                            </a:rPr>
                            <m:t>𝛼</m:t>
                          </m:r>
                        </m:e>
                      </m:d>
                    </m:oMath>
                  </m:oMathPara>
                </a14:m>
                <a:endParaRPr lang="en-US" sz="1100" dirty="0">
                  <a:solidFill>
                    <a:srgbClr val="FF0000"/>
                  </a:solidFill>
                </a:endParaRPr>
              </a:p>
            </p:txBody>
          </p:sp>
        </mc:Choice>
        <mc:Fallback xmlns="">
          <p:sp>
            <p:nvSpPr>
              <p:cNvPr id="8" name="TextBox 7">
                <a:extLst>
                  <a:ext uri="{FF2B5EF4-FFF2-40B4-BE49-F238E27FC236}">
                    <a16:creationId xmlns:a16="http://schemas.microsoft.com/office/drawing/2014/main" id="{B44B9563-8359-3181-E989-76BD5BA3061F}"/>
                  </a:ext>
                </a:extLst>
              </p:cNvPr>
              <p:cNvSpPr txBox="1">
                <a:spLocks noRot="1" noChangeAspect="1" noMove="1" noResize="1" noEditPoints="1" noAdjustHandles="1" noChangeArrowheads="1" noChangeShapeType="1" noTextEdit="1"/>
              </p:cNvSpPr>
              <p:nvPr/>
            </p:nvSpPr>
            <p:spPr>
              <a:xfrm>
                <a:off x="1246395" y="2163205"/>
                <a:ext cx="4020476" cy="6001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34ED04-AFBA-6F35-AFC7-35CDAF7A70F3}"/>
                  </a:ext>
                </a:extLst>
              </p:cNvPr>
              <p:cNvSpPr txBox="1"/>
              <p:nvPr/>
            </p:nvSpPr>
            <p:spPr>
              <a:xfrm>
                <a:off x="203709" y="2980295"/>
                <a:ext cx="4607338" cy="2101344"/>
              </a:xfrm>
              <a:prstGeom prst="rect">
                <a:avLst/>
              </a:prstGeom>
              <a:noFill/>
            </p:spPr>
            <p:txBody>
              <a:bodyPr wrap="square">
                <a:spAutoFit/>
              </a:bodyPr>
              <a:lstStyle/>
              <a:p>
                <a:pPr marL="0" lvl="0" indent="0">
                  <a:buNone/>
                </a:pPr>
                <a:endParaRPr lang="en-US" sz="1100" dirty="0">
                  <a:latin typeface="Cambria Math" panose="02040503050406030204" pitchFamily="18" charset="0"/>
                </a:endParaRPr>
              </a:p>
              <a:p>
                <a:pPr lvl="0"/>
                <a14:m>
                  <m:oMathPara xmlns:m="http://schemas.openxmlformats.org/officeDocument/2006/math">
                    <m:oMathParaPr>
                      <m:jc m:val="center"/>
                    </m:oMathParaPr>
                    <m:oMath xmlns:m="http://schemas.openxmlformats.org/officeDocument/2006/math">
                      <m:r>
                        <a:rPr lang="en-US" sz="1100">
                          <a:latin typeface="Cambria Math" panose="02040503050406030204" pitchFamily="18" charset="0"/>
                        </a:rPr>
                        <m:t>&lt;</m:t>
                      </m:r>
                      <m:r>
                        <a:rPr lang="en-US" sz="1100">
                          <a:latin typeface="Cambria Math" panose="02040503050406030204" pitchFamily="18" charset="0"/>
                        </a:rPr>
                        <m:t>𝛥</m:t>
                      </m:r>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sub>
                      </m:sSub>
                      <m:r>
                        <a:rPr lang="ar-AE" sz="1100">
                          <a:latin typeface="Cambria Math" panose="02040503050406030204" pitchFamily="18" charset="0"/>
                        </a:rPr>
                        <m:t>&gt;</m:t>
                      </m:r>
                      <m:r>
                        <a:rPr lang="en-US" sz="1100" b="0" i="0" smtClean="0">
                          <a:latin typeface="Cambria Math" panose="02040503050406030204" pitchFamily="18" charset="0"/>
                        </a:rPr>
                        <m:t> </m:t>
                      </m:r>
                      <m:r>
                        <a:rPr lang="ar-AE" sz="1100" smtClean="0">
                          <a:latin typeface="Cambria Math" panose="02040503050406030204" pitchFamily="18" charset="0"/>
                        </a:rPr>
                        <m:t>∝</m:t>
                      </m:r>
                      <m:r>
                        <a:rPr lang="en-US" sz="1100" b="0" i="1" smtClean="0">
                          <a:latin typeface="Cambria Math" panose="02040503050406030204" pitchFamily="18" charset="0"/>
                        </a:rPr>
                        <m:t> </m:t>
                      </m:r>
                      <m:nary>
                        <m:naryPr>
                          <m:limLoc m:val="subSup"/>
                          <m:ctrlPr>
                            <a:rPr lang="ar-AE" sz="1100" i="1">
                              <a:latin typeface="Cambria Math" panose="02040503050406030204" pitchFamily="18" charset="0"/>
                            </a:rPr>
                          </m:ctrlPr>
                        </m:naryPr>
                        <m:sub>
                          <m:r>
                            <a:rPr lang="ar-AE" sz="1100">
                              <a:latin typeface="Cambria Math" panose="02040503050406030204" pitchFamily="18" charset="0"/>
                            </a:rPr>
                            <m:t>0</m:t>
                          </m:r>
                        </m:sub>
                        <m:sup>
                          <m:r>
                            <a:rPr lang="ar-AE" sz="1100">
                              <a:latin typeface="Cambria Math" panose="02040503050406030204" pitchFamily="18" charset="0"/>
                            </a:rPr>
                            <m:t>𝜋</m:t>
                          </m:r>
                        </m:sup>
                        <m:e>
                          <m:r>
                            <a:rPr lang="ar-AE" sz="1100">
                              <a:latin typeface="Cambria Math" panose="02040503050406030204" pitchFamily="18" charset="0"/>
                            </a:rPr>
                            <m:t>𝛥</m:t>
                          </m:r>
                        </m:e>
                      </m:nary>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sub>
                      </m:sSub>
                      <m:d>
                        <m:dPr>
                          <m:begChr m:val="|"/>
                          <m:endChr m:val="|"/>
                          <m:ctrlPr>
                            <a:rPr lang="ar-AE" sz="1100" i="1">
                              <a:latin typeface="Cambria Math" panose="02040503050406030204" pitchFamily="18" charset="0"/>
                            </a:rPr>
                          </m:ctrlPr>
                        </m:dPr>
                        <m:e>
                          <m:r>
                            <m:rPr>
                              <m:sty m:val="p"/>
                            </m:rPr>
                            <a:rPr lang="en-US" sz="1100">
                              <a:latin typeface="Cambria Math" panose="02040503050406030204" pitchFamily="18" charset="0"/>
                            </a:rPr>
                            <m:t>cos</m:t>
                          </m:r>
                          <m:r>
                            <a:rPr lang="en-US" sz="1100">
                              <a:latin typeface="Cambria Math" panose="02040503050406030204" pitchFamily="18" charset="0"/>
                            </a:rPr>
                            <m:t>𝛼</m:t>
                          </m:r>
                        </m:e>
                      </m:d>
                      <m:sSup>
                        <m:sSupPr>
                          <m:ctrlPr>
                            <a:rPr lang="ar-AE" sz="1100" i="1">
                              <a:latin typeface="Cambria Math" panose="02040503050406030204" pitchFamily="18" charset="0"/>
                            </a:rPr>
                          </m:ctrlPr>
                        </m:sSupPr>
                        <m:e>
                          <m:r>
                            <m:rPr>
                              <m:sty m:val="p"/>
                            </m:rPr>
                            <a:rPr lang="en-US" sz="1100">
                              <a:latin typeface="Cambria Math" panose="02040503050406030204" pitchFamily="18" charset="0"/>
                            </a:rPr>
                            <m:t>sin</m:t>
                          </m:r>
                        </m:e>
                        <m:sup>
                          <m:r>
                            <a:rPr lang="ar-AE" sz="1100">
                              <a:latin typeface="Cambria Math" panose="02040503050406030204" pitchFamily="18" charset="0"/>
                            </a:rPr>
                            <m:t>2</m:t>
                          </m:r>
                        </m:sup>
                      </m:sSup>
                      <m:r>
                        <a:rPr lang="ar-AE" sz="1100">
                          <a:latin typeface="Cambria Math" panose="02040503050406030204" pitchFamily="18" charset="0"/>
                        </a:rPr>
                        <m:t>𝛼</m:t>
                      </m:r>
                      <m:r>
                        <a:rPr lang="ar-AE" sz="1100">
                          <a:latin typeface="Cambria Math" panose="02040503050406030204" pitchFamily="18" charset="0"/>
                        </a:rPr>
                        <m:t>𝑑</m:t>
                      </m:r>
                      <m:r>
                        <a:rPr lang="ar-AE" sz="1100">
                          <a:latin typeface="Cambria Math" panose="02040503050406030204" pitchFamily="18" charset="0"/>
                        </a:rPr>
                        <m:t>𝛼</m:t>
                      </m:r>
                    </m:oMath>
                  </m:oMathPara>
                </a14:m>
                <a:endParaRPr lang="ar-AE" sz="1100" dirty="0"/>
              </a:p>
              <a:p>
                <a:pPr marL="0" lvl="0" indent="0">
                  <a:buNone/>
                </a:pPr>
                <a:r>
                  <a:rPr lang="en-US" sz="1100" dirty="0"/>
                  <a:t>Given </a:t>
                </a:r>
                <a14:m>
                  <m:oMath xmlns:m="http://schemas.openxmlformats.org/officeDocument/2006/math">
                    <m:r>
                      <a:rPr lang="en-US" sz="1100">
                        <a:latin typeface="Cambria Math" panose="02040503050406030204" pitchFamily="18" charset="0"/>
                      </a:rPr>
                      <m:t>𝜇</m:t>
                    </m:r>
                    <m:r>
                      <a:rPr lang="en-US" sz="1100">
                        <a:latin typeface="Cambria Math" panose="02040503050406030204" pitchFamily="18" charset="0"/>
                      </a:rPr>
                      <m:t>=</m:t>
                    </m:r>
                    <m:r>
                      <m:rPr>
                        <m:sty m:val="p"/>
                      </m:rPr>
                      <a:rPr lang="en-US" sz="1100">
                        <a:latin typeface="Cambria Math" panose="02040503050406030204" pitchFamily="18" charset="0"/>
                      </a:rPr>
                      <m:t>cos</m:t>
                    </m:r>
                    <m:r>
                      <a:rPr lang="en-US" sz="1100">
                        <a:latin typeface="Cambria Math" panose="02040503050406030204" pitchFamily="18" charset="0"/>
                      </a:rPr>
                      <m:t>𝛼</m:t>
                    </m:r>
                  </m:oMath>
                </a14:m>
                <a:r>
                  <a:rPr lang="en-US" sz="1100" dirty="0"/>
                  <a:t>, we have:</a:t>
                </a:r>
              </a:p>
              <a:p>
                <a:pPr marL="0" lvl="0" indent="0">
                  <a:buNone/>
                </a:pPr>
                <a14:m>
                  <m:oMathPara xmlns:m="http://schemas.openxmlformats.org/officeDocument/2006/math">
                    <m:oMathParaPr>
                      <m:jc m:val="center"/>
                    </m:oMathParaPr>
                    <m:oMath xmlns:m="http://schemas.openxmlformats.org/officeDocument/2006/math">
                      <m:nary>
                        <m:naryPr>
                          <m:limLoc m:val="subSup"/>
                          <m:ctrlPr>
                            <a:rPr lang="ar-AE" sz="1100" i="1">
                              <a:latin typeface="Cambria Math" panose="02040503050406030204" pitchFamily="18" charset="0"/>
                            </a:rPr>
                          </m:ctrlPr>
                        </m:naryPr>
                        <m:sub>
                          <m:r>
                            <a:rPr lang="ar-AE" sz="1100">
                              <a:latin typeface="Cambria Math" panose="02040503050406030204" pitchFamily="18" charset="0"/>
                            </a:rPr>
                            <m:t>0</m:t>
                          </m:r>
                        </m:sub>
                        <m:sup>
                          <m:r>
                            <a:rPr lang="ar-AE" sz="1100">
                              <a:latin typeface="Cambria Math" panose="02040503050406030204" pitchFamily="18" charset="0"/>
                            </a:rPr>
                            <m:t>𝜋</m:t>
                          </m:r>
                        </m:sup>
                        <m:e>
                          <m:r>
                            <a:rPr lang="ar-AE" sz="1100">
                              <a:latin typeface="Cambria Math" panose="02040503050406030204" pitchFamily="18" charset="0"/>
                            </a:rPr>
                            <m:t>𝛥</m:t>
                          </m:r>
                        </m:e>
                      </m:nary>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sub>
                      </m:sSub>
                      <m:d>
                        <m:dPr>
                          <m:begChr m:val="|"/>
                          <m:endChr m:val="|"/>
                          <m:ctrlPr>
                            <a:rPr lang="ar-AE" sz="1100" i="1">
                              <a:latin typeface="Cambria Math" panose="02040503050406030204" pitchFamily="18" charset="0"/>
                            </a:rPr>
                          </m:ctrlPr>
                        </m:dPr>
                        <m:e>
                          <m:r>
                            <m:rPr>
                              <m:sty m:val="p"/>
                            </m:rPr>
                            <a:rPr lang="en-US" sz="1100">
                              <a:latin typeface="Cambria Math" panose="02040503050406030204" pitchFamily="18" charset="0"/>
                            </a:rPr>
                            <m:t>cos</m:t>
                          </m:r>
                          <m:r>
                            <a:rPr lang="en-US" sz="1100">
                              <a:latin typeface="Cambria Math" panose="02040503050406030204" pitchFamily="18" charset="0"/>
                            </a:rPr>
                            <m:t>𝛼</m:t>
                          </m:r>
                        </m:e>
                      </m:d>
                      <m:sSup>
                        <m:sSupPr>
                          <m:ctrlPr>
                            <a:rPr lang="ar-AE" sz="1100" i="1">
                              <a:latin typeface="Cambria Math" panose="02040503050406030204" pitchFamily="18" charset="0"/>
                            </a:rPr>
                          </m:ctrlPr>
                        </m:sSupPr>
                        <m:e>
                          <m:r>
                            <m:rPr>
                              <m:sty m:val="p"/>
                            </m:rPr>
                            <a:rPr lang="en-US" sz="1100">
                              <a:latin typeface="Cambria Math" panose="02040503050406030204" pitchFamily="18" charset="0"/>
                            </a:rPr>
                            <m:t>sin</m:t>
                          </m:r>
                        </m:e>
                        <m:sup>
                          <m:r>
                            <a:rPr lang="ar-AE" sz="1100">
                              <a:latin typeface="Cambria Math" panose="02040503050406030204" pitchFamily="18" charset="0"/>
                            </a:rPr>
                            <m:t>2</m:t>
                          </m:r>
                        </m:sup>
                      </m:sSup>
                      <m:r>
                        <a:rPr lang="ar-AE" sz="1100">
                          <a:latin typeface="Cambria Math" panose="02040503050406030204" pitchFamily="18" charset="0"/>
                        </a:rPr>
                        <m:t>𝛼</m:t>
                      </m:r>
                      <m:r>
                        <a:rPr lang="ar-AE" sz="1100">
                          <a:latin typeface="Cambria Math" panose="02040503050406030204" pitchFamily="18" charset="0"/>
                        </a:rPr>
                        <m:t>𝑑</m:t>
                      </m:r>
                      <m:r>
                        <a:rPr lang="ar-AE" sz="1100">
                          <a:latin typeface="Cambria Math" panose="02040503050406030204" pitchFamily="18" charset="0"/>
                        </a:rPr>
                        <m:t>𝛼</m:t>
                      </m:r>
                      <m:r>
                        <a:rPr lang="ar-AE" sz="1100">
                          <a:latin typeface="Cambria Math" panose="02040503050406030204" pitchFamily="18" charset="0"/>
                        </a:rPr>
                        <m:t>=</m:t>
                      </m:r>
                      <m:nary>
                        <m:naryPr>
                          <m:limLoc m:val="subSup"/>
                          <m:ctrlPr>
                            <a:rPr lang="ar-AE" sz="1100" i="1">
                              <a:latin typeface="Cambria Math" panose="02040503050406030204" pitchFamily="18" charset="0"/>
                            </a:rPr>
                          </m:ctrlPr>
                        </m:naryPr>
                        <m:sub>
                          <m:r>
                            <a:rPr lang="ar-AE" sz="1100">
                              <a:latin typeface="Cambria Math" panose="02040503050406030204" pitchFamily="18" charset="0"/>
                            </a:rPr>
                            <m:t>−1</m:t>
                          </m:r>
                        </m:sub>
                        <m:sup>
                          <m:r>
                            <a:rPr lang="ar-AE" sz="1100">
                              <a:latin typeface="Cambria Math" panose="02040503050406030204" pitchFamily="18" charset="0"/>
                            </a:rPr>
                            <m:t>1</m:t>
                          </m:r>
                        </m:sup>
                        <m:e>
                          <m:r>
                            <a:rPr lang="ar-AE" sz="1100">
                              <a:latin typeface="Cambria Math" panose="02040503050406030204" pitchFamily="18" charset="0"/>
                            </a:rPr>
                            <m:t>𝛥</m:t>
                          </m:r>
                        </m:e>
                      </m:nary>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sub>
                      </m:sSub>
                      <m:d>
                        <m:dPr>
                          <m:begChr m:val="|"/>
                          <m:endChr m:val="|"/>
                          <m:ctrlPr>
                            <a:rPr lang="ar-AE" sz="1100" i="1">
                              <a:latin typeface="Cambria Math" panose="02040503050406030204" pitchFamily="18" charset="0"/>
                            </a:rPr>
                          </m:ctrlPr>
                        </m:dPr>
                        <m:e>
                          <m:r>
                            <a:rPr lang="ar-AE" sz="1100">
                              <a:latin typeface="Cambria Math" panose="02040503050406030204" pitchFamily="18" charset="0"/>
                            </a:rPr>
                            <m:t>𝜇</m:t>
                          </m:r>
                        </m:e>
                      </m:d>
                      <m:rad>
                        <m:radPr>
                          <m:degHide m:val="on"/>
                          <m:ctrlPr>
                            <a:rPr lang="ar-AE" sz="1100" i="1">
                              <a:latin typeface="Cambria Math" panose="02040503050406030204" pitchFamily="18" charset="0"/>
                            </a:rPr>
                          </m:ctrlPr>
                        </m:radPr>
                        <m:deg/>
                        <m:e>
                          <m:r>
                            <a:rPr lang="ar-AE" sz="1100">
                              <a:latin typeface="Cambria Math" panose="02040503050406030204" pitchFamily="18" charset="0"/>
                            </a:rPr>
                            <m:t>1−</m:t>
                          </m:r>
                          <m:sSup>
                            <m:sSupPr>
                              <m:ctrlPr>
                                <a:rPr lang="ar-AE" sz="1100" i="1">
                                  <a:latin typeface="Cambria Math" panose="02040503050406030204" pitchFamily="18" charset="0"/>
                                </a:rPr>
                              </m:ctrlPr>
                            </m:sSupPr>
                            <m:e>
                              <m:r>
                                <a:rPr lang="ar-AE" sz="1100">
                                  <a:latin typeface="Cambria Math" panose="02040503050406030204" pitchFamily="18" charset="0"/>
                                </a:rPr>
                                <m:t>𝜇</m:t>
                              </m:r>
                            </m:e>
                            <m:sup>
                              <m:r>
                                <a:rPr lang="ar-AE" sz="1100">
                                  <a:latin typeface="Cambria Math" panose="02040503050406030204" pitchFamily="18" charset="0"/>
                                </a:rPr>
                                <m:t>2</m:t>
                              </m:r>
                            </m:sup>
                          </m:sSup>
                        </m:e>
                      </m:rad>
                      <m:r>
                        <a:rPr lang="ar-AE" sz="1100">
                          <a:latin typeface="Cambria Math" panose="02040503050406030204" pitchFamily="18" charset="0"/>
                        </a:rPr>
                        <m:t>𝑑</m:t>
                      </m:r>
                      <m:r>
                        <a:rPr lang="ar-AE" sz="1100">
                          <a:latin typeface="Cambria Math" panose="02040503050406030204" pitchFamily="18" charset="0"/>
                        </a:rPr>
                        <m:t>𝜇</m:t>
                      </m:r>
                    </m:oMath>
                  </m:oMathPara>
                </a14:m>
                <a:endParaRPr lang="ar-AE" sz="1100" dirty="0"/>
              </a:p>
              <a:p>
                <a:pPr marL="0" lvl="0" indent="0">
                  <a:buNone/>
                </a:pPr>
                <a:r>
                  <a:rPr lang="en-US" sz="1100" dirty="0"/>
                  <a:t>For discrete samples </a:t>
                </a:r>
                <a14:m>
                  <m:oMath xmlns:m="http://schemas.openxmlformats.org/officeDocument/2006/math">
                    <m:sSub>
                      <m:sSubPr>
                        <m:ctrlPr>
                          <a:rPr lang="ar-AE" sz="1100" i="1">
                            <a:latin typeface="Cambria Math" panose="02040503050406030204" pitchFamily="18" charset="0"/>
                          </a:rPr>
                        </m:ctrlPr>
                      </m:sSubPr>
                      <m:e>
                        <m:r>
                          <a:rPr lang="ar-AE" sz="1100">
                            <a:latin typeface="Cambria Math" panose="02040503050406030204" pitchFamily="18" charset="0"/>
                          </a:rPr>
                          <m:t>𝜇</m:t>
                        </m:r>
                      </m:e>
                      <m:sub>
                        <m:r>
                          <a:rPr lang="ar-AE" sz="1100">
                            <a:latin typeface="Cambria Math" panose="02040503050406030204" pitchFamily="18" charset="0"/>
                          </a:rPr>
                          <m:t>𝑖</m:t>
                        </m:r>
                      </m:sub>
                    </m:sSub>
                  </m:oMath>
                </a14:m>
                <a:r>
                  <a:rPr lang="ar-AE" sz="1100" dirty="0"/>
                  <a:t>, </a:t>
                </a:r>
                <a:r>
                  <a:rPr lang="en-US" sz="1100" dirty="0"/>
                  <a:t>we have:</a:t>
                </a:r>
              </a:p>
              <a:p>
                <a:pPr marL="0" lvl="0" indent="0">
                  <a:buNone/>
                </a:pPr>
                <a14:m>
                  <m:oMathPara xmlns:m="http://schemas.openxmlformats.org/officeDocument/2006/math">
                    <m:oMathParaPr>
                      <m:jc m:val="center"/>
                    </m:oMathParaPr>
                    <m:oMath xmlns:m="http://schemas.openxmlformats.org/officeDocument/2006/math">
                      <m:bar>
                        <m:barPr>
                          <m:pos m:val="top"/>
                          <m:ctrlPr>
                            <a:rPr lang="ar-AE" sz="1100" i="1">
                              <a:latin typeface="Cambria Math" panose="02040503050406030204" pitchFamily="18" charset="0"/>
                            </a:rPr>
                          </m:ctrlPr>
                        </m:barPr>
                        <m:e>
                          <m:r>
                            <a:rPr lang="ar-AE" sz="1100">
                              <a:latin typeface="Cambria Math" panose="02040503050406030204" pitchFamily="18" charset="0"/>
                            </a:rPr>
                            <m:t>𝛥</m:t>
                          </m:r>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sub>
                          </m:sSub>
                        </m:e>
                      </m:bar>
                      <m:r>
                        <a:rPr lang="ar-AE" sz="1100">
                          <a:latin typeface="Cambria Math" panose="02040503050406030204" pitchFamily="18" charset="0"/>
                        </a:rPr>
                        <m:t>=</m:t>
                      </m:r>
                      <m:nary>
                        <m:naryPr>
                          <m:chr m:val="∑"/>
                          <m:limLoc m:val="undOvr"/>
                          <m:ctrlPr>
                            <a:rPr lang="ar-AE" sz="1100" i="1">
                              <a:latin typeface="Cambria Math" panose="02040503050406030204" pitchFamily="18" charset="0"/>
                            </a:rPr>
                          </m:ctrlPr>
                        </m:naryPr>
                        <m:sub>
                          <m:r>
                            <a:rPr lang="ar-AE" sz="1100">
                              <a:latin typeface="Cambria Math" panose="02040503050406030204" pitchFamily="18" charset="0"/>
                            </a:rPr>
                            <m:t>𝑖</m:t>
                          </m:r>
                        </m:sub>
                        <m:sup>
                          <m:r>
                            <a:rPr lang="ar-AE" sz="1100">
                              <a:latin typeface="Cambria Math" panose="02040503050406030204" pitchFamily="18" charset="0"/>
                            </a:rPr>
                            <m:t>​</m:t>
                          </m:r>
                        </m:sup>
                        <m:e>
                          <m:sSub>
                            <m:sSubPr>
                              <m:ctrlPr>
                                <a:rPr lang="ar-AE" sz="1100" i="1">
                                  <a:latin typeface="Cambria Math" panose="02040503050406030204" pitchFamily="18" charset="0"/>
                                </a:rPr>
                              </m:ctrlPr>
                            </m:sSubPr>
                            <m:e>
                              <m:r>
                                <a:rPr lang="ar-AE" sz="1100">
                                  <a:latin typeface="Cambria Math" panose="02040503050406030204" pitchFamily="18" charset="0"/>
                                </a:rPr>
                                <m:t>𝑤</m:t>
                              </m:r>
                            </m:e>
                            <m:sub>
                              <m:r>
                                <a:rPr lang="ar-AE" sz="1100">
                                  <a:latin typeface="Cambria Math" panose="02040503050406030204" pitchFamily="18" charset="0"/>
                                </a:rPr>
                                <m:t>𝑖</m:t>
                              </m:r>
                            </m:sub>
                          </m:sSub>
                        </m:e>
                      </m:nary>
                      <m:r>
                        <a:rPr lang="ar-AE" sz="1100">
                          <a:latin typeface="Cambria Math" panose="02040503050406030204" pitchFamily="18" charset="0"/>
                        </a:rPr>
                        <m:t>𝛥</m:t>
                      </m:r>
                      <m:sSub>
                        <m:sSubPr>
                          <m:ctrlPr>
                            <a:rPr lang="ar-AE" sz="1100" i="1">
                              <a:latin typeface="Cambria Math" panose="02040503050406030204" pitchFamily="18" charset="0"/>
                            </a:rPr>
                          </m:ctrlPr>
                        </m:sSubPr>
                        <m:e>
                          <m:r>
                            <a:rPr lang="ar-AE" sz="1100">
                              <a:latin typeface="Cambria Math" panose="02040503050406030204" pitchFamily="18" charset="0"/>
                            </a:rPr>
                            <m:t>𝑠</m:t>
                          </m:r>
                        </m:e>
                        <m:sub>
                          <m:r>
                            <a:rPr lang="ar-AE" sz="1100">
                              <a:latin typeface="Cambria Math" panose="02040503050406030204" pitchFamily="18" charset="0"/>
                            </a:rPr>
                            <m:t>∥,</m:t>
                          </m:r>
                          <m:r>
                            <a:rPr lang="ar-AE" sz="1100">
                              <a:latin typeface="Cambria Math" panose="02040503050406030204" pitchFamily="18" charset="0"/>
                            </a:rPr>
                            <m:t>𝑖</m:t>
                          </m:r>
                        </m:sub>
                      </m:sSub>
                      <m:r>
                        <a:rPr lang="ar-AE" sz="1100">
                          <a:latin typeface="Cambria Math" panose="02040503050406030204" pitchFamily="18" charset="0"/>
                        </a:rPr>
                        <m:t>/∑</m:t>
                      </m:r>
                      <m:r>
                        <a:rPr lang="ar-AE" sz="1100">
                          <a:latin typeface="Cambria Math" panose="02040503050406030204" pitchFamily="18" charset="0"/>
                        </a:rPr>
                        <m:t>𝑤</m:t>
                      </m:r>
                    </m:oMath>
                  </m:oMathPara>
                </a14:m>
                <a:endParaRPr lang="ar-AE" sz="1100" dirty="0"/>
              </a:p>
              <a:p>
                <a:pPr marL="0" lvl="0" indent="0">
                  <a:buNone/>
                </a:pPr>
                <a:r>
                  <a:rPr lang="en-US" sz="1100" dirty="0"/>
                  <a:t>where </a:t>
                </a:r>
                <a14:m>
                  <m:oMath xmlns:m="http://schemas.openxmlformats.org/officeDocument/2006/math">
                    <m:sSub>
                      <m:sSubPr>
                        <m:ctrlPr>
                          <a:rPr lang="ar-AE" sz="1100" i="1">
                            <a:latin typeface="Cambria Math" panose="02040503050406030204" pitchFamily="18" charset="0"/>
                          </a:rPr>
                        </m:ctrlPr>
                      </m:sSubPr>
                      <m:e>
                        <m:r>
                          <a:rPr lang="ar-AE" sz="1100">
                            <a:latin typeface="Cambria Math" panose="02040503050406030204" pitchFamily="18" charset="0"/>
                          </a:rPr>
                          <m:t>𝑤</m:t>
                        </m:r>
                      </m:e>
                      <m:sub>
                        <m:r>
                          <a:rPr lang="ar-AE" sz="1100">
                            <a:latin typeface="Cambria Math" panose="02040503050406030204" pitchFamily="18" charset="0"/>
                          </a:rPr>
                          <m:t>𝑖</m:t>
                        </m:r>
                      </m:sub>
                    </m:sSub>
                    <m:r>
                      <a:rPr lang="ar-AE" sz="1100">
                        <a:latin typeface="Cambria Math" panose="02040503050406030204" pitchFamily="18" charset="0"/>
                      </a:rPr>
                      <m:t>=</m:t>
                    </m:r>
                    <m:d>
                      <m:dPr>
                        <m:begChr m:val="|"/>
                        <m:end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a:latin typeface="Cambria Math" panose="02040503050406030204" pitchFamily="18" charset="0"/>
                              </a:rPr>
                              <m:t>𝜇</m:t>
                            </m:r>
                          </m:e>
                          <m:sub>
                            <m:r>
                              <a:rPr lang="ar-AE" sz="1100">
                                <a:latin typeface="Cambria Math" panose="02040503050406030204" pitchFamily="18" charset="0"/>
                              </a:rPr>
                              <m:t>𝑖</m:t>
                            </m:r>
                          </m:sub>
                        </m:sSub>
                      </m:e>
                    </m:d>
                    <m:rad>
                      <m:radPr>
                        <m:degHide m:val="on"/>
                        <m:ctrlPr>
                          <a:rPr lang="ar-AE" sz="1100" i="1">
                            <a:latin typeface="Cambria Math" panose="02040503050406030204" pitchFamily="18" charset="0"/>
                          </a:rPr>
                        </m:ctrlPr>
                      </m:radPr>
                      <m:deg/>
                      <m:e>
                        <m:r>
                          <a:rPr lang="ar-AE" sz="1100">
                            <a:latin typeface="Cambria Math" panose="02040503050406030204" pitchFamily="18" charset="0"/>
                          </a:rPr>
                          <m:t>1−</m:t>
                        </m:r>
                        <m:sSubSup>
                          <m:sSubSupPr>
                            <m:ctrlPr>
                              <a:rPr lang="ar-AE" sz="1100" i="1">
                                <a:latin typeface="Cambria Math" panose="02040503050406030204" pitchFamily="18" charset="0"/>
                              </a:rPr>
                            </m:ctrlPr>
                          </m:sSubSupPr>
                          <m:e>
                            <m:r>
                              <a:rPr lang="ar-AE" sz="1100">
                                <a:latin typeface="Cambria Math" panose="02040503050406030204" pitchFamily="18" charset="0"/>
                              </a:rPr>
                              <m:t>𝜇</m:t>
                            </m:r>
                          </m:e>
                          <m:sub>
                            <m:r>
                              <a:rPr lang="ar-AE" sz="1100">
                                <a:latin typeface="Cambria Math" panose="02040503050406030204" pitchFamily="18" charset="0"/>
                              </a:rPr>
                              <m:t>𝑖</m:t>
                            </m:r>
                          </m:sub>
                          <m:sup>
                            <m:r>
                              <a:rPr lang="ar-AE" sz="1100">
                                <a:latin typeface="Cambria Math" panose="02040503050406030204" pitchFamily="18" charset="0"/>
                              </a:rPr>
                              <m:t>2</m:t>
                            </m:r>
                          </m:sup>
                        </m:sSubSup>
                      </m:e>
                    </m:rad>
                  </m:oMath>
                </a14:m>
                <a:r>
                  <a:rPr lang="ar-AE" sz="1100" dirty="0"/>
                  <a:t>.</a:t>
                </a:r>
              </a:p>
            </p:txBody>
          </p:sp>
        </mc:Choice>
        <mc:Fallback xmlns="">
          <p:sp>
            <p:nvSpPr>
              <p:cNvPr id="10" name="TextBox 9">
                <a:extLst>
                  <a:ext uri="{FF2B5EF4-FFF2-40B4-BE49-F238E27FC236}">
                    <a16:creationId xmlns:a16="http://schemas.microsoft.com/office/drawing/2014/main" id="{7834ED04-AFBA-6F35-AFC7-35CDAF7A70F3}"/>
                  </a:ext>
                </a:extLst>
              </p:cNvPr>
              <p:cNvSpPr txBox="1">
                <a:spLocks noRot="1" noChangeAspect="1" noMove="1" noResize="1" noEditPoints="1" noAdjustHandles="1" noChangeArrowheads="1" noChangeShapeType="1" noTextEdit="1"/>
              </p:cNvSpPr>
              <p:nvPr/>
            </p:nvSpPr>
            <p:spPr>
              <a:xfrm>
                <a:off x="203709" y="2980295"/>
                <a:ext cx="4607338" cy="2101344"/>
              </a:xfrm>
              <a:prstGeom prst="rect">
                <a:avLst/>
              </a:prstGeom>
              <a:blipFill>
                <a:blip r:embed="rId6"/>
                <a:stretch>
                  <a:fillRect t="-24551" b="-2095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6F92B84-5332-6EA1-C1C4-FA09D608E4BA}"/>
              </a:ext>
            </a:extLst>
          </p:cNvPr>
          <p:cNvSpPr txBox="1"/>
          <p:nvPr/>
        </p:nvSpPr>
        <p:spPr>
          <a:xfrm>
            <a:off x="5687323" y="59947"/>
            <a:ext cx="1579728" cy="369332"/>
          </a:xfrm>
          <a:prstGeom prst="rect">
            <a:avLst/>
          </a:prstGeom>
          <a:noFill/>
        </p:spPr>
        <p:txBody>
          <a:bodyPr wrap="none" rtlCol="0">
            <a:spAutoFit/>
          </a:bodyPr>
          <a:lstStyle/>
          <a:p>
            <a:r>
              <a:rPr lang="en-US" dirty="0">
                <a:solidFill>
                  <a:srgbClr val="FF0000"/>
                </a:solidFill>
              </a:rPr>
              <a:t>2 MeV protons</a:t>
            </a:r>
          </a:p>
        </p:txBody>
      </p:sp>
      <p:pic>
        <p:nvPicPr>
          <p:cNvPr id="5" name="Picture 4" descr="A graph of a function&#10;&#10;AI-generated content may be incorrect.">
            <a:extLst>
              <a:ext uri="{FF2B5EF4-FFF2-40B4-BE49-F238E27FC236}">
                <a16:creationId xmlns:a16="http://schemas.microsoft.com/office/drawing/2014/main" id="{1EF712ED-D6D6-B657-FAF6-1BFD6383259D}"/>
              </a:ext>
            </a:extLst>
          </p:cNvPr>
          <p:cNvPicPr>
            <a:picLocks noChangeAspect="1"/>
          </p:cNvPicPr>
          <p:nvPr/>
        </p:nvPicPr>
        <p:blipFill>
          <a:blip r:embed="rId7"/>
          <a:stretch>
            <a:fillRect/>
          </a:stretch>
        </p:blipFill>
        <p:spPr>
          <a:xfrm>
            <a:off x="-29386" y="-2031945"/>
            <a:ext cx="2536764" cy="189975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421396-2A07-B40C-13F5-6E1FBB6A1D46}"/>
                  </a:ext>
                </a:extLst>
              </p:cNvPr>
              <p:cNvSpPr txBox="1"/>
              <p:nvPr/>
            </p:nvSpPr>
            <p:spPr>
              <a:xfrm>
                <a:off x="3918288" y="4640910"/>
                <a:ext cx="2274832" cy="403124"/>
              </a:xfrm>
              <a:prstGeom prst="rect">
                <a:avLst/>
              </a:prstGeom>
              <a:solidFill>
                <a:schemeClr val="bg1"/>
              </a:solidFill>
            </p:spPr>
            <p:txBody>
              <a:bodyPr wrap="square" rtlCol="0">
                <a:spAutoFit/>
              </a:bodyPr>
              <a:lstStyle/>
              <a:p>
                <a:pPr lvl="0"/>
                <a14:m>
                  <m:oMathPara xmlns:m="http://schemas.openxmlformats.org/officeDocument/2006/math">
                    <m:oMathParaPr>
                      <m:jc m:val="centerGroup"/>
                    </m:oMathParaPr>
                    <m:oMath xmlns:m="http://schemas.openxmlformats.org/officeDocument/2006/math">
                      <m:sSub>
                        <m:sSubPr>
                          <m:ctrlPr>
                            <a:rPr lang="ar-AE"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𝑙</m:t>
                          </m:r>
                        </m:e>
                        <m:sub>
                          <m:r>
                            <a:rPr lang="en-US" b="0" i="0" smtClean="0">
                              <a:solidFill>
                                <a:srgbClr val="FF0000"/>
                              </a:solidFill>
                              <a:latin typeface="Cambria Math" panose="02040503050406030204" pitchFamily="18" charset="0"/>
                            </a:rPr>
                            <m:t>0</m:t>
                          </m:r>
                        </m:sub>
                      </m:sSub>
                      <m:r>
                        <a:rPr lang="en-US" b="0" i="0" smtClean="0">
                          <a:solidFill>
                            <a:srgbClr val="FF0000"/>
                          </a:solidFill>
                          <a:latin typeface="Cambria Math" panose="02040503050406030204" pitchFamily="18" charset="0"/>
                        </a:rPr>
                        <m:t>= </m:t>
                      </m:r>
                      <m:r>
                        <a:rPr lang="ar-AE" smtClean="0">
                          <a:solidFill>
                            <a:srgbClr val="FF0000"/>
                          </a:solidFill>
                          <a:latin typeface="Cambria Math" panose="02040503050406030204" pitchFamily="18" charset="0"/>
                        </a:rPr>
                        <m:t>3×</m:t>
                      </m:r>
                      <m:sSup>
                        <m:sSupPr>
                          <m:ctrlPr>
                            <a:rPr lang="ar-AE" i="1">
                              <a:solidFill>
                                <a:srgbClr val="FF0000"/>
                              </a:solidFill>
                              <a:latin typeface="Cambria Math" panose="02040503050406030204" pitchFamily="18" charset="0"/>
                            </a:rPr>
                          </m:ctrlPr>
                        </m:sSupPr>
                        <m:e>
                          <m:r>
                            <a:rPr lang="ar-AE">
                              <a:solidFill>
                                <a:srgbClr val="FF0000"/>
                              </a:solidFill>
                              <a:latin typeface="Cambria Math" panose="02040503050406030204" pitchFamily="18" charset="0"/>
                            </a:rPr>
                            <m:t>10</m:t>
                          </m:r>
                        </m:e>
                        <m:sup>
                          <m:r>
                            <a:rPr lang="ar-AE">
                              <a:solidFill>
                                <a:srgbClr val="FF0000"/>
                              </a:solidFill>
                              <a:latin typeface="Cambria Math" panose="02040503050406030204" pitchFamily="18" charset="0"/>
                            </a:rPr>
                            <m:t>3</m:t>
                          </m:r>
                        </m:sup>
                      </m:sSup>
                      <m:r>
                        <m:rPr>
                          <m:nor/>
                        </m:rPr>
                        <a:rPr lang="ar-AE">
                          <a:solidFill>
                            <a:srgbClr val="FF0000"/>
                          </a:solidFill>
                        </a:rPr>
                        <m:t> </m:t>
                      </m:r>
                      <m:r>
                        <m:rPr>
                          <m:nor/>
                        </m:rPr>
                        <a:rPr lang="en-US">
                          <a:solidFill>
                            <a:srgbClr val="FF0000"/>
                          </a:solidFill>
                        </a:rPr>
                        <m:t>km</m:t>
                      </m:r>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03421396-2A07-B40C-13F5-6E1FBB6A1D46}"/>
                  </a:ext>
                </a:extLst>
              </p:cNvPr>
              <p:cNvSpPr txBox="1">
                <a:spLocks noRot="1" noChangeAspect="1" noMove="1" noResize="1" noEditPoints="1" noAdjustHandles="1" noChangeArrowheads="1" noChangeShapeType="1" noTextEdit="1"/>
              </p:cNvSpPr>
              <p:nvPr/>
            </p:nvSpPr>
            <p:spPr>
              <a:xfrm>
                <a:off x="3918288" y="4640910"/>
                <a:ext cx="2274832" cy="403124"/>
              </a:xfrm>
              <a:prstGeom prst="rect">
                <a:avLst/>
              </a:prstGeom>
              <a:blipFill>
                <a:blip r:embed="rId8"/>
                <a:stretch>
                  <a:fillRect b="-25000"/>
                </a:stretch>
              </a:blipFill>
            </p:spPr>
            <p:txBody>
              <a:bodyPr/>
              <a:lstStyle/>
              <a:p>
                <a:r>
                  <a:rPr 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2CC4-245F-4158-32FA-3063C6AFD70F}"/>
            </a:ext>
          </a:extLst>
        </p:cNvPr>
        <p:cNvGrpSpPr/>
        <p:nvPr/>
      </p:nvGrpSpPr>
      <p:grpSpPr>
        <a:xfrm>
          <a:off x="0" y="0"/>
          <a:ext cx="0" cy="0"/>
          <a:chOff x="0" y="0"/>
          <a:chExt cx="0" cy="0"/>
        </a:xfrm>
      </p:grpSpPr>
      <p:pic>
        <p:nvPicPr>
          <p:cNvPr id="5" name="Picture 4"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7C1A0315-0B9D-257C-5A09-CD011C520B15}"/>
              </a:ext>
            </a:extLst>
          </p:cNvPr>
          <p:cNvPicPr>
            <a:picLocks noChangeAspect="1"/>
          </p:cNvPicPr>
          <p:nvPr/>
        </p:nvPicPr>
        <p:blipFill>
          <a:blip r:embed="rId2"/>
          <a:srcRect l="2660" r="2364"/>
          <a:stretch>
            <a:fillRect/>
          </a:stretch>
        </p:blipFill>
        <p:spPr>
          <a:xfrm>
            <a:off x="3716124" y="483681"/>
            <a:ext cx="5427876" cy="4279900"/>
          </a:xfrm>
          <a:prstGeom prst="rect">
            <a:avLst/>
          </a:prstGeom>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4C6D0E3-2A8B-648A-8BC4-2B5EB2929A0E}"/>
                  </a:ext>
                </a:extLst>
              </p:cNvPr>
              <p:cNvSpPr>
                <a:spLocks noGrp="1"/>
              </p:cNvSpPr>
              <p:nvPr>
                <p:ph type="body" sz="half" idx="2"/>
              </p:nvPr>
            </p:nvSpPr>
            <p:spPr>
              <a:xfrm>
                <a:off x="448366" y="53009"/>
                <a:ext cx="3008313" cy="4811075"/>
              </a:xfrm>
            </p:spPr>
            <p:txBody>
              <a:bodyPr>
                <a:normAutofit/>
              </a:bodyPr>
              <a:lstStyle/>
              <a:p>
                <a:r>
                  <a:rPr lang="en-US" dirty="0">
                    <a:latin typeface="Cambria Math" panose="02040503050406030204" pitchFamily="18" charset="0"/>
                  </a:rPr>
                  <a:t>Averaged parallel displacements </a:t>
                </a:r>
              </a:p>
              <a:p>
                <a:pPr marL="0" lvl="0" indent="0">
                  <a:buNone/>
                </a:pPr>
                <a:endParaRPr lang="en-US"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&lt;</m:t>
                      </m:r>
                      <m:r>
                        <a:rPr lang="en-US">
                          <a:latin typeface="Cambria Math" panose="02040503050406030204" pitchFamily="18" charset="0"/>
                        </a:rPr>
                        <m:t>𝛥</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&gt;=∫</m:t>
                      </m:r>
                      <m:r>
                        <a:rPr lang="ar-AE">
                          <a:latin typeface="Cambria Math" panose="02040503050406030204" pitchFamily="18" charset="0"/>
                        </a:rPr>
                        <m:t>𝛥</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𝑃</m:t>
                      </m:r>
                      <m:d>
                        <m:dPr>
                          <m:ctrlPr>
                            <a:rPr lang="ar-AE" i="1">
                              <a:latin typeface="Cambria Math" panose="02040503050406030204" pitchFamily="18" charset="0"/>
                            </a:rPr>
                          </m:ctrlPr>
                        </m:dPr>
                        <m:e>
                          <m:r>
                            <a:rPr lang="ar-AE">
                              <a:latin typeface="Cambria Math" panose="02040503050406030204" pitchFamily="18" charset="0"/>
                            </a:rPr>
                            <m:t>𝐯</m:t>
                          </m:r>
                        </m:e>
                      </m:d>
                      <m:r>
                        <a:rPr lang="ar-AE">
                          <a:latin typeface="Cambria Math" panose="02040503050406030204" pitchFamily="18" charset="0"/>
                        </a:rPr>
                        <m:t>𝑑</m:t>
                      </m:r>
                      <m:r>
                        <a:rPr lang="ar-AE">
                          <a:latin typeface="Cambria Math" panose="02040503050406030204" pitchFamily="18" charset="0"/>
                        </a:rPr>
                        <m:t>=2</m:t>
                      </m:r>
                      <m:r>
                        <a:rPr lang="ar-AE">
                          <a:latin typeface="Cambria Math" panose="02040503050406030204" pitchFamily="18" charset="0"/>
                        </a:rPr>
                        <m:t>𝜋</m:t>
                      </m:r>
                      <m:sSup>
                        <m:sSupPr>
                          <m:ctrlPr>
                            <a:rPr lang="ar-AE" i="1">
                              <a:latin typeface="Cambria Math" panose="02040503050406030204" pitchFamily="18" charset="0"/>
                            </a:rPr>
                          </m:ctrlPr>
                        </m:sSupPr>
                        <m:e>
                          <m:r>
                            <a:rPr lang="ar-AE">
                              <a:latin typeface="Cambria Math" panose="02040503050406030204" pitchFamily="18" charset="0"/>
                            </a:rPr>
                            <m:t>𝑣</m:t>
                          </m:r>
                        </m:e>
                        <m:sup>
                          <m:r>
                            <a:rPr lang="ar-AE">
                              <a:latin typeface="Cambria Math" panose="02040503050406030204" pitchFamily="18" charset="0"/>
                            </a:rPr>
                            <m:t>2</m:t>
                          </m:r>
                        </m:sup>
                      </m:sSup>
                      <m:nary>
                        <m:naryPr>
                          <m:limLoc m:val="subSup"/>
                          <m:ctrlPr>
                            <a:rPr lang="ar-AE" i="1">
                              <a:latin typeface="Cambria Math" panose="02040503050406030204" pitchFamily="18" charset="0"/>
                            </a:rPr>
                          </m:ctrlPr>
                        </m:naryPr>
                        <m:sub>
                          <m:r>
                            <a:rPr lang="ar-AE">
                              <a:latin typeface="Cambria Math" panose="02040503050406030204" pitchFamily="18" charset="0"/>
                            </a:rPr>
                            <m:t>0</m:t>
                          </m:r>
                        </m:sub>
                        <m:sup>
                          <m:r>
                            <a:rPr lang="ar-AE">
                              <a:latin typeface="Cambria Math" panose="02040503050406030204" pitchFamily="18" charset="0"/>
                            </a:rPr>
                            <m:t>𝜋</m:t>
                          </m:r>
                        </m:sup>
                        <m:e>
                          <m:r>
                            <a:rPr lang="ar-AE">
                              <a:latin typeface="Cambria Math" panose="02040503050406030204" pitchFamily="18" charset="0"/>
                            </a:rPr>
                            <m:t>𝛥</m:t>
                          </m:r>
                        </m:e>
                      </m:nary>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𝑃</m:t>
                      </m:r>
                      <m:d>
                        <m:dPr>
                          <m:ctrlPr>
                            <a:rPr lang="ar-AE" i="1">
                              <a:latin typeface="Cambria Math" panose="02040503050406030204" pitchFamily="18" charset="0"/>
                            </a:rPr>
                          </m:ctrlPr>
                        </m:dPr>
                        <m:e>
                          <m:r>
                            <a:rPr lang="ar-AE">
                              <a:latin typeface="Cambria Math" panose="02040503050406030204" pitchFamily="18" charset="0"/>
                            </a:rPr>
                            <m:t>𝛼</m:t>
                          </m:r>
                        </m:e>
                      </m:d>
                      <m:r>
                        <m:rPr>
                          <m:sty m:val="p"/>
                        </m:rPr>
                        <a:rPr lang="en-US">
                          <a:latin typeface="Cambria Math" panose="02040503050406030204" pitchFamily="18" charset="0"/>
                        </a:rPr>
                        <m:t>sin</m:t>
                      </m:r>
                      <m:r>
                        <a:rPr lang="en-US">
                          <a:latin typeface="Cambria Math" panose="02040503050406030204" pitchFamily="18" charset="0"/>
                        </a:rPr>
                        <m:t>𝛼</m:t>
                      </m:r>
                      <m:r>
                        <a:rPr lang="en-US">
                          <a:latin typeface="Cambria Math" panose="02040503050406030204" pitchFamily="18" charset="0"/>
                        </a:rPr>
                        <m:t>𝑑</m:t>
                      </m:r>
                      <m:r>
                        <a:rPr lang="en-US">
                          <a:latin typeface="Cambria Math" panose="02040503050406030204" pitchFamily="18" charset="0"/>
                        </a:rPr>
                        <m:t>𝛼</m:t>
                      </m:r>
                    </m:oMath>
                  </m:oMathPara>
                </a14:m>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a:p>
                <a:pPr marL="0" lvl="0" indent="0">
                  <a:buNone/>
                </a:pPr>
                <a:endParaRPr lang="en-US" dirty="0">
                  <a:latin typeface="Cambria Math" panose="020405030504060302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48366" y="53009"/>
                <a:ext cx="3008313" cy="4811075"/>
              </a:xfrm>
              <a:blipFill>
                <a:blip r:embed="rId3"/>
                <a:stretch>
                  <a:fillRect t="-7105"/>
                </a:stretch>
              </a:blipFill>
            </p:spPr>
            <p:txBody>
              <a:bodyPr/>
              <a:lstStyle/>
              <a:p>
                <a:r>
                  <a:rPr lang="en-US">
                    <a:noFill/>
                  </a:rPr>
                  <a:t> </a:t>
                </a:r>
              </a:p>
            </p:txBody>
          </p:sp>
        </mc:Fallback>
      </mc:AlternateContent>
      <p:pic>
        <p:nvPicPr>
          <p:cNvPr id="6" name="Content Placeholder 8" descr="./figures/pa_cdf.png">
            <a:extLst>
              <a:ext uri="{FF2B5EF4-FFF2-40B4-BE49-F238E27FC236}">
                <a16:creationId xmlns:a16="http://schemas.microsoft.com/office/drawing/2014/main" id="{9FD3BD9D-3496-D4D7-F229-D02911FCBA49}"/>
              </a:ext>
            </a:extLst>
          </p:cNvPr>
          <p:cNvPicPr>
            <a:picLocks noGrp="1" noChangeAspect="1"/>
          </p:cNvPicPr>
          <p:nvPr>
            <p:ph idx="1"/>
          </p:nvPr>
        </p:nvPicPr>
        <p:blipFill>
          <a:blip r:embed="rId4"/>
          <a:stretch>
            <a:fillRect/>
          </a:stretch>
        </p:blipFill>
        <p:spPr bwMode="auto">
          <a:xfrm>
            <a:off x="107417" y="710140"/>
            <a:ext cx="3256633" cy="2442475"/>
          </a:xfrm>
          <a:prstGeom prst="rect">
            <a:avLst/>
          </a:prstGeom>
          <a:noFill/>
          <a:ln w="9525">
            <a:noFill/>
            <a:headEnd/>
            <a:tailEnd/>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78E03C-A58F-B4C9-242E-AECEB3D90109}"/>
                  </a:ext>
                </a:extLst>
              </p:cNvPr>
              <p:cNvSpPr txBox="1"/>
              <p:nvPr/>
            </p:nvSpPr>
            <p:spPr>
              <a:xfrm>
                <a:off x="1246395" y="2163205"/>
                <a:ext cx="4020476" cy="600164"/>
              </a:xfrm>
              <a:prstGeom prst="rect">
                <a:avLst/>
              </a:prstGeom>
              <a:noFill/>
            </p:spPr>
            <p:txBody>
              <a:bodyPr wrap="square">
                <a:spAutoFit/>
              </a:bodyPr>
              <a:lstStyle/>
              <a:p>
                <a:pPr marL="0" lvl="0" indent="0">
                  <a:buNone/>
                </a:pPr>
                <a14:m>
                  <m:oMathPara xmlns:m="http://schemas.openxmlformats.org/officeDocument/2006/math">
                    <m:oMathParaPr>
                      <m:jc m:val="centerGroup"/>
                    </m:oMathParaPr>
                    <m:oMath xmlns:m="http://schemas.openxmlformats.org/officeDocument/2006/math">
                      <m:r>
                        <a:rPr lang="en-US" sz="1100" smtClean="0">
                          <a:solidFill>
                            <a:srgbClr val="FF0000"/>
                          </a:solidFill>
                          <a:latin typeface="Cambria Math" panose="02040503050406030204" pitchFamily="18" charset="0"/>
                        </a:rPr>
                        <m:t>𝑃</m:t>
                      </m:r>
                      <m:d>
                        <m:dPr>
                          <m:ctrlPr>
                            <a:rPr lang="ar-AE" sz="1100" i="1">
                              <a:solidFill>
                                <a:srgbClr val="FF0000"/>
                              </a:solidFill>
                              <a:latin typeface="Cambria Math" panose="02040503050406030204" pitchFamily="18" charset="0"/>
                            </a:rPr>
                          </m:ctrlPr>
                        </m:dPr>
                        <m:e>
                          <m:r>
                            <a:rPr lang="ar-AE" sz="1100">
                              <a:solidFill>
                                <a:srgbClr val="FF0000"/>
                              </a:solidFill>
                              <a:latin typeface="Cambria Math" panose="02040503050406030204" pitchFamily="18" charset="0"/>
                            </a:rPr>
                            <m:t>𝛼</m:t>
                          </m:r>
                        </m:e>
                      </m:d>
                      <m:r>
                        <a:rPr lang="ar-AE" sz="1100">
                          <a:solidFill>
                            <a:srgbClr val="FF0000"/>
                          </a:solidFill>
                          <a:latin typeface="Cambria Math" panose="02040503050406030204" pitchFamily="18" charset="0"/>
                        </a:rPr>
                        <m:t>𝑑</m:t>
                      </m:r>
                      <m:r>
                        <a:rPr lang="ar-AE" sz="1100">
                          <a:solidFill>
                            <a:srgbClr val="FF0000"/>
                          </a:solidFill>
                          <a:latin typeface="Cambria Math" panose="02040503050406030204" pitchFamily="18" charset="0"/>
                        </a:rPr>
                        <m:t>𝛼</m:t>
                      </m:r>
                      <m:r>
                        <a:rPr lang="ar-AE" sz="1100">
                          <a:solidFill>
                            <a:srgbClr val="FF0000"/>
                          </a:solidFill>
                          <a:latin typeface="Cambria Math" panose="02040503050406030204" pitchFamily="18" charset="0"/>
                        </a:rPr>
                        <m:t>=</m:t>
                      </m:r>
                      <m:r>
                        <a:rPr lang="ar-AE" sz="1100">
                          <a:solidFill>
                            <a:srgbClr val="FF0000"/>
                          </a:solidFill>
                          <a:latin typeface="Cambria Math" panose="02040503050406030204" pitchFamily="18" charset="0"/>
                        </a:rPr>
                        <m:t>𝑑</m:t>
                      </m:r>
                      <m:d>
                        <m:dPr>
                          <m:ctrlPr>
                            <a:rPr lang="ar-AE" sz="1100" i="1">
                              <a:solidFill>
                                <a:srgbClr val="FF0000"/>
                              </a:solidFill>
                              <a:latin typeface="Cambria Math" panose="02040503050406030204" pitchFamily="18" charset="0"/>
                            </a:rPr>
                          </m:ctrlPr>
                        </m:dPr>
                        <m:e>
                          <m:sSup>
                            <m:sSupPr>
                              <m:ctrlPr>
                                <a:rPr lang="ar-AE" sz="1100" i="1">
                                  <a:solidFill>
                                    <a:srgbClr val="FF0000"/>
                                  </a:solidFill>
                                  <a:latin typeface="Cambria Math" panose="02040503050406030204" pitchFamily="18" charset="0"/>
                                </a:rPr>
                              </m:ctrlPr>
                            </m:sSupPr>
                            <m:e>
                              <m:r>
                                <m:rPr>
                                  <m:sty m:val="p"/>
                                </m:rPr>
                                <a:rPr lang="en-US" sz="1100">
                                  <a:solidFill>
                                    <a:srgbClr val="FF0000"/>
                                  </a:solidFill>
                                  <a:latin typeface="Cambria Math" panose="02040503050406030204" pitchFamily="18" charset="0"/>
                                </a:rPr>
                                <m:t>sin</m:t>
                              </m:r>
                            </m:e>
                            <m:sup>
                              <m:r>
                                <a:rPr lang="ar-AE" sz="1100">
                                  <a:solidFill>
                                    <a:srgbClr val="FF0000"/>
                                  </a:solidFill>
                                  <a:latin typeface="Cambria Math" panose="02040503050406030204" pitchFamily="18" charset="0"/>
                                </a:rPr>
                                <m:t>2</m:t>
                              </m:r>
                            </m:sup>
                          </m:sSup>
                          <m:r>
                            <a:rPr lang="ar-AE" sz="1100">
                              <a:solidFill>
                                <a:srgbClr val="FF0000"/>
                              </a:solidFill>
                              <a:latin typeface="Cambria Math" panose="02040503050406030204" pitchFamily="18" charset="0"/>
                            </a:rPr>
                            <m:t>𝛼</m:t>
                          </m:r>
                        </m:e>
                      </m:d>
                      <m:r>
                        <a:rPr lang="en-US" sz="1100" b="0" i="0" smtClean="0">
                          <a:solidFill>
                            <a:srgbClr val="FF0000"/>
                          </a:solidFill>
                          <a:latin typeface="Cambria Math" panose="02040503050406030204" pitchFamily="18" charset="0"/>
                        </a:rPr>
                        <m:t>  </m:t>
                      </m:r>
                      <m:r>
                        <a:rPr lang="ar-AE" sz="1100">
                          <a:solidFill>
                            <a:srgbClr val="FF0000"/>
                          </a:solidFill>
                          <a:latin typeface="Cambria Math" panose="02040503050406030204" pitchFamily="18" charset="0"/>
                        </a:rPr>
                        <m:t>=&gt;</m:t>
                      </m:r>
                    </m:oMath>
                  </m:oMathPara>
                </a14:m>
                <a:endParaRPr lang="ar-AE" sz="1100" dirty="0">
                  <a:solidFill>
                    <a:srgbClr val="FF0000"/>
                  </a:solidFill>
                  <a:latin typeface="Cambria Math" panose="02040503050406030204" pitchFamily="18" charset="0"/>
                </a:endParaRPr>
              </a:p>
              <a:p>
                <a:pPr marL="0" lvl="0" indent="0">
                  <a:buNone/>
                </a:pPr>
                <a:endParaRPr lang="en-US" sz="1100" dirty="0">
                  <a:solidFill>
                    <a:srgbClr val="FF0000"/>
                  </a:solidFill>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r>
                        <a:rPr lang="ar-AE" sz="1100">
                          <a:solidFill>
                            <a:srgbClr val="FF0000"/>
                          </a:solidFill>
                          <a:latin typeface="Cambria Math" panose="02040503050406030204" pitchFamily="18" charset="0"/>
                        </a:rPr>
                        <m:t>𝑃</m:t>
                      </m:r>
                      <m:d>
                        <m:dPr>
                          <m:ctrlPr>
                            <a:rPr lang="ar-AE" sz="1100" i="1">
                              <a:solidFill>
                                <a:srgbClr val="FF0000"/>
                              </a:solidFill>
                              <a:latin typeface="Cambria Math" panose="02040503050406030204" pitchFamily="18" charset="0"/>
                            </a:rPr>
                          </m:ctrlPr>
                        </m:dPr>
                        <m:e>
                          <m:r>
                            <a:rPr lang="ar-AE" sz="1100">
                              <a:solidFill>
                                <a:srgbClr val="FF0000"/>
                              </a:solidFill>
                              <a:latin typeface="Cambria Math" panose="02040503050406030204" pitchFamily="18" charset="0"/>
                            </a:rPr>
                            <m:t>𝛼</m:t>
                          </m:r>
                        </m:e>
                      </m:d>
                      <m:r>
                        <a:rPr lang="ar-AE" sz="1100">
                          <a:solidFill>
                            <a:srgbClr val="FF0000"/>
                          </a:solidFill>
                          <a:latin typeface="Cambria Math" panose="02040503050406030204" pitchFamily="18" charset="0"/>
                        </a:rPr>
                        <m:t>=</m:t>
                      </m:r>
                      <m:r>
                        <m:rPr>
                          <m:sty m:val="p"/>
                        </m:rPr>
                        <a:rPr lang="en-US" sz="1100">
                          <a:solidFill>
                            <a:srgbClr val="FF0000"/>
                          </a:solidFill>
                          <a:latin typeface="Cambria Math" panose="02040503050406030204" pitchFamily="18" charset="0"/>
                        </a:rPr>
                        <m:t>sin</m:t>
                      </m:r>
                      <m:r>
                        <a:rPr lang="en-US" sz="1100">
                          <a:solidFill>
                            <a:srgbClr val="FF0000"/>
                          </a:solidFill>
                          <a:latin typeface="Cambria Math" panose="02040503050406030204" pitchFamily="18" charset="0"/>
                        </a:rPr>
                        <m:t>𝛼</m:t>
                      </m:r>
                      <m:d>
                        <m:dPr>
                          <m:begChr m:val="|"/>
                          <m:endChr m:val="|"/>
                          <m:ctrlPr>
                            <a:rPr lang="ar-AE" sz="1100" i="1">
                              <a:solidFill>
                                <a:srgbClr val="FF0000"/>
                              </a:solidFill>
                              <a:latin typeface="Cambria Math" panose="02040503050406030204" pitchFamily="18" charset="0"/>
                            </a:rPr>
                          </m:ctrlPr>
                        </m:dPr>
                        <m:e>
                          <m:r>
                            <m:rPr>
                              <m:sty m:val="p"/>
                            </m:rPr>
                            <a:rPr lang="en-US" sz="1100">
                              <a:solidFill>
                                <a:srgbClr val="FF0000"/>
                              </a:solidFill>
                              <a:latin typeface="Cambria Math" panose="02040503050406030204" pitchFamily="18" charset="0"/>
                            </a:rPr>
                            <m:t>cos</m:t>
                          </m:r>
                          <m:r>
                            <a:rPr lang="en-US" sz="1100">
                              <a:solidFill>
                                <a:srgbClr val="FF0000"/>
                              </a:solidFill>
                              <a:latin typeface="Cambria Math" panose="02040503050406030204" pitchFamily="18" charset="0"/>
                            </a:rPr>
                            <m:t>𝛼</m:t>
                          </m:r>
                        </m:e>
                      </m:d>
                    </m:oMath>
                  </m:oMathPara>
                </a14:m>
                <a:endParaRPr lang="en-US" sz="1100" dirty="0">
                  <a:solidFill>
                    <a:srgbClr val="FF0000"/>
                  </a:solidFill>
                </a:endParaRPr>
              </a:p>
            </p:txBody>
          </p:sp>
        </mc:Choice>
        <mc:Fallback xmlns="">
          <p:sp>
            <p:nvSpPr>
              <p:cNvPr id="8" name="TextBox 7">
                <a:extLst>
                  <a:ext uri="{FF2B5EF4-FFF2-40B4-BE49-F238E27FC236}">
                    <a16:creationId xmlns:a16="http://schemas.microsoft.com/office/drawing/2014/main" id="{B44B9563-8359-3181-E989-76BD5BA3061F}"/>
                  </a:ext>
                </a:extLst>
              </p:cNvPr>
              <p:cNvSpPr txBox="1">
                <a:spLocks noRot="1" noChangeAspect="1" noMove="1" noResize="1" noEditPoints="1" noAdjustHandles="1" noChangeArrowheads="1" noChangeShapeType="1" noTextEdit="1"/>
              </p:cNvSpPr>
              <p:nvPr/>
            </p:nvSpPr>
            <p:spPr>
              <a:xfrm>
                <a:off x="1246395" y="2163205"/>
                <a:ext cx="4020476" cy="6001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55A9160-D5FB-4C21-61EE-E581800DD2F5}"/>
                  </a:ext>
                </a:extLst>
              </p:cNvPr>
              <p:cNvSpPr txBox="1"/>
              <p:nvPr/>
            </p:nvSpPr>
            <p:spPr>
              <a:xfrm>
                <a:off x="203709" y="2980295"/>
                <a:ext cx="4607338" cy="1863202"/>
              </a:xfrm>
              <a:prstGeom prst="rect">
                <a:avLst/>
              </a:prstGeom>
              <a:noFill/>
            </p:spPr>
            <p:txBody>
              <a:bodyPr wrap="square">
                <a:spAutoFit/>
              </a:bodyPr>
              <a:lstStyle/>
              <a:p>
                <a:pPr marL="0" lvl="0" indent="0">
                  <a:buNone/>
                </a:pPr>
                <a:endParaRPr lang="en-US" sz="1100" dirty="0">
                  <a:latin typeface="Cambria Math" panose="02040503050406030204" pitchFamily="18" charset="0"/>
                </a:endParaRPr>
              </a:p>
              <a:p>
                <a:pPr marL="0" lvl="0" indent="0">
                  <a:buNone/>
                </a:pPr>
                <a:endParaRPr lang="en-US" sz="1100" dirty="0"/>
              </a:p>
              <a:p>
                <a:pPr marL="0" lvl="0" indent="0">
                  <a:buNone/>
                </a:pPr>
                <a:endParaRPr lang="en-US" sz="1100" dirty="0"/>
              </a:p>
              <a:p>
                <a:pPr marL="0" lvl="0" indent="0">
                  <a:buNone/>
                </a:pPr>
                <a:r>
                  <a:rPr lang="en-US" sz="1100" dirty="0"/>
                  <a:t>For discrete samples </a:t>
                </a:r>
                <a14:m>
                  <m:oMath xmlns:m="http://schemas.openxmlformats.org/officeDocument/2006/math">
                    <m:sSub>
                      <m:sSubPr>
                        <m:ctrlPr>
                          <a:rPr lang="ar-AE" sz="1100" i="1">
                            <a:latin typeface="Cambria Math" panose="02040503050406030204" pitchFamily="18" charset="0"/>
                          </a:rPr>
                        </m:ctrlPr>
                      </m:sSubPr>
                      <m:e>
                        <m:r>
                          <a:rPr lang="ar-AE" sz="1100">
                            <a:latin typeface="Cambria Math" panose="02040503050406030204" pitchFamily="18" charset="0"/>
                          </a:rPr>
                          <m:t>𝜇</m:t>
                        </m:r>
                      </m:e>
                      <m:sub>
                        <m:r>
                          <a:rPr lang="ar-AE" sz="1100">
                            <a:latin typeface="Cambria Math" panose="02040503050406030204" pitchFamily="18" charset="0"/>
                          </a:rPr>
                          <m:t>𝑖</m:t>
                        </m:r>
                      </m:sub>
                    </m:sSub>
                  </m:oMath>
                </a14:m>
                <a:r>
                  <a:rPr lang="ar-AE" sz="1100" dirty="0"/>
                  <a:t>, </a:t>
                </a:r>
                <a:r>
                  <a:rPr lang="en-US" sz="1100" dirty="0"/>
                  <a:t>we have:</a:t>
                </a:r>
              </a:p>
              <a:p>
                <a:pPr marL="0" lvl="0" indent="0">
                  <a:buNone/>
                </a:pPr>
                <a:endParaRPr lang="en-US" sz="1100" i="1" dirty="0">
                  <a:latin typeface="Cambria Math" panose="02040503050406030204" pitchFamily="18" charset="0"/>
                </a:endParaRPr>
              </a:p>
              <a:p>
                <a:pPr marL="0" lvl="0" indent="0">
                  <a:buNone/>
                </a:pPr>
                <a14:m>
                  <m:oMathPara xmlns:m="http://schemas.openxmlformats.org/officeDocument/2006/math">
                    <m:oMathParaPr>
                      <m:jc m:val="center"/>
                    </m:oMathParaPr>
                    <m:oMath xmlns:m="http://schemas.openxmlformats.org/officeDocument/2006/math">
                      <m:bar>
                        <m:barPr>
                          <m:pos m:val="top"/>
                          <m:ctrlPr>
                            <a:rPr lang="ar-AE" sz="1100" i="1">
                              <a:latin typeface="Cambria Math" panose="02040503050406030204" pitchFamily="18" charset="0"/>
                            </a:rPr>
                          </m:ctrlPr>
                        </m:barPr>
                        <m:e>
                          <m:r>
                            <a:rPr lang="en-US" sz="1100" b="0" i="1" smtClean="0">
                              <a:latin typeface="Cambria Math" panose="02040503050406030204" pitchFamily="18" charset="0"/>
                            </a:rPr>
                            <m:t>𝑇</m:t>
                          </m:r>
                        </m:e>
                      </m:bar>
                      <m:r>
                        <a:rPr lang="ar-AE" sz="1100">
                          <a:latin typeface="Cambria Math" panose="02040503050406030204" pitchFamily="18" charset="0"/>
                        </a:rPr>
                        <m:t>=</m:t>
                      </m:r>
                      <m:nary>
                        <m:naryPr>
                          <m:chr m:val="∑"/>
                          <m:limLoc m:val="undOvr"/>
                          <m:ctrlPr>
                            <a:rPr lang="ar-AE" sz="1100" i="1">
                              <a:latin typeface="Cambria Math" panose="02040503050406030204" pitchFamily="18" charset="0"/>
                            </a:rPr>
                          </m:ctrlPr>
                        </m:naryPr>
                        <m:sub>
                          <m:r>
                            <a:rPr lang="ar-AE" sz="1100">
                              <a:latin typeface="Cambria Math" panose="02040503050406030204" pitchFamily="18" charset="0"/>
                            </a:rPr>
                            <m:t>𝑖</m:t>
                          </m:r>
                        </m:sub>
                        <m:sup>
                          <m:r>
                            <a:rPr lang="ar-AE" sz="1100">
                              <a:latin typeface="Cambria Math" panose="02040503050406030204" pitchFamily="18" charset="0"/>
                            </a:rPr>
                            <m:t>​</m:t>
                          </m:r>
                        </m:sup>
                        <m:e>
                          <m:sSub>
                            <m:sSubPr>
                              <m:ctrlPr>
                                <a:rPr lang="ar-AE" sz="1100" i="1">
                                  <a:latin typeface="Cambria Math" panose="02040503050406030204" pitchFamily="18" charset="0"/>
                                </a:rPr>
                              </m:ctrlPr>
                            </m:sSubPr>
                            <m:e>
                              <m:r>
                                <a:rPr lang="ar-AE" sz="1100">
                                  <a:latin typeface="Cambria Math" panose="02040503050406030204" pitchFamily="18" charset="0"/>
                                </a:rPr>
                                <m:t>𝑤</m:t>
                              </m:r>
                            </m:e>
                            <m:sub>
                              <m:r>
                                <a:rPr lang="ar-AE" sz="1100">
                                  <a:latin typeface="Cambria Math" panose="02040503050406030204" pitchFamily="18" charset="0"/>
                                </a:rPr>
                                <m:t>𝑖</m:t>
                              </m:r>
                            </m:sub>
                          </m:sSub>
                        </m:e>
                      </m:nary>
                      <m:sSub>
                        <m:sSubPr>
                          <m:ctrlPr>
                            <a:rPr lang="ar-AE" sz="1100" i="1" smtClean="0">
                              <a:latin typeface="Cambria Math" panose="02040503050406030204" pitchFamily="18" charset="0"/>
                            </a:rPr>
                          </m:ctrlPr>
                        </m:sSubPr>
                        <m:e>
                          <m:r>
                            <m:rPr>
                              <m:sty m:val="p"/>
                            </m:rPr>
                            <a:rPr lang="en-US" sz="1100" b="0" i="0" smtClean="0">
                              <a:latin typeface="Cambria Math" panose="02040503050406030204" pitchFamily="18" charset="0"/>
                            </a:rPr>
                            <m:t>T</m:t>
                          </m:r>
                        </m:e>
                        <m:sub>
                          <m:r>
                            <a:rPr lang="ar-AE" sz="1100">
                              <a:latin typeface="Cambria Math" panose="02040503050406030204" pitchFamily="18" charset="0"/>
                            </a:rPr>
                            <m:t>𝑖</m:t>
                          </m:r>
                        </m:sub>
                      </m:sSub>
                      <m:r>
                        <a:rPr lang="ar-AE" sz="1100">
                          <a:latin typeface="Cambria Math" panose="02040503050406030204" pitchFamily="18" charset="0"/>
                        </a:rPr>
                        <m:t>/∑</m:t>
                      </m:r>
                      <m:r>
                        <a:rPr lang="ar-AE" sz="1100">
                          <a:latin typeface="Cambria Math" panose="02040503050406030204" pitchFamily="18" charset="0"/>
                        </a:rPr>
                        <m:t>𝑤</m:t>
                      </m:r>
                    </m:oMath>
                  </m:oMathPara>
                </a14:m>
                <a:endParaRPr lang="ar-AE" sz="1100" dirty="0"/>
              </a:p>
              <a:p>
                <a:pPr marL="0" lvl="0" indent="0">
                  <a:buNone/>
                </a:pPr>
                <a:endParaRPr lang="en-US" sz="1100" dirty="0"/>
              </a:p>
              <a:p>
                <a:pPr marL="0" lvl="0" indent="0">
                  <a:buNone/>
                </a:pPr>
                <a:r>
                  <a:rPr lang="en-US" sz="1100" dirty="0"/>
                  <a:t>where </a:t>
                </a:r>
                <a14:m>
                  <m:oMath xmlns:m="http://schemas.openxmlformats.org/officeDocument/2006/math">
                    <m:sSub>
                      <m:sSubPr>
                        <m:ctrlPr>
                          <a:rPr lang="ar-AE" sz="1100" i="1">
                            <a:latin typeface="Cambria Math" panose="02040503050406030204" pitchFamily="18" charset="0"/>
                          </a:rPr>
                        </m:ctrlPr>
                      </m:sSubPr>
                      <m:e>
                        <m:r>
                          <a:rPr lang="ar-AE" sz="1100">
                            <a:latin typeface="Cambria Math" panose="02040503050406030204" pitchFamily="18" charset="0"/>
                          </a:rPr>
                          <m:t>𝑤</m:t>
                        </m:r>
                      </m:e>
                      <m:sub>
                        <m:r>
                          <a:rPr lang="ar-AE" sz="1100">
                            <a:latin typeface="Cambria Math" panose="02040503050406030204" pitchFamily="18" charset="0"/>
                          </a:rPr>
                          <m:t>𝑖</m:t>
                        </m:r>
                      </m:sub>
                    </m:sSub>
                    <m:r>
                      <a:rPr lang="ar-AE" sz="1100">
                        <a:latin typeface="Cambria Math" panose="02040503050406030204" pitchFamily="18" charset="0"/>
                      </a:rPr>
                      <m:t>=</m:t>
                    </m:r>
                    <m:d>
                      <m:dPr>
                        <m:begChr m:val="|"/>
                        <m:end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a:latin typeface="Cambria Math" panose="02040503050406030204" pitchFamily="18" charset="0"/>
                              </a:rPr>
                              <m:t>𝜇</m:t>
                            </m:r>
                          </m:e>
                          <m:sub>
                            <m:r>
                              <a:rPr lang="ar-AE" sz="1100">
                                <a:latin typeface="Cambria Math" panose="02040503050406030204" pitchFamily="18" charset="0"/>
                              </a:rPr>
                              <m:t>𝑖</m:t>
                            </m:r>
                          </m:sub>
                        </m:sSub>
                      </m:e>
                    </m:d>
                    <m:rad>
                      <m:radPr>
                        <m:degHide m:val="on"/>
                        <m:ctrlPr>
                          <a:rPr lang="ar-AE" sz="1100" i="1">
                            <a:latin typeface="Cambria Math" panose="02040503050406030204" pitchFamily="18" charset="0"/>
                          </a:rPr>
                        </m:ctrlPr>
                      </m:radPr>
                      <m:deg/>
                      <m:e>
                        <m:r>
                          <a:rPr lang="ar-AE" sz="1100">
                            <a:latin typeface="Cambria Math" panose="02040503050406030204" pitchFamily="18" charset="0"/>
                          </a:rPr>
                          <m:t>1−</m:t>
                        </m:r>
                        <m:sSubSup>
                          <m:sSubSupPr>
                            <m:ctrlPr>
                              <a:rPr lang="ar-AE" sz="1100" i="1">
                                <a:latin typeface="Cambria Math" panose="02040503050406030204" pitchFamily="18" charset="0"/>
                              </a:rPr>
                            </m:ctrlPr>
                          </m:sSubSupPr>
                          <m:e>
                            <m:r>
                              <a:rPr lang="ar-AE" sz="1100">
                                <a:latin typeface="Cambria Math" panose="02040503050406030204" pitchFamily="18" charset="0"/>
                              </a:rPr>
                              <m:t>𝜇</m:t>
                            </m:r>
                          </m:e>
                          <m:sub>
                            <m:r>
                              <a:rPr lang="ar-AE" sz="1100">
                                <a:latin typeface="Cambria Math" panose="02040503050406030204" pitchFamily="18" charset="0"/>
                              </a:rPr>
                              <m:t>𝑖</m:t>
                            </m:r>
                          </m:sub>
                          <m:sup>
                            <m:r>
                              <a:rPr lang="ar-AE" sz="1100">
                                <a:latin typeface="Cambria Math" panose="02040503050406030204" pitchFamily="18" charset="0"/>
                              </a:rPr>
                              <m:t>2</m:t>
                            </m:r>
                          </m:sup>
                        </m:sSubSup>
                      </m:e>
                    </m:rad>
                  </m:oMath>
                </a14:m>
                <a:r>
                  <a:rPr lang="ar-AE" sz="1100" dirty="0"/>
                  <a:t>.</a:t>
                </a:r>
              </a:p>
            </p:txBody>
          </p:sp>
        </mc:Choice>
        <mc:Fallback xmlns="">
          <p:sp>
            <p:nvSpPr>
              <p:cNvPr id="10" name="TextBox 9">
                <a:extLst>
                  <a:ext uri="{FF2B5EF4-FFF2-40B4-BE49-F238E27FC236}">
                    <a16:creationId xmlns:a16="http://schemas.microsoft.com/office/drawing/2014/main" id="{955A9160-D5FB-4C21-61EE-E581800DD2F5}"/>
                  </a:ext>
                </a:extLst>
              </p:cNvPr>
              <p:cNvSpPr txBox="1">
                <a:spLocks noRot="1" noChangeAspect="1" noMove="1" noResize="1" noEditPoints="1" noAdjustHandles="1" noChangeArrowheads="1" noChangeShapeType="1" noTextEdit="1"/>
              </p:cNvSpPr>
              <p:nvPr/>
            </p:nvSpPr>
            <p:spPr>
              <a:xfrm>
                <a:off x="203709" y="2980295"/>
                <a:ext cx="4607338" cy="1863202"/>
              </a:xfrm>
              <a:prstGeom prst="rect">
                <a:avLst/>
              </a:prstGeom>
              <a:blipFill>
                <a:blip r:embed="rId6"/>
                <a:stretch>
                  <a:fillRect b="-1486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59F8CE7-5EF8-B9E2-8CD6-60EF18B53CCA}"/>
              </a:ext>
            </a:extLst>
          </p:cNvPr>
          <p:cNvSpPr txBox="1"/>
          <p:nvPr/>
        </p:nvSpPr>
        <p:spPr>
          <a:xfrm>
            <a:off x="5687323" y="59947"/>
            <a:ext cx="1579728" cy="369332"/>
          </a:xfrm>
          <a:prstGeom prst="rect">
            <a:avLst/>
          </a:prstGeom>
          <a:noFill/>
        </p:spPr>
        <p:txBody>
          <a:bodyPr wrap="none" rtlCol="0">
            <a:spAutoFit/>
          </a:bodyPr>
          <a:lstStyle/>
          <a:p>
            <a:r>
              <a:rPr lang="en-US" dirty="0">
                <a:solidFill>
                  <a:srgbClr val="FF0000"/>
                </a:solidFill>
              </a:rPr>
              <a:t>2 MeV protons</a:t>
            </a:r>
          </a:p>
        </p:txBody>
      </p:sp>
    </p:spTree>
    <p:extLst>
      <p:ext uri="{BB962C8B-B14F-4D97-AF65-F5344CB8AC3E}">
        <p14:creationId xmlns:p14="http://schemas.microsoft.com/office/powerpoint/2010/main" val="4268229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colored lines&#10;&#10;AI-generated content may be incorrect.">
            <a:extLst>
              <a:ext uri="{FF2B5EF4-FFF2-40B4-BE49-F238E27FC236}">
                <a16:creationId xmlns:a16="http://schemas.microsoft.com/office/drawing/2014/main" id="{CB908B0C-7BC6-63A4-1635-0B7AE1F2C475}"/>
              </a:ext>
            </a:extLst>
          </p:cNvPr>
          <p:cNvPicPr>
            <a:picLocks noChangeAspect="1"/>
          </p:cNvPicPr>
          <p:nvPr/>
        </p:nvPicPr>
        <p:blipFill>
          <a:blip r:embed="rId2"/>
          <a:stretch>
            <a:fillRect/>
          </a:stretch>
        </p:blipFill>
        <p:spPr>
          <a:xfrm>
            <a:off x="3379023" y="0"/>
            <a:ext cx="5715000" cy="5143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A5E22C-8F28-B153-E31B-C2DA7EFB2637}"/>
                  </a:ext>
                </a:extLst>
              </p:cNvPr>
              <p:cNvSpPr txBox="1"/>
              <p:nvPr/>
            </p:nvSpPr>
            <p:spPr>
              <a:xfrm>
                <a:off x="49977" y="1077509"/>
                <a:ext cx="3492020" cy="4211153"/>
              </a:xfrm>
              <a:prstGeom prst="rect">
                <a:avLst/>
              </a:prstGeom>
              <a:noFill/>
            </p:spPr>
            <p:txBody>
              <a:bodyPr wrap="square">
                <a:spAutoFit/>
              </a:bodyPr>
              <a:lstStyle/>
              <a:p>
                <a:pPr marL="0" lvl="0" indent="0">
                  <a:buNone/>
                </a:pPr>
                <a:r>
                  <a:rPr lang="en-US" sz="1400" dirty="0"/>
                  <a:t>1. Polarity</a:t>
                </a:r>
              </a:p>
              <a:p>
                <a:pPr marL="0" lvl="0" indent="0">
                  <a:buNone/>
                </a:pPr>
                <a:endParaRPr lang="en-US" sz="1400" dirty="0"/>
              </a:p>
              <a:p>
                <a:pPr marL="0" lvl="0" indent="0">
                  <a:buNone/>
                </a:pPr>
                <a:r>
                  <a:rPr lang="en-US" sz="1400" dirty="0"/>
                  <a:t>Current sheets of left-hand or right-hand polarity have symmetry in perpendicular displacements. The net average perpendicular transport vanishes</a:t>
                </a:r>
              </a:p>
              <a:p>
                <a:pPr marL="0" lvl="0" indent="0">
                  <a:buNone/>
                </a:pPr>
                <a:endParaRPr lang="en-US" sz="1400" dirty="0"/>
              </a:p>
              <a:p>
                <a:pPr marL="0" lvl="0" indent="0">
                  <a:buNone/>
                </a:pPr>
                <a14:m>
                  <m:oMathPara xmlns:m="http://schemas.openxmlformats.org/officeDocument/2006/math">
                    <m:oMathParaPr>
                      <m:jc m:val="center"/>
                    </m:oMathParaPr>
                    <m:oMath xmlns:m="http://schemas.openxmlformats.org/officeDocument/2006/math">
                      <m:bar>
                        <m:barPr>
                          <m:pos m:val="top"/>
                          <m:ctrlPr>
                            <a:rPr lang="ar-AE" sz="1400" i="1">
                              <a:latin typeface="Cambria Math" panose="02040503050406030204" pitchFamily="18" charset="0"/>
                            </a:rPr>
                          </m:ctrlPr>
                        </m:barPr>
                        <m:e>
                          <m:r>
                            <a:rPr lang="ar-AE" sz="1400">
                              <a:latin typeface="Cambria Math" panose="02040503050406030204" pitchFamily="18" charset="0"/>
                            </a:rPr>
                            <m:t>𝛥</m:t>
                          </m:r>
                          <m:sSub>
                            <m:sSubPr>
                              <m:ctrlPr>
                                <a:rPr lang="ar-AE" sz="1400" i="1">
                                  <a:latin typeface="Cambria Math" panose="02040503050406030204" pitchFamily="18" charset="0"/>
                                </a:rPr>
                              </m:ctrlPr>
                            </m:sSubPr>
                            <m:e>
                              <m:r>
                                <a:rPr lang="ar-AE" sz="1400">
                                  <a:latin typeface="Cambria Math" panose="02040503050406030204" pitchFamily="18" charset="0"/>
                                </a:rPr>
                                <m:t>𝑠</m:t>
                              </m:r>
                            </m:e>
                            <m:sub>
                              <m:r>
                                <a:rPr lang="ar-AE" sz="1400">
                                  <a:latin typeface="Cambria Math" panose="02040503050406030204" pitchFamily="18" charset="0"/>
                                </a:rPr>
                                <m:t>⊥</m:t>
                              </m:r>
                            </m:sub>
                          </m:sSub>
                        </m:e>
                      </m:bar>
                      <m:r>
                        <a:rPr lang="ar-AE" sz="1400">
                          <a:latin typeface="Cambria Math" panose="02040503050406030204" pitchFamily="18" charset="0"/>
                        </a:rPr>
                        <m:t>=0</m:t>
                      </m:r>
                    </m:oMath>
                  </m:oMathPara>
                </a14:m>
                <a:endParaRPr lang="en-US" sz="1400" dirty="0"/>
              </a:p>
              <a:p>
                <a:pPr marL="0" lvl="0" indent="0">
                  <a:buNone/>
                </a:pPr>
                <a:endParaRPr lang="en-US" sz="1400" dirty="0"/>
              </a:p>
              <a:p>
                <a:r>
                  <a:rPr lang="en-US" sz="1400" dirty="0"/>
                  <a:t>This polarity does not influence the parallel displacement.</a:t>
                </a:r>
              </a:p>
              <a:p>
                <a:pPr marL="0" lvl="0" indent="0">
                  <a:buNone/>
                </a:pPr>
                <a:endParaRPr lang="en-US" sz="1400" dirty="0"/>
              </a:p>
              <a:p>
                <a:r>
                  <a:rPr lang="en-US" sz="1400" dirty="0"/>
                  <a:t>2. Larger shear angle =&gt; increasing standard deviations of both parallel and perpendicular displacements</a:t>
                </a:r>
              </a:p>
              <a:p>
                <a:pPr marL="0" lvl="0" indent="0">
                  <a:buNone/>
                </a:pPr>
                <a:endParaRPr lang="en-US" sz="1400" dirty="0"/>
              </a:p>
              <a:p>
                <a:r>
                  <a:rPr lang="en-US" sz="1400" dirty="0"/>
                  <a:t>3. Higher energy=&gt; larger standard deviation of </a:t>
                </a:r>
                <a:r>
                  <a:rPr lang="en-US" sz="1400" dirty="0">
                    <a:solidFill>
                      <a:srgbClr val="FF0000"/>
                    </a:solidFill>
                  </a:rPr>
                  <a:t>perpendicular</a:t>
                </a:r>
              </a:p>
              <a:p>
                <a:endParaRPr lang="ar-AE" sz="1400" dirty="0"/>
              </a:p>
            </p:txBody>
          </p:sp>
        </mc:Choice>
        <mc:Fallback xmlns="">
          <p:sp>
            <p:nvSpPr>
              <p:cNvPr id="4" name="TextBox 3">
                <a:extLst>
                  <a:ext uri="{FF2B5EF4-FFF2-40B4-BE49-F238E27FC236}">
                    <a16:creationId xmlns:a16="http://schemas.microsoft.com/office/drawing/2014/main" id="{97A5E22C-8F28-B153-E31B-C2DA7EFB2637}"/>
                  </a:ext>
                </a:extLst>
              </p:cNvPr>
              <p:cNvSpPr txBox="1">
                <a:spLocks noRot="1" noChangeAspect="1" noMove="1" noResize="1" noEditPoints="1" noAdjustHandles="1" noChangeArrowheads="1" noChangeShapeType="1" noTextEdit="1"/>
              </p:cNvSpPr>
              <p:nvPr/>
            </p:nvSpPr>
            <p:spPr>
              <a:xfrm>
                <a:off x="49977" y="1077509"/>
                <a:ext cx="3492020" cy="4211153"/>
              </a:xfrm>
              <a:prstGeom prst="rect">
                <a:avLst/>
              </a:prstGeom>
              <a:blipFill>
                <a:blip r:embed="rId3"/>
                <a:stretch>
                  <a:fillRect l="-362" r="-362" b="-60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C1C225A-F104-8BA2-968D-93648A096A7B}"/>
              </a:ext>
            </a:extLst>
          </p:cNvPr>
          <p:cNvSpPr txBox="1"/>
          <p:nvPr/>
        </p:nvSpPr>
        <p:spPr>
          <a:xfrm>
            <a:off x="0" y="63030"/>
            <a:ext cx="3380808" cy="830997"/>
          </a:xfrm>
          <a:prstGeom prst="rect">
            <a:avLst/>
          </a:prstGeom>
          <a:noFill/>
        </p:spPr>
        <p:txBody>
          <a:bodyPr wrap="square">
            <a:spAutoFit/>
          </a:bodyPr>
          <a:lstStyle/>
          <a:p>
            <a:pPr marL="0" lvl="0" indent="0">
              <a:buNone/>
            </a:pPr>
            <a:r>
              <a:rPr lang="en-US" sz="2400" dirty="0">
                <a:latin typeface="+mj-lt"/>
              </a:rPr>
              <a:t>Towards the ensemble of current sheets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4BB203-1818-3713-7A42-E346A0833C9F}"/>
                  </a:ext>
                </a:extLst>
              </p:cNvPr>
              <p:cNvSpPr txBox="1"/>
              <p:nvPr/>
            </p:nvSpPr>
            <p:spPr>
              <a:xfrm>
                <a:off x="3653002" y="4740376"/>
                <a:ext cx="2274832" cy="403124"/>
              </a:xfrm>
              <a:prstGeom prst="rect">
                <a:avLst/>
              </a:prstGeom>
              <a:solidFill>
                <a:schemeClr val="bg1"/>
              </a:solidFill>
            </p:spPr>
            <p:txBody>
              <a:bodyPr wrap="square" rtlCol="0">
                <a:spAutoFit/>
              </a:bodyPr>
              <a:lstStyle/>
              <a:p>
                <a:pPr lvl="0"/>
                <a14:m>
                  <m:oMathPara xmlns:m="http://schemas.openxmlformats.org/officeDocument/2006/math">
                    <m:oMathParaPr>
                      <m:jc m:val="centerGroup"/>
                    </m:oMathParaPr>
                    <m:oMath xmlns:m="http://schemas.openxmlformats.org/officeDocument/2006/math">
                      <m:sSub>
                        <m:sSubPr>
                          <m:ctrlPr>
                            <a:rPr lang="ar-AE"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𝑙</m:t>
                          </m:r>
                        </m:e>
                        <m:sub>
                          <m:r>
                            <a:rPr lang="en-US" b="0" i="0" smtClean="0">
                              <a:solidFill>
                                <a:srgbClr val="FF0000"/>
                              </a:solidFill>
                              <a:latin typeface="Cambria Math" panose="02040503050406030204" pitchFamily="18" charset="0"/>
                            </a:rPr>
                            <m:t>0</m:t>
                          </m:r>
                        </m:sub>
                      </m:sSub>
                      <m:r>
                        <a:rPr lang="en-US" b="0" i="0" smtClean="0">
                          <a:solidFill>
                            <a:srgbClr val="FF0000"/>
                          </a:solidFill>
                          <a:latin typeface="Cambria Math" panose="02040503050406030204" pitchFamily="18" charset="0"/>
                        </a:rPr>
                        <m:t>= </m:t>
                      </m:r>
                      <m:r>
                        <a:rPr lang="ar-AE" smtClean="0">
                          <a:solidFill>
                            <a:srgbClr val="FF0000"/>
                          </a:solidFill>
                          <a:latin typeface="Cambria Math" panose="02040503050406030204" pitchFamily="18" charset="0"/>
                        </a:rPr>
                        <m:t>3×</m:t>
                      </m:r>
                      <m:sSup>
                        <m:sSupPr>
                          <m:ctrlPr>
                            <a:rPr lang="ar-AE" i="1">
                              <a:solidFill>
                                <a:srgbClr val="FF0000"/>
                              </a:solidFill>
                              <a:latin typeface="Cambria Math" panose="02040503050406030204" pitchFamily="18" charset="0"/>
                            </a:rPr>
                          </m:ctrlPr>
                        </m:sSupPr>
                        <m:e>
                          <m:r>
                            <a:rPr lang="ar-AE">
                              <a:solidFill>
                                <a:srgbClr val="FF0000"/>
                              </a:solidFill>
                              <a:latin typeface="Cambria Math" panose="02040503050406030204" pitchFamily="18" charset="0"/>
                            </a:rPr>
                            <m:t>10</m:t>
                          </m:r>
                        </m:e>
                        <m:sup>
                          <m:r>
                            <a:rPr lang="ar-AE">
                              <a:solidFill>
                                <a:srgbClr val="FF0000"/>
                              </a:solidFill>
                              <a:latin typeface="Cambria Math" panose="02040503050406030204" pitchFamily="18" charset="0"/>
                            </a:rPr>
                            <m:t>3</m:t>
                          </m:r>
                        </m:sup>
                      </m:sSup>
                      <m:r>
                        <m:rPr>
                          <m:nor/>
                        </m:rPr>
                        <a:rPr lang="ar-AE">
                          <a:solidFill>
                            <a:srgbClr val="FF0000"/>
                          </a:solidFill>
                        </a:rPr>
                        <m:t> </m:t>
                      </m:r>
                      <m:r>
                        <m:rPr>
                          <m:nor/>
                        </m:rPr>
                        <a:rPr lang="en-US">
                          <a:solidFill>
                            <a:srgbClr val="FF0000"/>
                          </a:solidFill>
                        </a:rPr>
                        <m:t>km</m:t>
                      </m:r>
                    </m:oMath>
                  </m:oMathPara>
                </a14:m>
                <a:endParaRPr lang="en-US" dirty="0">
                  <a:solidFill>
                    <a:srgbClr val="FF0000"/>
                  </a:solidFill>
                </a:endParaRPr>
              </a:p>
            </p:txBody>
          </p:sp>
        </mc:Choice>
        <mc:Fallback xmlns="">
          <p:sp>
            <p:nvSpPr>
              <p:cNvPr id="8" name="TextBox 7">
                <a:extLst>
                  <a:ext uri="{FF2B5EF4-FFF2-40B4-BE49-F238E27FC236}">
                    <a16:creationId xmlns:a16="http://schemas.microsoft.com/office/drawing/2014/main" id="{BF4BB203-1818-3713-7A42-E346A0833C9F}"/>
                  </a:ext>
                </a:extLst>
              </p:cNvPr>
              <p:cNvSpPr txBox="1">
                <a:spLocks noRot="1" noChangeAspect="1" noMove="1" noResize="1" noEditPoints="1" noAdjustHandles="1" noChangeArrowheads="1" noChangeShapeType="1" noTextEdit="1"/>
              </p:cNvSpPr>
              <p:nvPr/>
            </p:nvSpPr>
            <p:spPr>
              <a:xfrm>
                <a:off x="3653002" y="4740376"/>
                <a:ext cx="2274832" cy="403124"/>
              </a:xfrm>
              <a:prstGeom prst="rect">
                <a:avLst/>
              </a:prstGeom>
              <a:blipFill>
                <a:blip r:embed="rId4"/>
                <a:stretch>
                  <a:fillRect t="-3030" b="-2121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ED657FB-1EF0-9E15-3C16-AD2BA01AAF33}"/>
              </a:ext>
            </a:extLst>
          </p:cNvPr>
          <p:cNvSpPr txBox="1"/>
          <p:nvPr/>
        </p:nvSpPr>
        <p:spPr>
          <a:xfrm>
            <a:off x="8246627" y="1336480"/>
            <a:ext cx="897373" cy="646331"/>
          </a:xfrm>
          <a:prstGeom prst="rect">
            <a:avLst/>
          </a:prstGeom>
          <a:solidFill>
            <a:schemeClr val="bg1"/>
          </a:solidFill>
        </p:spPr>
        <p:txBody>
          <a:bodyPr wrap="square" rtlCol="0">
            <a:spAutoFit/>
          </a:bodyPr>
          <a:lstStyle/>
          <a:p>
            <a:r>
              <a:rPr lang="en-US" sz="1200" dirty="0">
                <a:solidFill>
                  <a:srgbClr val="FF0000"/>
                </a:solidFill>
              </a:rPr>
              <a:t>Gyro-radius /</a:t>
            </a:r>
          </a:p>
          <a:p>
            <a:r>
              <a:rPr lang="en-US" sz="1200" dirty="0">
                <a:solidFill>
                  <a:srgbClr val="FF0000"/>
                </a:solidFill>
              </a:rPr>
              <a:t>Thickness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5012" y="0"/>
                <a:ext cx="4595664" cy="4277710"/>
              </a:xfrm>
            </p:spPr>
            <p:txBody>
              <a:bodyPr>
                <a:normAutofit/>
              </a:bodyPr>
              <a:lstStyle/>
              <a:p>
                <a:pPr marL="0" lvl="0" indent="0">
                  <a:buNone/>
                </a:pPr>
                <a:r>
                  <a:rPr sz="1600" dirty="0"/>
                  <a:t>The parallel spatial diffusion coefficient is then expressed as:</a:t>
                </a:r>
                <a:endParaRPr lang="en-US" sz="1600" dirty="0"/>
              </a:p>
              <a:p>
                <a:pPr marL="0" lvl="0" indent="0">
                  <a:buNone/>
                </a:pPr>
                <a:endParaRPr sz="1600" dirty="0"/>
              </a:p>
              <a:p>
                <a:pPr marL="0" lvl="0" indent="0">
                  <a:buNone/>
                </a:pPr>
                <a14:m>
                  <m:oMathPara xmlns:m="http://schemas.openxmlformats.org/officeDocument/2006/math">
                    <m:oMathParaPr>
                      <m:jc m:val="center"/>
                    </m:oMathParaPr>
                    <m:oMath xmlns:m="http://schemas.openxmlformats.org/officeDocument/2006/math">
                      <m:sSub>
                        <m:sSubPr>
                          <m:ctrlPr>
                            <a:rPr sz="1600" i="1">
                              <a:latin typeface="Cambria Math" panose="02040503050406030204" pitchFamily="18" charset="0"/>
                            </a:rPr>
                          </m:ctrlPr>
                        </m:sSubPr>
                        <m:e>
                          <m:r>
                            <a:rPr sz="1600">
                              <a:latin typeface="Cambria Math" panose="02040503050406030204" pitchFamily="18" charset="0"/>
                            </a:rPr>
                            <m:t>𝜅</m:t>
                          </m:r>
                        </m:e>
                        <m:sub>
                          <m:r>
                            <a:rPr sz="1600">
                              <a:latin typeface="Cambria Math" panose="02040503050406030204" pitchFamily="18" charset="0"/>
                            </a:rPr>
                            <m:t>∥</m:t>
                          </m:r>
                        </m:sub>
                      </m:sSub>
                      <m:r>
                        <a:rPr sz="1600">
                          <a:latin typeface="Cambria Math" panose="02040503050406030204" pitchFamily="18" charset="0"/>
                        </a:rPr>
                        <m:t>=</m:t>
                      </m:r>
                      <m:rad>
                        <m:radPr>
                          <m:degHide m:val="on"/>
                          <m:ctrlPr>
                            <a:rPr sz="1600" i="1">
                              <a:latin typeface="Cambria Math" panose="02040503050406030204" pitchFamily="18" charset="0"/>
                            </a:rPr>
                          </m:ctrlPr>
                        </m:radPr>
                        <m:deg/>
                        <m:e>
                          <m:f>
                            <m:fPr>
                              <m:ctrlPr>
                                <a:rPr sz="1600" i="1">
                                  <a:latin typeface="Cambria Math" panose="02040503050406030204" pitchFamily="18" charset="0"/>
                                </a:rPr>
                              </m:ctrlPr>
                            </m:fPr>
                            <m:num>
                              <m:r>
                                <a:rPr sz="1600">
                                  <a:latin typeface="Cambria Math" panose="02040503050406030204" pitchFamily="18" charset="0"/>
                                </a:rPr>
                                <m:t>1</m:t>
                              </m:r>
                            </m:num>
                            <m:den>
                              <m:r>
                                <a:rPr sz="1600">
                                  <a:latin typeface="Cambria Math" panose="02040503050406030204" pitchFamily="18" charset="0"/>
                                </a:rPr>
                                <m:t>∑</m:t>
                              </m:r>
                              <m:r>
                                <a:rPr sz="1600">
                                  <a:latin typeface="Cambria Math" panose="02040503050406030204" pitchFamily="18" charset="0"/>
                                </a:rPr>
                                <m:t>𝑤</m:t>
                              </m:r>
                            </m:den>
                          </m:f>
                          <m:nary>
                            <m:naryPr>
                              <m:chr m:val="∑"/>
                              <m:limLoc m:val="undOvr"/>
                              <m:ctrlPr>
                                <a:rPr sz="1600" i="1">
                                  <a:latin typeface="Cambria Math" panose="02040503050406030204" pitchFamily="18" charset="0"/>
                                </a:rPr>
                              </m:ctrlPr>
                            </m:naryPr>
                            <m:sub>
                              <m:r>
                                <a:rPr sz="1600">
                                  <a:latin typeface="Cambria Math" panose="02040503050406030204" pitchFamily="18" charset="0"/>
                                </a:rPr>
                                <m:t>𝑖</m:t>
                              </m:r>
                              <m:r>
                                <a:rPr sz="1600">
                                  <a:latin typeface="Cambria Math" panose="02040503050406030204" pitchFamily="18" charset="0"/>
                                </a:rPr>
                                <m:t>=1</m:t>
                              </m:r>
                            </m:sub>
                            <m:sup>
                              <m:r>
                                <a:rPr sz="1600">
                                  <a:latin typeface="Cambria Math" panose="02040503050406030204" pitchFamily="18" charset="0"/>
                                </a:rPr>
                                <m:t>𝑛</m:t>
                              </m:r>
                            </m:sup>
                            <m:e>
                              <m:sSub>
                                <m:sSubPr>
                                  <m:ctrlPr>
                                    <a:rPr sz="1600" i="1">
                                      <a:latin typeface="Cambria Math" panose="02040503050406030204" pitchFamily="18" charset="0"/>
                                    </a:rPr>
                                  </m:ctrlPr>
                                </m:sSubPr>
                                <m:e>
                                  <m:r>
                                    <a:rPr sz="1600">
                                      <a:latin typeface="Cambria Math" panose="02040503050406030204" pitchFamily="18" charset="0"/>
                                    </a:rPr>
                                    <m:t>𝑤</m:t>
                                  </m:r>
                                </m:e>
                                <m:sub>
                                  <m:r>
                                    <a:rPr sz="1600">
                                      <a:latin typeface="Cambria Math" panose="02040503050406030204" pitchFamily="18" charset="0"/>
                                    </a:rPr>
                                    <m:t>𝑖</m:t>
                                  </m:r>
                                </m:sub>
                              </m:sSub>
                              <m:f>
                                <m:fPr>
                                  <m:ctrlPr>
                                    <a:rPr sz="1600" i="1">
                                      <a:latin typeface="Cambria Math" panose="02040503050406030204" pitchFamily="18" charset="0"/>
                                    </a:rPr>
                                  </m:ctrlPr>
                                </m:fPr>
                                <m:num>
                                  <m:sSup>
                                    <m:sSupPr>
                                      <m:ctrlPr>
                                        <a:rPr sz="1600" i="1">
                                          <a:latin typeface="Cambria Math" panose="02040503050406030204" pitchFamily="18" charset="0"/>
                                        </a:rPr>
                                      </m:ctrlPr>
                                    </m:sSupPr>
                                    <m:e>
                                      <m:d>
                                        <m:dPr>
                                          <m:ctrlPr>
                                            <a:rPr sz="1600" i="1">
                                              <a:latin typeface="Cambria Math" panose="02040503050406030204" pitchFamily="18" charset="0"/>
                                            </a:rPr>
                                          </m:ctrlPr>
                                        </m:dPr>
                                        <m:e>
                                          <m:r>
                                            <a:rPr sz="1600">
                                              <a:latin typeface="Cambria Math" panose="02040503050406030204" pitchFamily="18" charset="0"/>
                                            </a:rPr>
                                            <m:t>𝛥</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m:t>
                                              </m:r>
                                              <m:r>
                                                <a:rPr sz="1600">
                                                  <a:latin typeface="Cambria Math" panose="02040503050406030204" pitchFamily="18" charset="0"/>
                                                </a:rPr>
                                                <m:t>𝑖</m:t>
                                              </m:r>
                                            </m:sub>
                                          </m:sSub>
                                          <m:r>
                                            <a:rPr sz="1600">
                                              <a:latin typeface="Cambria Math" panose="02040503050406030204" pitchFamily="18" charset="0"/>
                                            </a:rPr>
                                            <m:t>−</m:t>
                                          </m:r>
                                          <m:bar>
                                            <m:barPr>
                                              <m:pos m:val="top"/>
                                              <m:ctrlPr>
                                                <a:rPr sz="1600" i="1">
                                                  <a:latin typeface="Cambria Math" panose="02040503050406030204" pitchFamily="18" charset="0"/>
                                                </a:rPr>
                                              </m:ctrlPr>
                                            </m:barPr>
                                            <m:e>
                                              <m:r>
                                                <a:rPr sz="1600">
                                                  <a:latin typeface="Cambria Math" panose="02040503050406030204" pitchFamily="18" charset="0"/>
                                                </a:rPr>
                                                <m:t>𝛥</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m:t>
                                                  </m:r>
                                                </m:sub>
                                              </m:sSub>
                                            </m:e>
                                          </m:bar>
                                        </m:e>
                                      </m:d>
                                    </m:e>
                                    <m:sup>
                                      <m:r>
                                        <a:rPr sz="1600">
                                          <a:latin typeface="Cambria Math" panose="02040503050406030204" pitchFamily="18" charset="0"/>
                                        </a:rPr>
                                        <m:t>2</m:t>
                                      </m:r>
                                    </m:sup>
                                  </m:sSup>
                                </m:num>
                                <m:den>
                                  <m:sSub>
                                    <m:sSubPr>
                                      <m:ctrlPr>
                                        <a:rPr sz="1600" i="1">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𝑖</m:t>
                                      </m:r>
                                    </m:sub>
                                  </m:sSub>
                                </m:den>
                              </m:f>
                            </m:e>
                          </m:nary>
                        </m:e>
                      </m:rad>
                    </m:oMath>
                  </m:oMathPara>
                </a14:m>
                <a:endParaRPr sz="1600" dirty="0"/>
              </a:p>
              <a:p>
                <a:pPr marL="0" lvl="0" indent="0">
                  <a:buNone/>
                </a:pPr>
                <a:endParaRPr lang="en-US" sz="1600" dirty="0"/>
              </a:p>
              <a:p>
                <a:pPr marL="0" lvl="0" indent="0">
                  <a:buNone/>
                </a:pPr>
                <a:r>
                  <a:rPr sz="1600" dirty="0"/>
                  <a:t>Similarly, for the perpendicular direction:</a:t>
                </a:r>
                <a:endParaRPr lang="en-US" sz="1600" dirty="0"/>
              </a:p>
              <a:p>
                <a:pPr marL="0" lvl="0" indent="0">
                  <a:buNone/>
                </a:pPr>
                <a:endParaRPr sz="1600" dirty="0"/>
              </a:p>
              <a:p>
                <a:pPr marL="0" lvl="0" indent="0">
                  <a:buNone/>
                </a:pPr>
                <a14:m>
                  <m:oMathPara xmlns:m="http://schemas.openxmlformats.org/officeDocument/2006/math">
                    <m:oMathParaPr>
                      <m:jc m:val="center"/>
                    </m:oMathParaPr>
                    <m:oMath xmlns:m="http://schemas.openxmlformats.org/officeDocument/2006/math">
                      <m:sSub>
                        <m:sSubPr>
                          <m:ctrlPr>
                            <a:rPr sz="1600" i="1">
                              <a:latin typeface="Cambria Math" panose="02040503050406030204" pitchFamily="18" charset="0"/>
                            </a:rPr>
                          </m:ctrlPr>
                        </m:sSubPr>
                        <m:e>
                          <m:r>
                            <a:rPr sz="1600">
                              <a:latin typeface="Cambria Math" panose="02040503050406030204" pitchFamily="18" charset="0"/>
                            </a:rPr>
                            <m:t>𝜅</m:t>
                          </m:r>
                        </m:e>
                        <m:sub>
                          <m:r>
                            <a:rPr sz="1600">
                              <a:latin typeface="Cambria Math" panose="02040503050406030204" pitchFamily="18" charset="0"/>
                            </a:rPr>
                            <m:t>⊥</m:t>
                          </m:r>
                        </m:sub>
                      </m:sSub>
                      <m:r>
                        <a:rPr sz="1600">
                          <a:latin typeface="Cambria Math" panose="02040503050406030204" pitchFamily="18" charset="0"/>
                        </a:rPr>
                        <m:t>=</m:t>
                      </m:r>
                      <m:rad>
                        <m:radPr>
                          <m:degHide m:val="on"/>
                          <m:ctrlPr>
                            <a:rPr sz="1600" i="1">
                              <a:latin typeface="Cambria Math" panose="02040503050406030204" pitchFamily="18" charset="0"/>
                            </a:rPr>
                          </m:ctrlPr>
                        </m:radPr>
                        <m:deg/>
                        <m:e>
                          <m:f>
                            <m:fPr>
                              <m:ctrlPr>
                                <a:rPr sz="1600" i="1">
                                  <a:latin typeface="Cambria Math" panose="02040503050406030204" pitchFamily="18" charset="0"/>
                                </a:rPr>
                              </m:ctrlPr>
                            </m:fPr>
                            <m:num>
                              <m:r>
                                <a:rPr sz="1600">
                                  <a:latin typeface="Cambria Math" panose="02040503050406030204" pitchFamily="18" charset="0"/>
                                </a:rPr>
                                <m:t>1</m:t>
                              </m:r>
                            </m:num>
                            <m:den>
                              <m:r>
                                <a:rPr sz="1600">
                                  <a:latin typeface="Cambria Math" panose="02040503050406030204" pitchFamily="18" charset="0"/>
                                </a:rPr>
                                <m:t>∑</m:t>
                              </m:r>
                              <m:r>
                                <a:rPr sz="1600">
                                  <a:latin typeface="Cambria Math" panose="02040503050406030204" pitchFamily="18" charset="0"/>
                                </a:rPr>
                                <m:t>𝑤</m:t>
                              </m:r>
                            </m:den>
                          </m:f>
                          <m:nary>
                            <m:naryPr>
                              <m:chr m:val="∑"/>
                              <m:limLoc m:val="undOvr"/>
                              <m:ctrlPr>
                                <a:rPr sz="1600" i="1">
                                  <a:latin typeface="Cambria Math" panose="02040503050406030204" pitchFamily="18" charset="0"/>
                                </a:rPr>
                              </m:ctrlPr>
                            </m:naryPr>
                            <m:sub>
                              <m:r>
                                <a:rPr sz="1600">
                                  <a:latin typeface="Cambria Math" panose="02040503050406030204" pitchFamily="18" charset="0"/>
                                </a:rPr>
                                <m:t>𝑖</m:t>
                              </m:r>
                              <m:r>
                                <a:rPr sz="1600">
                                  <a:latin typeface="Cambria Math" panose="02040503050406030204" pitchFamily="18" charset="0"/>
                                </a:rPr>
                                <m:t>=1</m:t>
                              </m:r>
                            </m:sub>
                            <m:sup>
                              <m:r>
                                <a:rPr sz="1600">
                                  <a:latin typeface="Cambria Math" panose="02040503050406030204" pitchFamily="18" charset="0"/>
                                </a:rPr>
                                <m:t>𝑛</m:t>
                              </m:r>
                            </m:sup>
                            <m:e>
                              <m:sSub>
                                <m:sSubPr>
                                  <m:ctrlPr>
                                    <a:rPr sz="1600" i="1">
                                      <a:latin typeface="Cambria Math" panose="02040503050406030204" pitchFamily="18" charset="0"/>
                                    </a:rPr>
                                  </m:ctrlPr>
                                </m:sSubPr>
                                <m:e>
                                  <m:r>
                                    <a:rPr sz="1600">
                                      <a:latin typeface="Cambria Math" panose="02040503050406030204" pitchFamily="18" charset="0"/>
                                    </a:rPr>
                                    <m:t>𝑤</m:t>
                                  </m:r>
                                </m:e>
                                <m:sub>
                                  <m:r>
                                    <a:rPr sz="1600">
                                      <a:latin typeface="Cambria Math" panose="02040503050406030204" pitchFamily="18" charset="0"/>
                                    </a:rPr>
                                    <m:t>𝑖</m:t>
                                  </m:r>
                                </m:sub>
                              </m:sSub>
                              <m:f>
                                <m:fPr>
                                  <m:ctrlPr>
                                    <a:rPr sz="1600" i="1">
                                      <a:latin typeface="Cambria Math" panose="02040503050406030204" pitchFamily="18" charset="0"/>
                                    </a:rPr>
                                  </m:ctrlPr>
                                </m:fPr>
                                <m:num>
                                  <m:sSup>
                                    <m:sSupPr>
                                      <m:ctrlPr>
                                        <a:rPr sz="1600" i="1">
                                          <a:latin typeface="Cambria Math" panose="02040503050406030204" pitchFamily="18" charset="0"/>
                                        </a:rPr>
                                      </m:ctrlPr>
                                    </m:sSupPr>
                                    <m:e>
                                      <m:d>
                                        <m:dPr>
                                          <m:ctrlPr>
                                            <a:rPr sz="1600" i="1">
                                              <a:latin typeface="Cambria Math" panose="02040503050406030204" pitchFamily="18" charset="0"/>
                                            </a:rPr>
                                          </m:ctrlPr>
                                        </m:dPr>
                                        <m:e>
                                          <m:r>
                                            <a:rPr sz="1600">
                                              <a:latin typeface="Cambria Math" panose="02040503050406030204" pitchFamily="18" charset="0"/>
                                            </a:rPr>
                                            <m:t>𝛥</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m:t>
                                              </m:r>
                                              <m:r>
                                                <a:rPr sz="1600">
                                                  <a:latin typeface="Cambria Math" panose="02040503050406030204" pitchFamily="18" charset="0"/>
                                                </a:rPr>
                                                <m:t>𝑖</m:t>
                                              </m:r>
                                            </m:sub>
                                          </m:sSub>
                                          <m:r>
                                            <a:rPr sz="1600">
                                              <a:latin typeface="Cambria Math" panose="02040503050406030204" pitchFamily="18" charset="0"/>
                                            </a:rPr>
                                            <m:t>−</m:t>
                                          </m:r>
                                          <m:bar>
                                            <m:barPr>
                                              <m:pos m:val="top"/>
                                              <m:ctrlPr>
                                                <a:rPr sz="1600" i="1">
                                                  <a:latin typeface="Cambria Math" panose="02040503050406030204" pitchFamily="18" charset="0"/>
                                                </a:rPr>
                                              </m:ctrlPr>
                                            </m:barPr>
                                            <m:e>
                                              <m:r>
                                                <a:rPr sz="1600">
                                                  <a:latin typeface="Cambria Math" panose="02040503050406030204" pitchFamily="18" charset="0"/>
                                                </a:rPr>
                                                <m:t>𝛥</m:t>
                                              </m:r>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m:t>
                                                  </m:r>
                                                </m:sub>
                                              </m:sSub>
                                            </m:e>
                                          </m:bar>
                                        </m:e>
                                      </m:d>
                                    </m:e>
                                    <m:sup>
                                      <m:r>
                                        <a:rPr sz="1600">
                                          <a:latin typeface="Cambria Math" panose="02040503050406030204" pitchFamily="18" charset="0"/>
                                        </a:rPr>
                                        <m:t>2</m:t>
                                      </m:r>
                                    </m:sup>
                                  </m:sSup>
                                </m:num>
                                <m:den>
                                  <m:sSub>
                                    <m:sSubPr>
                                      <m:ctrlPr>
                                        <a:rPr sz="1600" i="1">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𝑖</m:t>
                                      </m:r>
                                    </m:sub>
                                  </m:sSub>
                                </m:den>
                              </m:f>
                            </m:e>
                          </m:nary>
                        </m:e>
                      </m:rad>
                    </m:oMath>
                  </m:oMathPara>
                </a14:m>
                <a:endParaRPr sz="1600" dirty="0"/>
              </a:p>
              <a:p>
                <a:pPr marL="0" lvl="0" indent="0">
                  <a:buNone/>
                </a:pPr>
                <a:endParaRPr lang="en-US" sz="1600" dirty="0"/>
              </a:p>
              <a:p>
                <a:pPr marL="0" lvl="0" indent="0">
                  <a:buNone/>
                </a:pPr>
                <a:r>
                  <a:rPr sz="1600" dirty="0"/>
                  <a:t>where </a:t>
                </a:r>
                <a14:m>
                  <m:oMath xmlns:m="http://schemas.openxmlformats.org/officeDocument/2006/math">
                    <m:sSub>
                      <m:sSubPr>
                        <m:ctrlPr>
                          <a:rPr sz="1600" i="1">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𝑖</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𝑐𝑠</m:t>
                        </m:r>
                        <m:r>
                          <a:rPr sz="1600">
                            <a:latin typeface="Cambria Math" panose="02040503050406030204" pitchFamily="18" charset="0"/>
                          </a:rPr>
                          <m:t>,</m:t>
                        </m:r>
                        <m:r>
                          <a:rPr sz="1600">
                            <a:latin typeface="Cambria Math" panose="02040503050406030204" pitchFamily="18" charset="0"/>
                          </a:rPr>
                          <m:t>𝑖</m:t>
                        </m:r>
                      </m:sub>
                    </m:sSub>
                    <m:r>
                      <a:rPr sz="1600">
                        <a:latin typeface="Cambria Math" panose="02040503050406030204" pitchFamily="18" charset="0"/>
                      </a:rPr>
                      <m:t>+</m:t>
                    </m:r>
                    <m:d>
                      <m:dPr>
                        <m:begChr m:val="|"/>
                        <m:endChr m:val="|"/>
                        <m:ctrlPr>
                          <a:rPr sz="1600" i="1">
                            <a:latin typeface="Cambria Math" panose="02040503050406030204" pitchFamily="18" charset="0"/>
                          </a:rPr>
                        </m:ctrlPr>
                      </m:dPr>
                      <m:e>
                        <m:sSub>
                          <m:sSubPr>
                            <m:ctrlPr>
                              <a:rPr sz="1600" i="1">
                                <a:latin typeface="Cambria Math" panose="02040503050406030204" pitchFamily="18" charset="0"/>
                              </a:rPr>
                            </m:ctrlPr>
                          </m:sSubPr>
                          <m:e>
                            <m:r>
                              <a:rPr sz="1600">
                                <a:latin typeface="Cambria Math" panose="02040503050406030204" pitchFamily="18" charset="0"/>
                              </a:rPr>
                              <m:t>𝑠</m:t>
                            </m:r>
                          </m:e>
                          <m:sub>
                            <m:r>
                              <a:rPr sz="1600">
                                <a:latin typeface="Cambria Math" panose="02040503050406030204" pitchFamily="18" charset="0"/>
                              </a:rPr>
                              <m:t>𝑓𝑠</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𝑣</m:t>
                            </m:r>
                          </m:e>
                          <m:sub>
                            <m:r>
                              <a:rPr sz="1600">
                                <a:latin typeface="Cambria Math" panose="02040503050406030204" pitchFamily="18" charset="0"/>
                              </a:rPr>
                              <m:t>∥,1,</m:t>
                            </m:r>
                            <m:r>
                              <a:rPr sz="1600">
                                <a:latin typeface="Cambria Math" panose="02040503050406030204" pitchFamily="18" charset="0"/>
                              </a:rPr>
                              <m:t>𝑖</m:t>
                            </m:r>
                          </m:sub>
                        </m:sSub>
                      </m:e>
                    </m:d>
                  </m:oMath>
                </a14:m>
                <a:r>
                  <a:rPr sz="1600"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5012" y="0"/>
                <a:ext cx="4595664" cy="4277710"/>
              </a:xfrm>
              <a:blipFill>
                <a:blip r:embed="rId2"/>
                <a:stretch>
                  <a:fillRect l="-829" t="-593" b="-11276"/>
                </a:stretch>
              </a:blipFill>
            </p:spPr>
            <p:txBody>
              <a:bodyPr/>
              <a:lstStyle/>
              <a:p>
                <a:r>
                  <a:rPr lang="en-US">
                    <a:noFill/>
                  </a:rPr>
                  <a:t> </a:t>
                </a:r>
              </a:p>
            </p:txBody>
          </p:sp>
        </mc:Fallback>
      </mc:AlternateContent>
      <p:pic>
        <p:nvPicPr>
          <p:cNvPr id="5" name="Picture 4" descr="A graph of different types of graphs&#10;&#10;AI-generated content may be incorrect.">
            <a:extLst>
              <a:ext uri="{FF2B5EF4-FFF2-40B4-BE49-F238E27FC236}">
                <a16:creationId xmlns:a16="http://schemas.microsoft.com/office/drawing/2014/main" id="{E9819C9E-A727-968E-4B49-F454B724A898}"/>
              </a:ext>
            </a:extLst>
          </p:cNvPr>
          <p:cNvPicPr>
            <a:picLocks noChangeAspect="1"/>
          </p:cNvPicPr>
          <p:nvPr/>
        </p:nvPicPr>
        <p:blipFill>
          <a:blip r:embed="rId3"/>
          <a:stretch>
            <a:fillRect/>
          </a:stretch>
        </p:blipFill>
        <p:spPr>
          <a:xfrm>
            <a:off x="4375068" y="63944"/>
            <a:ext cx="4768932" cy="4637958"/>
          </a:xfrm>
          <a:prstGeom prst="rect">
            <a:avLst/>
          </a:prstGeom>
        </p:spPr>
      </p:pic>
      <p:sp>
        <p:nvSpPr>
          <p:cNvPr id="4" name="TextBox 3">
            <a:extLst>
              <a:ext uri="{FF2B5EF4-FFF2-40B4-BE49-F238E27FC236}">
                <a16:creationId xmlns:a16="http://schemas.microsoft.com/office/drawing/2014/main" id="{0968ED08-9C93-9375-24B4-DF7098E041F6}"/>
              </a:ext>
            </a:extLst>
          </p:cNvPr>
          <p:cNvSpPr txBox="1"/>
          <p:nvPr/>
        </p:nvSpPr>
        <p:spPr>
          <a:xfrm>
            <a:off x="425041" y="4497169"/>
            <a:ext cx="8293918" cy="646331"/>
          </a:xfrm>
          <a:prstGeom prst="rect">
            <a:avLst/>
          </a:prstGeom>
          <a:noFill/>
        </p:spPr>
        <p:txBody>
          <a:bodyPr wrap="square">
            <a:spAutoFit/>
          </a:bodyPr>
          <a:lstStyle/>
          <a:p>
            <a:pPr marL="0" lvl="0" indent="0">
              <a:buNone/>
            </a:pPr>
            <a:r>
              <a:rPr lang="en-US" i="1" dirty="0">
                <a:solidFill>
                  <a:schemeClr val="accent6">
                    <a:lumMod val="75000"/>
                  </a:schemeClr>
                </a:solidFill>
              </a:rPr>
              <a:t>Takeaway 3: Current sheets provide spatial diffusion beyond classical random-phase quasilinear framework</a:t>
            </a:r>
            <a:endParaRPr lang="en-US" dirty="0">
              <a:solidFill>
                <a:schemeClr val="accent6">
                  <a:lumMod val="75000"/>
                </a:schemeClr>
              </a:solidFill>
            </a:endParaRPr>
          </a:p>
        </p:txBody>
      </p:sp>
      <p:sp>
        <p:nvSpPr>
          <p:cNvPr id="6" name="TextBox 5">
            <a:extLst>
              <a:ext uri="{FF2B5EF4-FFF2-40B4-BE49-F238E27FC236}">
                <a16:creationId xmlns:a16="http://schemas.microsoft.com/office/drawing/2014/main" id="{F9FC83CD-9D45-5120-3099-05DD811CBBD0}"/>
              </a:ext>
            </a:extLst>
          </p:cNvPr>
          <p:cNvSpPr txBox="1"/>
          <p:nvPr/>
        </p:nvSpPr>
        <p:spPr>
          <a:xfrm>
            <a:off x="8351731" y="1199846"/>
            <a:ext cx="897373" cy="646331"/>
          </a:xfrm>
          <a:prstGeom prst="rect">
            <a:avLst/>
          </a:prstGeom>
          <a:solidFill>
            <a:schemeClr val="bg1"/>
          </a:solidFill>
        </p:spPr>
        <p:txBody>
          <a:bodyPr wrap="square" rtlCol="0">
            <a:spAutoFit/>
          </a:bodyPr>
          <a:lstStyle/>
          <a:p>
            <a:r>
              <a:rPr lang="en-US" sz="1200" dirty="0">
                <a:solidFill>
                  <a:srgbClr val="FF0000"/>
                </a:solidFill>
              </a:rPr>
              <a:t>Gyro-radius /</a:t>
            </a:r>
          </a:p>
          <a:p>
            <a:r>
              <a:rPr lang="en-US" sz="1200" dirty="0">
                <a:solidFill>
                  <a:srgbClr val="FF0000"/>
                </a:solidFill>
              </a:rPr>
              <a:t>Thickness</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511B688-F001-4545-6AF3-797E00794AAF}"/>
                  </a:ext>
                </a:extLst>
              </p:cNvPr>
              <p:cNvSpPr txBox="1"/>
              <p:nvPr/>
            </p:nvSpPr>
            <p:spPr>
              <a:xfrm>
                <a:off x="3100244" y="-65902"/>
                <a:ext cx="4624646" cy="334579"/>
              </a:xfrm>
              <a:prstGeom prst="rect">
                <a:avLst/>
              </a:prstGeom>
              <a:noFill/>
            </p:spPr>
            <p:txBody>
              <a:bodyPr wrap="square">
                <a:spAutoFit/>
              </a:bodyPr>
              <a:lstStyle/>
              <a:p>
                <a:pPr marL="0" lvl="0" indent="0">
                  <a:buNone/>
                </a:pPr>
                <a14:m>
                  <m:oMathPara xmlns:m="http://schemas.openxmlformats.org/officeDocument/2006/math">
                    <m:oMathParaPr>
                      <m:jc m:val="centerGroup"/>
                    </m:oMathParaPr>
                    <m:oMath xmlns:m="http://schemas.openxmlformats.org/officeDocument/2006/math">
                      <m:sSub>
                        <m:sSubPr>
                          <m:ctrlPr>
                            <a:rPr lang="ar-AE" sz="1400" i="1" smtClean="0">
                              <a:solidFill>
                                <a:srgbClr val="FF0000"/>
                              </a:solidFill>
                              <a:latin typeface="Cambria Math" panose="02040503050406030204" pitchFamily="18" charset="0"/>
                            </a:rPr>
                          </m:ctrlPr>
                        </m:sSubPr>
                        <m:e>
                          <m:r>
                            <a:rPr lang="ar-AE" sz="1400">
                              <a:solidFill>
                                <a:srgbClr val="FF0000"/>
                              </a:solidFill>
                              <a:latin typeface="Cambria Math" panose="02040503050406030204" pitchFamily="18" charset="0"/>
                            </a:rPr>
                            <m:t>𝜅</m:t>
                          </m:r>
                        </m:e>
                        <m:sub>
                          <m:r>
                            <a:rPr lang="ar-AE" sz="1400">
                              <a:solidFill>
                                <a:srgbClr val="FF0000"/>
                              </a:solidFill>
                              <a:latin typeface="Cambria Math" panose="02040503050406030204" pitchFamily="18" charset="0"/>
                            </a:rPr>
                            <m:t>0</m:t>
                          </m:r>
                        </m:sub>
                      </m:sSub>
                      <m:r>
                        <a:rPr lang="ar-AE" sz="1400">
                          <a:solidFill>
                            <a:srgbClr val="FF0000"/>
                          </a:solidFill>
                          <a:latin typeface="Cambria Math" panose="02040503050406030204" pitchFamily="18" charset="0"/>
                        </a:rPr>
                        <m:t>=</m:t>
                      </m:r>
                      <m:sSubSup>
                        <m:sSubSupPr>
                          <m:ctrlPr>
                            <a:rPr lang="ar-AE" sz="1400" i="1">
                              <a:solidFill>
                                <a:srgbClr val="FF0000"/>
                              </a:solidFill>
                              <a:latin typeface="Cambria Math" panose="02040503050406030204" pitchFamily="18" charset="0"/>
                            </a:rPr>
                          </m:ctrlPr>
                        </m:sSubSupPr>
                        <m:e>
                          <m:r>
                            <a:rPr lang="ar-AE" sz="1400">
                              <a:solidFill>
                                <a:srgbClr val="FF0000"/>
                              </a:solidFill>
                              <a:latin typeface="Cambria Math" panose="02040503050406030204" pitchFamily="18" charset="0"/>
                            </a:rPr>
                            <m:t>𝑙</m:t>
                          </m:r>
                        </m:e>
                        <m:sub>
                          <m:r>
                            <a:rPr lang="ar-AE" sz="1400">
                              <a:solidFill>
                                <a:srgbClr val="FF0000"/>
                              </a:solidFill>
                              <a:latin typeface="Cambria Math" panose="02040503050406030204" pitchFamily="18" charset="0"/>
                            </a:rPr>
                            <m:t>0</m:t>
                          </m:r>
                        </m:sub>
                        <m:sup>
                          <m:r>
                            <a:rPr lang="ar-AE" sz="1400">
                              <a:solidFill>
                                <a:srgbClr val="FF0000"/>
                              </a:solidFill>
                              <a:latin typeface="Cambria Math" panose="02040503050406030204" pitchFamily="18" charset="0"/>
                            </a:rPr>
                            <m:t>2</m:t>
                          </m:r>
                        </m:sup>
                      </m:sSubSup>
                      <m:r>
                        <a:rPr lang="ar-AE" sz="1400">
                          <a:solidFill>
                            <a:srgbClr val="FF0000"/>
                          </a:solidFill>
                          <a:latin typeface="Cambria Math" panose="02040503050406030204" pitchFamily="18" charset="0"/>
                        </a:rPr>
                        <m:t>/</m:t>
                      </m:r>
                      <m:sSub>
                        <m:sSubPr>
                          <m:ctrlPr>
                            <a:rPr lang="ar-AE" sz="1400" i="1">
                              <a:solidFill>
                                <a:srgbClr val="FF0000"/>
                              </a:solidFill>
                              <a:latin typeface="Cambria Math" panose="02040503050406030204" pitchFamily="18" charset="0"/>
                            </a:rPr>
                          </m:ctrlPr>
                        </m:sSubPr>
                        <m:e>
                          <m:r>
                            <a:rPr lang="ar-AE" sz="1400">
                              <a:solidFill>
                                <a:srgbClr val="FF0000"/>
                              </a:solidFill>
                              <a:latin typeface="Cambria Math" panose="02040503050406030204" pitchFamily="18" charset="0"/>
                            </a:rPr>
                            <m:t>𝑡</m:t>
                          </m:r>
                        </m:e>
                        <m:sub>
                          <m:r>
                            <a:rPr lang="ar-AE" sz="1400">
                              <a:solidFill>
                                <a:srgbClr val="FF0000"/>
                              </a:solidFill>
                              <a:latin typeface="Cambria Math" panose="02040503050406030204" pitchFamily="18" charset="0"/>
                            </a:rPr>
                            <m:t>0</m:t>
                          </m:r>
                        </m:sub>
                      </m:sSub>
                      <m:r>
                        <a:rPr lang="ar-AE" sz="1400">
                          <a:solidFill>
                            <a:srgbClr val="FF0000"/>
                          </a:solidFill>
                          <a:latin typeface="Cambria Math" panose="02040503050406030204" pitchFamily="18" charset="0"/>
                        </a:rPr>
                        <m:t>≈</m:t>
                      </m:r>
                      <m:sSup>
                        <m:sSupPr>
                          <m:ctrlPr>
                            <a:rPr lang="ar-AE" sz="1400" i="1">
                              <a:solidFill>
                                <a:srgbClr val="FF0000"/>
                              </a:solidFill>
                              <a:latin typeface="Cambria Math" panose="02040503050406030204" pitchFamily="18" charset="0"/>
                            </a:rPr>
                          </m:ctrlPr>
                        </m:sSupPr>
                        <m:e>
                          <m:r>
                            <a:rPr lang="ar-AE" sz="1400">
                              <a:solidFill>
                                <a:srgbClr val="FF0000"/>
                              </a:solidFill>
                              <a:latin typeface="Cambria Math" panose="02040503050406030204" pitchFamily="18" charset="0"/>
                            </a:rPr>
                            <m:t>10</m:t>
                          </m:r>
                        </m:e>
                        <m:sup>
                          <m:r>
                            <a:rPr lang="ar-AE" sz="1400">
                              <a:solidFill>
                                <a:srgbClr val="FF0000"/>
                              </a:solidFill>
                              <a:latin typeface="Cambria Math" panose="02040503050406030204" pitchFamily="18" charset="0"/>
                            </a:rPr>
                            <m:t>7</m:t>
                          </m:r>
                        </m:sup>
                      </m:sSup>
                      <m:sSup>
                        <m:sSupPr>
                          <m:ctrlPr>
                            <a:rPr lang="ar-AE" sz="1400" i="1">
                              <a:solidFill>
                                <a:srgbClr val="FF0000"/>
                              </a:solidFill>
                              <a:latin typeface="Cambria Math" panose="02040503050406030204" pitchFamily="18" charset="0"/>
                            </a:rPr>
                          </m:ctrlPr>
                        </m:sSupPr>
                        <m:e>
                          <m:r>
                            <m:rPr>
                              <m:nor/>
                            </m:rPr>
                            <a:rPr lang="ar-AE" sz="1400">
                              <a:solidFill>
                                <a:srgbClr val="FF0000"/>
                              </a:solidFill>
                            </a:rPr>
                            <m:t> </m:t>
                          </m:r>
                          <m:r>
                            <m:rPr>
                              <m:nor/>
                            </m:rPr>
                            <a:rPr lang="en-US" sz="1400">
                              <a:solidFill>
                                <a:srgbClr val="FF0000"/>
                              </a:solidFill>
                            </a:rPr>
                            <m:t>km</m:t>
                          </m:r>
                        </m:e>
                        <m:sup>
                          <m:r>
                            <a:rPr lang="ar-AE" sz="1400">
                              <a:solidFill>
                                <a:srgbClr val="FF0000"/>
                              </a:solidFill>
                              <a:latin typeface="Cambria Math" panose="02040503050406030204" pitchFamily="18" charset="0"/>
                            </a:rPr>
                            <m:t>2</m:t>
                          </m:r>
                        </m:sup>
                      </m:sSup>
                      <m:sSup>
                        <m:sSupPr>
                          <m:ctrlPr>
                            <a:rPr lang="ar-AE" sz="1400" i="1">
                              <a:solidFill>
                                <a:srgbClr val="FF0000"/>
                              </a:solidFill>
                              <a:latin typeface="Cambria Math" panose="02040503050406030204" pitchFamily="18" charset="0"/>
                            </a:rPr>
                          </m:ctrlPr>
                        </m:sSupPr>
                        <m:e>
                          <m:r>
                            <m:rPr>
                              <m:nor/>
                            </m:rPr>
                            <a:rPr lang="ar-AE" sz="1400">
                              <a:solidFill>
                                <a:srgbClr val="FF0000"/>
                              </a:solidFill>
                            </a:rPr>
                            <m:t> </m:t>
                          </m:r>
                          <m:r>
                            <m:rPr>
                              <m:nor/>
                            </m:rPr>
                            <a:rPr lang="en-US" sz="1400">
                              <a:solidFill>
                                <a:srgbClr val="FF0000"/>
                              </a:solidFill>
                            </a:rPr>
                            <m:t>s</m:t>
                          </m:r>
                        </m:e>
                        <m:sup>
                          <m:r>
                            <a:rPr lang="ar-AE" sz="1400">
                              <a:solidFill>
                                <a:srgbClr val="FF0000"/>
                              </a:solidFill>
                              <a:latin typeface="Cambria Math" panose="02040503050406030204" pitchFamily="18" charset="0"/>
                            </a:rPr>
                            <m:t>−1</m:t>
                          </m:r>
                        </m:sup>
                      </m:sSup>
                    </m:oMath>
                  </m:oMathPara>
                </a14:m>
                <a:endParaRPr lang="ar-AE" sz="1400" dirty="0"/>
              </a:p>
            </p:txBody>
          </p:sp>
        </mc:Choice>
        <mc:Fallback>
          <p:sp>
            <p:nvSpPr>
              <p:cNvPr id="7" name="TextBox 6">
                <a:extLst>
                  <a:ext uri="{FF2B5EF4-FFF2-40B4-BE49-F238E27FC236}">
                    <a16:creationId xmlns:a16="http://schemas.microsoft.com/office/drawing/2014/main" id="{2511B688-F001-4545-6AF3-797E00794AAF}"/>
                  </a:ext>
                </a:extLst>
              </p:cNvPr>
              <p:cNvSpPr txBox="1">
                <a:spLocks noRot="1" noChangeAspect="1" noMove="1" noResize="1" noEditPoints="1" noAdjustHandles="1" noChangeArrowheads="1" noChangeShapeType="1" noTextEdit="1"/>
              </p:cNvSpPr>
              <p:nvPr/>
            </p:nvSpPr>
            <p:spPr>
              <a:xfrm>
                <a:off x="3100244" y="-65902"/>
                <a:ext cx="4624646" cy="334579"/>
              </a:xfrm>
              <a:prstGeom prst="rect">
                <a:avLst/>
              </a:prstGeom>
              <a:blipFill>
                <a:blip r:embed="rId4"/>
                <a:stretch>
                  <a:fillRect b="-14286"/>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D839-98A3-F4B5-B919-75A3F51BA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364E8-2BF2-C0F5-35B6-AA1F383231AF}"/>
              </a:ext>
            </a:extLst>
          </p:cNvPr>
          <p:cNvSpPr>
            <a:spLocks noGrp="1"/>
          </p:cNvSpPr>
          <p:nvPr>
            <p:ph type="title"/>
          </p:nvPr>
        </p:nvSpPr>
        <p:spPr>
          <a:xfrm>
            <a:off x="-192615" y="173338"/>
            <a:ext cx="4875452" cy="883071"/>
          </a:xfrm>
        </p:spPr>
        <p:txBody>
          <a:bodyPr>
            <a:noAutofit/>
          </a:bodyPr>
          <a:lstStyle/>
          <a:p>
            <a:pPr marL="0" lvl="0" indent="0">
              <a:buNone/>
            </a:pPr>
            <a:r>
              <a:rPr sz="2400" dirty="0" err="1">
                <a:latin typeface="Courier"/>
              </a:rPr>
              <a:t>SPEDAS.jl</a:t>
            </a:r>
            <a:r>
              <a:rPr sz="2400" dirty="0"/>
              <a:t> : </a:t>
            </a:r>
            <a:r>
              <a:rPr sz="1800" dirty="0"/>
              <a:t>Julia-based Space Physics Environment Data Analysis Software framework</a:t>
            </a:r>
            <a:endParaRPr sz="2400" dirty="0"/>
          </a:p>
        </p:txBody>
      </p:sp>
      <p:pic>
        <p:nvPicPr>
          <p:cNvPr id="5" name="Picture 1" descr="figures/spedas.jl.png">
            <a:extLst>
              <a:ext uri="{FF2B5EF4-FFF2-40B4-BE49-F238E27FC236}">
                <a16:creationId xmlns:a16="http://schemas.microsoft.com/office/drawing/2014/main" id="{FBA3ACCD-114E-E618-222E-6A1AC83B14DA}"/>
              </a:ext>
            </a:extLst>
          </p:cNvPr>
          <p:cNvPicPr>
            <a:picLocks noGrp="1" noChangeAspect="1"/>
          </p:cNvPicPr>
          <p:nvPr/>
        </p:nvPicPr>
        <p:blipFill>
          <a:blip r:embed="rId4"/>
          <a:stretch>
            <a:fillRect/>
          </a:stretch>
        </p:blipFill>
        <p:spPr bwMode="auto">
          <a:xfrm>
            <a:off x="4572000" y="528204"/>
            <a:ext cx="4499107" cy="4499107"/>
          </a:xfrm>
          <a:prstGeom prst="rect">
            <a:avLst/>
          </a:prstGeom>
          <a:noFill/>
          <a:ln w="9525">
            <a:noFill/>
            <a:headEnd/>
            <a:tailEnd/>
          </a:ln>
        </p:spPr>
      </p:pic>
      <p:pic>
        <p:nvPicPr>
          <p:cNvPr id="7" name="interactive_speasy">
            <a:hlinkClick r:id="" action="ppaction://media"/>
            <a:extLst>
              <a:ext uri="{FF2B5EF4-FFF2-40B4-BE49-F238E27FC236}">
                <a16:creationId xmlns:a16="http://schemas.microsoft.com/office/drawing/2014/main" id="{556EE273-7535-9DFE-06FB-22C6F739405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4583" y="922225"/>
            <a:ext cx="4281056" cy="4221275"/>
          </a:xfrm>
          <a:prstGeom prst="rect">
            <a:avLst/>
          </a:prstGeom>
        </p:spPr>
      </p:pic>
      <p:pic>
        <p:nvPicPr>
          <p:cNvPr id="3" name="Picture 2">
            <a:extLst>
              <a:ext uri="{FF2B5EF4-FFF2-40B4-BE49-F238E27FC236}">
                <a16:creationId xmlns:a16="http://schemas.microsoft.com/office/drawing/2014/main" id="{82488267-774F-7ADF-B9BA-883864B165DA}"/>
              </a:ext>
            </a:extLst>
          </p:cNvPr>
          <p:cNvPicPr>
            <a:picLocks noChangeAspect="1"/>
          </p:cNvPicPr>
          <p:nvPr/>
        </p:nvPicPr>
        <p:blipFill>
          <a:blip r:embed="rId6"/>
          <a:stretch>
            <a:fillRect/>
          </a:stretch>
        </p:blipFill>
        <p:spPr>
          <a:xfrm>
            <a:off x="8087591" y="0"/>
            <a:ext cx="1056409" cy="1056409"/>
          </a:xfrm>
          <a:prstGeom prst="rect">
            <a:avLst/>
          </a:prstGeom>
        </p:spPr>
      </p:pic>
    </p:spTree>
    <p:extLst>
      <p:ext uri="{BB962C8B-B14F-4D97-AF65-F5344CB8AC3E}">
        <p14:creationId xmlns:p14="http://schemas.microsoft.com/office/powerpoint/2010/main" val="313477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5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452" y="213038"/>
            <a:ext cx="4875452" cy="883071"/>
          </a:xfrm>
        </p:spPr>
        <p:txBody>
          <a:bodyPr>
            <a:noAutofit/>
          </a:bodyPr>
          <a:lstStyle/>
          <a:p>
            <a:pPr marL="0" lvl="0" indent="0">
              <a:buNone/>
            </a:pPr>
            <a:r>
              <a:rPr sz="2400" dirty="0" err="1">
                <a:latin typeface="Courier"/>
              </a:rPr>
              <a:t>SPEDAS.jl</a:t>
            </a:r>
            <a:r>
              <a:rPr sz="2400" dirty="0"/>
              <a:t> : Julia-based Space Physics Environment Data Analysis Software framework.</a:t>
            </a:r>
          </a:p>
        </p:txBody>
      </p:sp>
      <p:pic>
        <p:nvPicPr>
          <p:cNvPr id="3" name="Picture 1" descr="figures/spedas_field_line.png"/>
          <p:cNvPicPr>
            <a:picLocks noGrp="1" noChangeAspect="1"/>
          </p:cNvPicPr>
          <p:nvPr/>
        </p:nvPicPr>
        <p:blipFill>
          <a:blip r:embed="rId2"/>
          <a:stretch>
            <a:fillRect/>
          </a:stretch>
        </p:blipFill>
        <p:spPr bwMode="auto">
          <a:xfrm>
            <a:off x="93723" y="1268696"/>
            <a:ext cx="4766115" cy="3570654"/>
          </a:xfrm>
          <a:prstGeom prst="rect">
            <a:avLst/>
          </a:prstGeom>
          <a:noFill/>
          <a:ln w="9525">
            <a:noFill/>
            <a:headEnd/>
            <a:tailEnd/>
          </a:ln>
        </p:spPr>
      </p:pic>
      <p:sp>
        <p:nvSpPr>
          <p:cNvPr id="4" name="TextBox 3"/>
          <p:cNvSpPr txBox="1"/>
          <p:nvPr/>
        </p:nvSpPr>
        <p:spPr>
          <a:xfrm>
            <a:off x="-1637678" y="4773896"/>
            <a:ext cx="8229600" cy="508000"/>
          </a:xfrm>
          <a:prstGeom prst="rect">
            <a:avLst/>
          </a:prstGeom>
          <a:noFill/>
        </p:spPr>
        <p:txBody>
          <a:bodyPr/>
          <a:lstStyle/>
          <a:p>
            <a:pPr marL="0" lvl="0" indent="0" algn="ctr">
              <a:buNone/>
            </a:pPr>
            <a:r>
              <a:rPr dirty="0"/>
              <a:t>Azimuthal field line visualization</a:t>
            </a:r>
          </a:p>
        </p:txBody>
      </p:sp>
      <p:pic>
        <p:nvPicPr>
          <p:cNvPr id="6" name="Picture 5">
            <a:extLst>
              <a:ext uri="{FF2B5EF4-FFF2-40B4-BE49-F238E27FC236}">
                <a16:creationId xmlns:a16="http://schemas.microsoft.com/office/drawing/2014/main" id="{932D63CB-8E7B-EEC4-F480-3C5F66C7EC09}"/>
              </a:ext>
            </a:extLst>
          </p:cNvPr>
          <p:cNvPicPr>
            <a:picLocks noChangeAspect="1"/>
          </p:cNvPicPr>
          <p:nvPr/>
        </p:nvPicPr>
        <p:blipFill>
          <a:blip r:embed="rId3"/>
          <a:stretch>
            <a:fillRect/>
          </a:stretch>
        </p:blipFill>
        <p:spPr>
          <a:xfrm>
            <a:off x="4523255" y="0"/>
            <a:ext cx="4695073"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References</a:t>
            </a:r>
          </a:p>
        </p:txBody>
      </p:sp>
      <p:sp>
        <p:nvSpPr>
          <p:cNvPr id="3" name="Content Placeholder 2"/>
          <p:cNvSpPr>
            <a:spLocks noGrp="1"/>
          </p:cNvSpPr>
          <p:nvPr>
            <p:ph idx="1"/>
          </p:nvPr>
        </p:nvSpPr>
        <p:spPr/>
        <p:txBody>
          <a:bodyPr>
            <a:normAutofit fontScale="85000" lnSpcReduction="10000"/>
          </a:bodyPr>
          <a:lstStyle/>
          <a:p>
            <a:pPr marL="0" lvl="0" indent="0">
              <a:buNone/>
            </a:pPr>
            <a:r>
              <a:rPr lang="en-US" sz="1400" dirty="0"/>
              <a:t>Artemyev, A. V., A. I. </a:t>
            </a:r>
            <a:r>
              <a:rPr lang="en-US" sz="1400" dirty="0" err="1"/>
              <a:t>Neishtadt</a:t>
            </a:r>
            <a:r>
              <a:rPr lang="en-US" sz="1400" dirty="0"/>
              <a:t>, A. A. Vasiliev, V. Angelopoulos, A. A. Vinogradov, and L. M. </a:t>
            </a:r>
            <a:r>
              <a:rPr lang="en-US" sz="1400" dirty="0" err="1"/>
              <a:t>Zelenyi</a:t>
            </a:r>
            <a:r>
              <a:rPr lang="en-US" sz="1400" dirty="0"/>
              <a:t>. 2020. “Superfast Ion Scattering by Solar Wind Discontinuities.” </a:t>
            </a:r>
            <a:r>
              <a:rPr lang="en-US" sz="1400" i="1" dirty="0"/>
              <a:t>Physical Review E</a:t>
            </a:r>
            <a:r>
              <a:rPr lang="en-US" sz="1400" dirty="0"/>
              <a:t> 102 (3): 033201. </a:t>
            </a:r>
            <a:r>
              <a:rPr lang="en-US" sz="1400" dirty="0">
                <a:hlinkClick r:id="rId2"/>
              </a:rPr>
              <a:t>https://doi.org/10.1103/PhysRevE.102.033201</a:t>
            </a:r>
            <a:r>
              <a:rPr lang="en-US" sz="1400" dirty="0"/>
              <a:t>.</a:t>
            </a:r>
          </a:p>
          <a:p>
            <a:pPr marL="0" lvl="0" indent="0">
              <a:buNone/>
            </a:pPr>
            <a:r>
              <a:rPr lang="en-US" sz="1400" dirty="0"/>
              <a:t>Desai, Mihir, and Joe </a:t>
            </a:r>
            <a:r>
              <a:rPr lang="en-US" sz="1400" dirty="0" err="1"/>
              <a:t>Giacalone</a:t>
            </a:r>
            <a:r>
              <a:rPr lang="en-US" sz="1400" dirty="0"/>
              <a:t>. 2016. “Large Gradual Solar Energetic Particle Events.” </a:t>
            </a:r>
            <a:r>
              <a:rPr lang="en-US" sz="1400" i="1" dirty="0"/>
              <a:t>Living Reviews in Solar Physics</a:t>
            </a:r>
            <a:r>
              <a:rPr lang="en-US" sz="1400" dirty="0"/>
              <a:t> 13 (1): 3. </a:t>
            </a:r>
            <a:r>
              <a:rPr lang="en-US" sz="1400" dirty="0">
                <a:hlinkClick r:id="rId3"/>
              </a:rPr>
              <a:t>https://doi.org/10.1007/s41116-016-0002-5</a:t>
            </a:r>
            <a:r>
              <a:rPr lang="en-US" sz="1400" dirty="0"/>
              <a:t>.</a:t>
            </a:r>
          </a:p>
          <a:p>
            <a:pPr marL="0" lvl="0" indent="0">
              <a:buNone/>
            </a:pPr>
            <a:r>
              <a:rPr lang="en-US" sz="1400" dirty="0" err="1"/>
              <a:t>Giacalone</a:t>
            </a:r>
            <a:r>
              <a:rPr lang="en-US" sz="1400" dirty="0"/>
              <a:t>, J., and J. R. </a:t>
            </a:r>
            <a:r>
              <a:rPr lang="en-US" sz="1400" dirty="0" err="1"/>
              <a:t>Jokipii</a:t>
            </a:r>
            <a:r>
              <a:rPr lang="en-US" sz="1400" dirty="0"/>
              <a:t>. 1999. “The Transport of Cosmic Rays Across a Turbulent Magnetic Field.” </a:t>
            </a:r>
            <a:r>
              <a:rPr lang="en-US" sz="1400" i="1" dirty="0"/>
              <a:t>The Astrophysical Journal</a:t>
            </a:r>
            <a:r>
              <a:rPr lang="en-US" sz="1400" dirty="0"/>
              <a:t> 520 (1): 204. </a:t>
            </a:r>
            <a:r>
              <a:rPr lang="en-US" sz="1400" dirty="0">
                <a:hlinkClick r:id="rId4"/>
              </a:rPr>
              <a:t>https://doi.org/10.1086/307452</a:t>
            </a:r>
            <a:r>
              <a:rPr lang="en-US" sz="1400" dirty="0"/>
              <a:t>.</a:t>
            </a:r>
          </a:p>
          <a:p>
            <a:pPr marL="0" lvl="0" indent="0">
              <a:buNone/>
            </a:pPr>
            <a:r>
              <a:rPr lang="en-US" sz="1400" dirty="0"/>
              <a:t>Hussain, A. K. M. F. 1983. “Coherent Structures—Reality and Myth.” </a:t>
            </a:r>
            <a:r>
              <a:rPr lang="en-US" sz="1400" i="1" dirty="0"/>
              <a:t>Physics of Fluids</a:t>
            </a:r>
            <a:r>
              <a:rPr lang="en-US" sz="1400" dirty="0"/>
              <a:t> 26 (10): 2816–50. </a:t>
            </a:r>
            <a:r>
              <a:rPr lang="en-US" sz="1400" dirty="0">
                <a:hlinkClick r:id="rId5"/>
              </a:rPr>
              <a:t>https://doi.org/10.1063/1.864048</a:t>
            </a:r>
            <a:r>
              <a:rPr lang="en-US" sz="1400" dirty="0"/>
              <a:t>.</a:t>
            </a:r>
          </a:p>
          <a:p>
            <a:pPr marL="0" lvl="0" indent="0">
              <a:buNone/>
            </a:pPr>
            <a:r>
              <a:rPr lang="en-US" sz="1400" dirty="0"/>
              <a:t>Liu, Y. Y., J. B. Cao, H. S. Fu, Z. Wang, Z. Z. Guo, and R. J. He. 2023. “Failures of Minimum Variance Analysis in Diagnosing Planar Structures in Space.” </a:t>
            </a:r>
            <a:r>
              <a:rPr lang="en-US" sz="1400" i="1" dirty="0"/>
              <a:t>The Astrophysical Journal Supplement Series</a:t>
            </a:r>
            <a:r>
              <a:rPr lang="en-US" sz="1400" dirty="0"/>
              <a:t> 267 (1): 13. </a:t>
            </a:r>
            <a:r>
              <a:rPr lang="en-US" sz="1400" dirty="0">
                <a:hlinkClick r:id="rId6"/>
              </a:rPr>
              <a:t>https://doi.org/10.3847/1538-4365/acdd58</a:t>
            </a:r>
            <a:r>
              <a:rPr lang="en-US" sz="1400" dirty="0"/>
              <a:t>.</a:t>
            </a:r>
          </a:p>
          <a:p>
            <a:pPr marL="0" lvl="0" indent="0">
              <a:buNone/>
            </a:pPr>
            <a:r>
              <a:rPr lang="en-US" sz="1400" dirty="0" err="1"/>
              <a:t>Malara</a:t>
            </a:r>
            <a:r>
              <a:rPr lang="en-US" sz="1400" dirty="0"/>
              <a:t>, Francesco, S. Perri, J. </a:t>
            </a:r>
            <a:r>
              <a:rPr lang="en-US" sz="1400" dirty="0" err="1"/>
              <a:t>Giacalone</a:t>
            </a:r>
            <a:r>
              <a:rPr lang="en-US" sz="1400" dirty="0"/>
              <a:t>, and G. Zimbardo. 2023. “Energetic Particle Dynamics in a Simplified Model of a Solar Wind Magnetic Switchback.” </a:t>
            </a:r>
            <a:r>
              <a:rPr lang="en-US" sz="1400" i="1" dirty="0"/>
              <a:t>Astronomy &amp; Astrophysics</a:t>
            </a:r>
            <a:r>
              <a:rPr lang="en-US" sz="1400" dirty="0"/>
              <a:t> 677 (September): A69. </a:t>
            </a:r>
            <a:r>
              <a:rPr lang="en-US" sz="1400" dirty="0">
                <a:hlinkClick r:id="rId7"/>
              </a:rPr>
              <a:t>https://doi.org/10.1051/0004-6361/202346990</a:t>
            </a:r>
            <a:r>
              <a:rPr lang="en-US" sz="1400" dirty="0"/>
              <a:t>.</a:t>
            </a:r>
          </a:p>
          <a:p>
            <a:pPr marL="0" lvl="0" indent="0">
              <a:buNone/>
            </a:pPr>
            <a:r>
              <a:rPr lang="en-US" sz="1400" dirty="0" err="1"/>
              <a:t>Malara</a:t>
            </a:r>
            <a:r>
              <a:rPr lang="en-US" sz="1400" dirty="0"/>
              <a:t>, Francesco, Silvia Perri, and Gaetano Zimbardo. 2021. “Charged-Particle Chaotic Dynamics in Rotational Discontinuities.” </a:t>
            </a:r>
            <a:r>
              <a:rPr lang="en-US" sz="1400" i="1" dirty="0"/>
              <a:t>Physical Review E</a:t>
            </a:r>
            <a:r>
              <a:rPr lang="en-US" sz="1400" dirty="0"/>
              <a:t> 104 (2): 025208. </a:t>
            </a:r>
            <a:r>
              <a:rPr lang="en-US" sz="1400" dirty="0">
                <a:hlinkClick r:id="rId8"/>
              </a:rPr>
              <a:t>https://doi.org/10.1103/PhysRevE.104.025208</a:t>
            </a:r>
            <a:r>
              <a:rPr lang="en-US" sz="1400" dirty="0"/>
              <a:t>.</a:t>
            </a:r>
          </a:p>
          <a:p>
            <a:pPr marL="0" lvl="0" indent="0">
              <a:buNone/>
            </a:pPr>
            <a:r>
              <a:rPr lang="en-US" sz="1400" dirty="0" err="1"/>
              <a:t>Moraal</a:t>
            </a:r>
            <a:r>
              <a:rPr lang="en-US" sz="1400" dirty="0"/>
              <a:t>, H. 2013. “Cosmic-Ray Modulation Equations.” </a:t>
            </a:r>
            <a:r>
              <a:rPr lang="en-US" sz="1400" i="1" dirty="0"/>
              <a:t>Space Science Reviews</a:t>
            </a:r>
            <a:r>
              <a:rPr lang="en-US" sz="1400" dirty="0"/>
              <a:t> 176 (1): 299–319. </a:t>
            </a:r>
            <a:r>
              <a:rPr lang="en-US" sz="1400" dirty="0">
                <a:hlinkClick r:id="rId9"/>
              </a:rPr>
              <a:t>https://doi.org/10.1007/s11214-011-9819-3</a:t>
            </a:r>
            <a:r>
              <a:rPr lang="en-US" sz="1400" dirty="0"/>
              <a:t>.</a:t>
            </a:r>
          </a:p>
          <a:p>
            <a:pPr marL="0" lvl="0" indent="0">
              <a:buNone/>
            </a:pPr>
            <a:r>
              <a:rPr lang="en-US" sz="1400" dirty="0" err="1"/>
              <a:t>Zelenyi</a:t>
            </a:r>
            <a:r>
              <a:rPr lang="en-US" sz="1400" dirty="0"/>
              <a:t>, L. M., A. I. </a:t>
            </a:r>
            <a:r>
              <a:rPr lang="en-US" sz="1400" dirty="0" err="1"/>
              <a:t>Neishtadt</a:t>
            </a:r>
            <a:r>
              <a:rPr lang="en-US" sz="1400" dirty="0"/>
              <a:t>, A. V. Artemyev, D. L. </a:t>
            </a:r>
            <a:r>
              <a:rPr lang="en-US" sz="1400" dirty="0" err="1"/>
              <a:t>Vainchtein</a:t>
            </a:r>
            <a:r>
              <a:rPr lang="en-US" sz="1400" dirty="0"/>
              <a:t>, and H. V. </a:t>
            </a:r>
            <a:r>
              <a:rPr lang="en-US" sz="1400" dirty="0" err="1"/>
              <a:t>Malova</a:t>
            </a:r>
            <a:r>
              <a:rPr lang="en-US" sz="1400" dirty="0"/>
              <a:t>. 2013. “</a:t>
            </a:r>
            <a:r>
              <a:rPr lang="en-US" sz="1400" dirty="0" err="1"/>
              <a:t>Quasiadiabatic</a:t>
            </a:r>
            <a:r>
              <a:rPr lang="en-US" sz="1400" dirty="0"/>
              <a:t> Dynamics of Charged Particles in a Space Plasma.” </a:t>
            </a:r>
            <a:r>
              <a:rPr lang="en-US" sz="1400" i="1" dirty="0"/>
              <a:t>Physics-</a:t>
            </a:r>
            <a:r>
              <a:rPr lang="en-US" sz="1400" i="1" dirty="0" err="1"/>
              <a:t>Uspekhi</a:t>
            </a:r>
            <a:r>
              <a:rPr lang="en-US" sz="1400" dirty="0"/>
              <a:t> 56 (4): 347. </a:t>
            </a:r>
            <a:r>
              <a:rPr lang="en-US" sz="1400" dirty="0">
                <a:hlinkClick r:id="rId10"/>
              </a:rPr>
              <a:t>https://doi.org/10.3367/UFNe.0183.201304b.0365</a:t>
            </a:r>
            <a:r>
              <a:rPr lang="en-US" sz="14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3342</Words>
  <Application>Microsoft Macintosh PowerPoint</Application>
  <PresentationFormat>On-screen Show (16:9)</PresentationFormat>
  <Paragraphs>344</Paragraphs>
  <Slides>33</Slides>
  <Notes>15</Notes>
  <HiddenSlides>5</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Linux Libertine</vt:lpstr>
      <vt:lpstr>Aptos</vt:lpstr>
      <vt:lpstr>Arial</vt:lpstr>
      <vt:lpstr>Calibri</vt:lpstr>
      <vt:lpstr>Cambria Math</vt:lpstr>
      <vt:lpstr>Courier</vt:lpstr>
      <vt:lpstr>Office Theme</vt:lpstr>
      <vt:lpstr>Energetic particle transport by solar wind current sheets</vt:lpstr>
      <vt:lpstr>PowerPoint Presentation</vt:lpstr>
      <vt:lpstr>Introduction - Particle Transport in Turbulent Magnetic Field</vt:lpstr>
      <vt:lpstr>Turbulent Magnetic  Fluctuations</vt:lpstr>
      <vt:lpstr>The Role of Coherent Structure in Particle Transport</vt:lpstr>
      <vt:lpstr>Introduction - Current Sheets in the Solar Wind</vt:lpstr>
      <vt:lpstr>The Problem: Scattering by Current Sheets</vt:lpstr>
      <vt:lpstr>Analytical Model - Magnetic Field Model</vt:lpstr>
      <vt:lpstr>Analytical Model - Hamiltonian Approach</vt:lpstr>
      <vt:lpstr>Analytical Model - Dimensionless Hamiltonian and Asymptotic Expansion</vt:lpstr>
      <vt:lpstr>Adiabatic Invariance and Pitch Angle</vt:lpstr>
      <vt:lpstr>Destruction of Adiabatic Invariance: Separatrix and Uncertainty Curve</vt:lpstr>
      <vt:lpstr>Uncertainty curve</vt:lpstr>
      <vt:lpstr>Part 2</vt:lpstr>
      <vt:lpstr>Test Particle Simulations - Solar Wind Dataset</vt:lpstr>
      <vt:lpstr>Examples of Pitch Angle Scattering</vt:lpstr>
      <vt:lpstr>Transition Matrix</vt:lpstr>
      <vt:lpstr>Pitch angle scattering by typical discontinuity</vt:lpstr>
      <vt:lpstr>Transition Matrix</vt:lpstr>
      <vt:lpstr>Weighted Transition Matrix</vt:lpstr>
      <vt:lpstr>Long-Term Pitch Angle Evolution</vt:lpstr>
      <vt:lpstr>Long-Term Pitch Angle Evolution</vt:lpstr>
      <vt:lpstr>Pitch angle scattering =&gt; Parallel Diffusion</vt:lpstr>
      <vt:lpstr>Implications for Particle Transport</vt:lpstr>
      <vt:lpstr>Part 3</vt:lpstr>
      <vt:lpstr>PowerPoint Presentation</vt:lpstr>
      <vt:lpstr>PowerPoint Presentation</vt:lpstr>
      <vt:lpstr>PowerPoint Presentation</vt:lpstr>
      <vt:lpstr>PowerPoint Presentation</vt:lpstr>
      <vt:lpstr>PowerPoint Presentation</vt:lpstr>
      <vt:lpstr>SPEDAS.jl : Julia-based Space Physics Environment Data Analysis Software framework</vt:lpstr>
      <vt:lpstr>SPEDAS.jl : Julia-based Space Physics Environment Data Analysis Software framework.</vt:lpstr>
      <vt:lpstr>References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Energetic particle transport by solar wind current sheets</dc:title>
  <dc:creator>Zijin Zhang; Anton V. Artemyev; Vassilis Angelopoulos</dc:creator>
  <cp:keywords/>
  <cp:lastModifiedBy>Zijin Zhang</cp:lastModifiedBy>
  <cp:revision>28</cp:revision>
  <dcterms:created xsi:type="dcterms:W3CDTF">2025-05-23T05:29:41Z</dcterms:created>
  <dcterms:modified xsi:type="dcterms:W3CDTF">2025-05-23T20:25:39Z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
  </property>
  <property fmtid="{D5CDD505-2E9C-101B-9397-08002B2CF9AE}" pid="5" name="by-author">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