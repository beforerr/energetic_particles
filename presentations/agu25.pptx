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Lst>
  <p:sldSz cx="31089600" cy="4114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528C"/>
    <a:srgbClr val="D84A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80"/>
    <p:restoredTop sz="94686"/>
  </p:normalViewPr>
  <p:slideViewPr>
    <p:cSldViewPr snapToGrid="0">
      <p:cViewPr varScale="1">
        <p:scale>
          <a:sx n="29" d="100"/>
          <a:sy n="29" d="100"/>
        </p:scale>
        <p:origin x="4584"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6734178"/>
            <a:ext cx="26426160" cy="14325600"/>
          </a:xfrm>
        </p:spPr>
        <p:txBody>
          <a:bodyPr anchor="b"/>
          <a:lstStyle>
            <a:lvl1pPr algn="ctr">
              <a:defRPr sz="20400"/>
            </a:lvl1pPr>
          </a:lstStyle>
          <a:p>
            <a:r>
              <a:rPr lang="en-US"/>
              <a:t>Click to edit Master title style</a:t>
            </a:r>
            <a:endParaRPr lang="en-US" dirty="0"/>
          </a:p>
        </p:txBody>
      </p:sp>
      <p:sp>
        <p:nvSpPr>
          <p:cNvPr id="3" name="Subtitle 2"/>
          <p:cNvSpPr>
            <a:spLocks noGrp="1"/>
          </p:cNvSpPr>
          <p:nvPr>
            <p:ph type="subTitle" idx="1"/>
          </p:nvPr>
        </p:nvSpPr>
        <p:spPr>
          <a:xfrm>
            <a:off x="3886200" y="21612228"/>
            <a:ext cx="23317200" cy="9934572"/>
          </a:xfrm>
        </p:spPr>
        <p:txBody>
          <a:bodyPr/>
          <a:lstStyle>
            <a:lvl1pPr marL="0" indent="0" algn="ctr">
              <a:buNone/>
              <a:defRPr sz="8160"/>
            </a:lvl1pPr>
            <a:lvl2pPr marL="1554480" indent="0" algn="ctr">
              <a:buNone/>
              <a:defRPr sz="6800"/>
            </a:lvl2pPr>
            <a:lvl3pPr marL="3108960" indent="0" algn="ctr">
              <a:buNone/>
              <a:defRPr sz="6120"/>
            </a:lvl3pPr>
            <a:lvl4pPr marL="4663440" indent="0" algn="ctr">
              <a:buNone/>
              <a:defRPr sz="5440"/>
            </a:lvl4pPr>
            <a:lvl5pPr marL="6217920" indent="0" algn="ctr">
              <a:buNone/>
              <a:defRPr sz="5440"/>
            </a:lvl5pPr>
            <a:lvl6pPr marL="7772400" indent="0" algn="ctr">
              <a:buNone/>
              <a:defRPr sz="5440"/>
            </a:lvl6pPr>
            <a:lvl7pPr marL="9326880" indent="0" algn="ctr">
              <a:buNone/>
              <a:defRPr sz="5440"/>
            </a:lvl7pPr>
            <a:lvl8pPr marL="10881360" indent="0" algn="ctr">
              <a:buNone/>
              <a:defRPr sz="5440"/>
            </a:lvl8pPr>
            <a:lvl9pPr marL="12435840" indent="0" algn="ctr">
              <a:buNone/>
              <a:defRPr sz="54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6B2FD3-B4BD-7F45-813E-587E10F08CE2}"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1472659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6B2FD3-B4BD-7F45-813E-587E10F08CE2}"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3050155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10258437"/>
            <a:ext cx="26814780" cy="17116422"/>
          </a:xfrm>
        </p:spPr>
        <p:txBody>
          <a:bodyPr anchor="b"/>
          <a:lstStyle>
            <a:lvl1pPr>
              <a:defRPr sz="20400"/>
            </a:lvl1pPr>
          </a:lstStyle>
          <a:p>
            <a:r>
              <a:rPr lang="en-US"/>
              <a:t>Click to edit Master title style</a:t>
            </a:r>
            <a:endParaRPr lang="en-US" dirty="0"/>
          </a:p>
        </p:txBody>
      </p:sp>
      <p:sp>
        <p:nvSpPr>
          <p:cNvPr id="3" name="Text Placeholder 2"/>
          <p:cNvSpPr>
            <a:spLocks noGrp="1"/>
          </p:cNvSpPr>
          <p:nvPr>
            <p:ph type="body" idx="1"/>
          </p:nvPr>
        </p:nvSpPr>
        <p:spPr>
          <a:xfrm>
            <a:off x="2121219" y="27536787"/>
            <a:ext cx="26814780" cy="9001122"/>
          </a:xfrm>
        </p:spPr>
        <p:txBody>
          <a:bodyPr/>
          <a:lstStyle>
            <a:lvl1pPr marL="0" indent="0">
              <a:buNone/>
              <a:defRPr sz="8160">
                <a:solidFill>
                  <a:schemeClr val="tx1">
                    <a:tint val="82000"/>
                  </a:schemeClr>
                </a:solidFill>
              </a:defRPr>
            </a:lvl1pPr>
            <a:lvl2pPr marL="1554480" indent="0">
              <a:buNone/>
              <a:defRPr sz="6800">
                <a:solidFill>
                  <a:schemeClr val="tx1">
                    <a:tint val="82000"/>
                  </a:schemeClr>
                </a:solidFill>
              </a:defRPr>
            </a:lvl2pPr>
            <a:lvl3pPr marL="3108960" indent="0">
              <a:buNone/>
              <a:defRPr sz="6120">
                <a:solidFill>
                  <a:schemeClr val="tx1">
                    <a:tint val="82000"/>
                  </a:schemeClr>
                </a:solidFill>
              </a:defRPr>
            </a:lvl3pPr>
            <a:lvl4pPr marL="4663440" indent="0">
              <a:buNone/>
              <a:defRPr sz="5440">
                <a:solidFill>
                  <a:schemeClr val="tx1">
                    <a:tint val="82000"/>
                  </a:schemeClr>
                </a:solidFill>
              </a:defRPr>
            </a:lvl4pPr>
            <a:lvl5pPr marL="6217920" indent="0">
              <a:buNone/>
              <a:defRPr sz="5440">
                <a:solidFill>
                  <a:schemeClr val="tx1">
                    <a:tint val="82000"/>
                  </a:schemeClr>
                </a:solidFill>
              </a:defRPr>
            </a:lvl5pPr>
            <a:lvl6pPr marL="7772400" indent="0">
              <a:buNone/>
              <a:defRPr sz="5440">
                <a:solidFill>
                  <a:schemeClr val="tx1">
                    <a:tint val="82000"/>
                  </a:schemeClr>
                </a:solidFill>
              </a:defRPr>
            </a:lvl6pPr>
            <a:lvl7pPr marL="9326880" indent="0">
              <a:buNone/>
              <a:defRPr sz="5440">
                <a:solidFill>
                  <a:schemeClr val="tx1">
                    <a:tint val="82000"/>
                  </a:schemeClr>
                </a:solidFill>
              </a:defRPr>
            </a:lvl7pPr>
            <a:lvl8pPr marL="10881360" indent="0">
              <a:buNone/>
              <a:defRPr sz="5440">
                <a:solidFill>
                  <a:schemeClr val="tx1">
                    <a:tint val="82000"/>
                  </a:schemeClr>
                </a:solidFill>
              </a:defRPr>
            </a:lvl8pPr>
            <a:lvl9pPr marL="12435840" indent="0">
              <a:buNone/>
              <a:defRPr sz="544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6B2FD3-B4BD-7F45-813E-587E10F08CE2}"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324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37410" y="10953750"/>
            <a:ext cx="13213080" cy="2610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739110" y="10953750"/>
            <a:ext cx="13213080" cy="2610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6B2FD3-B4BD-7F45-813E-587E10F08CE2}"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388120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2190759"/>
            <a:ext cx="26814780" cy="795337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41463" y="10086978"/>
            <a:ext cx="13152356" cy="4943472"/>
          </a:xfrm>
        </p:spPr>
        <p:txBody>
          <a:bodyPr anchor="b"/>
          <a:lstStyle>
            <a:lvl1pPr marL="0" indent="0">
              <a:buNone/>
              <a:defRPr sz="8160" b="1"/>
            </a:lvl1pPr>
            <a:lvl2pPr marL="1554480" indent="0">
              <a:buNone/>
              <a:defRPr sz="6800" b="1"/>
            </a:lvl2pPr>
            <a:lvl3pPr marL="3108960" indent="0">
              <a:buNone/>
              <a:defRPr sz="6120" b="1"/>
            </a:lvl3pPr>
            <a:lvl4pPr marL="4663440" indent="0">
              <a:buNone/>
              <a:defRPr sz="5440" b="1"/>
            </a:lvl4pPr>
            <a:lvl5pPr marL="6217920" indent="0">
              <a:buNone/>
              <a:defRPr sz="5440" b="1"/>
            </a:lvl5pPr>
            <a:lvl6pPr marL="7772400" indent="0">
              <a:buNone/>
              <a:defRPr sz="5440" b="1"/>
            </a:lvl6pPr>
            <a:lvl7pPr marL="9326880" indent="0">
              <a:buNone/>
              <a:defRPr sz="5440" b="1"/>
            </a:lvl7pPr>
            <a:lvl8pPr marL="10881360" indent="0">
              <a:buNone/>
              <a:defRPr sz="5440" b="1"/>
            </a:lvl8pPr>
            <a:lvl9pPr marL="12435840" indent="0">
              <a:buNone/>
              <a:defRPr sz="5440" b="1"/>
            </a:lvl9pPr>
          </a:lstStyle>
          <a:p>
            <a:pPr lvl="0"/>
            <a:r>
              <a:rPr lang="en-US"/>
              <a:t>Click to edit Master text styles</a:t>
            </a:r>
          </a:p>
        </p:txBody>
      </p:sp>
      <p:sp>
        <p:nvSpPr>
          <p:cNvPr id="4" name="Content Placeholder 3"/>
          <p:cNvSpPr>
            <a:spLocks noGrp="1"/>
          </p:cNvSpPr>
          <p:nvPr>
            <p:ph sz="half" idx="2"/>
          </p:nvPr>
        </p:nvSpPr>
        <p:spPr>
          <a:xfrm>
            <a:off x="2141463" y="15030450"/>
            <a:ext cx="13152356" cy="221075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739112" y="10086978"/>
            <a:ext cx="13217129" cy="4943472"/>
          </a:xfrm>
        </p:spPr>
        <p:txBody>
          <a:bodyPr anchor="b"/>
          <a:lstStyle>
            <a:lvl1pPr marL="0" indent="0">
              <a:buNone/>
              <a:defRPr sz="8160" b="1"/>
            </a:lvl1pPr>
            <a:lvl2pPr marL="1554480" indent="0">
              <a:buNone/>
              <a:defRPr sz="6800" b="1"/>
            </a:lvl2pPr>
            <a:lvl3pPr marL="3108960" indent="0">
              <a:buNone/>
              <a:defRPr sz="6120" b="1"/>
            </a:lvl3pPr>
            <a:lvl4pPr marL="4663440" indent="0">
              <a:buNone/>
              <a:defRPr sz="5440" b="1"/>
            </a:lvl4pPr>
            <a:lvl5pPr marL="6217920" indent="0">
              <a:buNone/>
              <a:defRPr sz="5440" b="1"/>
            </a:lvl5pPr>
            <a:lvl6pPr marL="7772400" indent="0">
              <a:buNone/>
              <a:defRPr sz="5440" b="1"/>
            </a:lvl6pPr>
            <a:lvl7pPr marL="9326880" indent="0">
              <a:buNone/>
              <a:defRPr sz="5440" b="1"/>
            </a:lvl7pPr>
            <a:lvl8pPr marL="10881360" indent="0">
              <a:buNone/>
              <a:defRPr sz="5440" b="1"/>
            </a:lvl8pPr>
            <a:lvl9pPr marL="12435840" indent="0">
              <a:buNone/>
              <a:defRPr sz="5440" b="1"/>
            </a:lvl9pPr>
          </a:lstStyle>
          <a:p>
            <a:pPr lvl="0"/>
            <a:r>
              <a:rPr lang="en-US"/>
              <a:t>Click to edit Master text styles</a:t>
            </a:r>
          </a:p>
        </p:txBody>
      </p:sp>
      <p:sp>
        <p:nvSpPr>
          <p:cNvPr id="6" name="Content Placeholder 5"/>
          <p:cNvSpPr>
            <a:spLocks noGrp="1"/>
          </p:cNvSpPr>
          <p:nvPr>
            <p:ph sz="quarter" idx="4"/>
          </p:nvPr>
        </p:nvSpPr>
        <p:spPr>
          <a:xfrm>
            <a:off x="15739112" y="15030450"/>
            <a:ext cx="13217129" cy="221075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6B2FD3-B4BD-7F45-813E-587E10F08CE2}" type="datetimeFigureOut">
              <a:rPr lang="en-US" smtClean="0"/>
              <a:t>12/9/25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1818582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6B2FD3-B4BD-7F45-813E-587E10F08CE2}" type="datetimeFigureOut">
              <a:rPr lang="en-US" smtClean="0"/>
              <a:t>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1315519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6B2FD3-B4BD-7F45-813E-587E10F08CE2}" type="datetimeFigureOut">
              <a:rPr lang="en-US" smtClean="0"/>
              <a:t>12/9/25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80411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2743200"/>
            <a:ext cx="10027205" cy="9601200"/>
          </a:xfrm>
        </p:spPr>
        <p:txBody>
          <a:bodyPr anchor="b"/>
          <a:lstStyle>
            <a:lvl1pPr>
              <a:defRPr sz="10880"/>
            </a:lvl1pPr>
          </a:lstStyle>
          <a:p>
            <a:r>
              <a:rPr lang="en-US"/>
              <a:t>Click to edit Master title style</a:t>
            </a:r>
            <a:endParaRPr lang="en-US" dirty="0"/>
          </a:p>
        </p:txBody>
      </p:sp>
      <p:sp>
        <p:nvSpPr>
          <p:cNvPr id="3" name="Content Placeholder 2"/>
          <p:cNvSpPr>
            <a:spLocks noGrp="1"/>
          </p:cNvSpPr>
          <p:nvPr>
            <p:ph idx="1"/>
          </p:nvPr>
        </p:nvSpPr>
        <p:spPr>
          <a:xfrm>
            <a:off x="13217129" y="5924559"/>
            <a:ext cx="15739110" cy="29241750"/>
          </a:xfrm>
        </p:spPr>
        <p:txBody>
          <a:bodyPr/>
          <a:lstStyle>
            <a:lvl1pPr>
              <a:defRPr sz="10880"/>
            </a:lvl1pPr>
            <a:lvl2pPr>
              <a:defRPr sz="9520"/>
            </a:lvl2pPr>
            <a:lvl3pPr>
              <a:defRPr sz="8160"/>
            </a:lvl3pPr>
            <a:lvl4pPr>
              <a:defRPr sz="6800"/>
            </a:lvl4pPr>
            <a:lvl5pPr>
              <a:defRPr sz="6800"/>
            </a:lvl5pPr>
            <a:lvl6pPr>
              <a:defRPr sz="6800"/>
            </a:lvl6pPr>
            <a:lvl7pPr>
              <a:defRPr sz="6800"/>
            </a:lvl7pPr>
            <a:lvl8pPr>
              <a:defRPr sz="6800"/>
            </a:lvl8pPr>
            <a:lvl9pPr>
              <a:defRPr sz="6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41460" y="12344400"/>
            <a:ext cx="10027205" cy="22869528"/>
          </a:xfrm>
        </p:spPr>
        <p:txBody>
          <a:bodyPr/>
          <a:lstStyle>
            <a:lvl1pPr marL="0" indent="0">
              <a:buNone/>
              <a:defRPr sz="5440"/>
            </a:lvl1pPr>
            <a:lvl2pPr marL="1554480" indent="0">
              <a:buNone/>
              <a:defRPr sz="4760"/>
            </a:lvl2pPr>
            <a:lvl3pPr marL="3108960" indent="0">
              <a:buNone/>
              <a:defRPr sz="4080"/>
            </a:lvl3pPr>
            <a:lvl4pPr marL="4663440" indent="0">
              <a:buNone/>
              <a:defRPr sz="3400"/>
            </a:lvl4pPr>
            <a:lvl5pPr marL="6217920" indent="0">
              <a:buNone/>
              <a:defRPr sz="3400"/>
            </a:lvl5pPr>
            <a:lvl6pPr marL="7772400" indent="0">
              <a:buNone/>
              <a:defRPr sz="3400"/>
            </a:lvl6pPr>
            <a:lvl7pPr marL="9326880" indent="0">
              <a:buNone/>
              <a:defRPr sz="3400"/>
            </a:lvl7pPr>
            <a:lvl8pPr marL="10881360" indent="0">
              <a:buNone/>
              <a:defRPr sz="3400"/>
            </a:lvl8pPr>
            <a:lvl9pPr marL="12435840" indent="0">
              <a:buNone/>
              <a:defRPr sz="3400"/>
            </a:lvl9pPr>
          </a:lstStyle>
          <a:p>
            <a:pPr lvl="0"/>
            <a:r>
              <a:rPr lang="en-US"/>
              <a:t>Click to edit Master text styles</a:t>
            </a:r>
          </a:p>
        </p:txBody>
      </p:sp>
      <p:sp>
        <p:nvSpPr>
          <p:cNvPr id="5" name="Date Placeholder 4"/>
          <p:cNvSpPr>
            <a:spLocks noGrp="1"/>
          </p:cNvSpPr>
          <p:nvPr>
            <p:ph type="dt" sz="half" idx="10"/>
          </p:nvPr>
        </p:nvSpPr>
        <p:spPr/>
        <p:txBody>
          <a:bodyPr/>
          <a:lstStyle/>
          <a:p>
            <a:fld id="{696B2FD3-B4BD-7F45-813E-587E10F08CE2}"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3184138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2743200"/>
            <a:ext cx="10027205" cy="9601200"/>
          </a:xfrm>
        </p:spPr>
        <p:txBody>
          <a:bodyPr anchor="b"/>
          <a:lstStyle>
            <a:lvl1pPr>
              <a:defRPr sz="108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217129" y="5924559"/>
            <a:ext cx="15739110" cy="29241750"/>
          </a:xfrm>
        </p:spPr>
        <p:txBody>
          <a:bodyPr anchor="t"/>
          <a:lstStyle>
            <a:lvl1pPr marL="0" indent="0">
              <a:buNone/>
              <a:defRPr sz="10880"/>
            </a:lvl1pPr>
            <a:lvl2pPr marL="1554480" indent="0">
              <a:buNone/>
              <a:defRPr sz="9520"/>
            </a:lvl2pPr>
            <a:lvl3pPr marL="3108960" indent="0">
              <a:buNone/>
              <a:defRPr sz="8160"/>
            </a:lvl3pPr>
            <a:lvl4pPr marL="4663440" indent="0">
              <a:buNone/>
              <a:defRPr sz="6800"/>
            </a:lvl4pPr>
            <a:lvl5pPr marL="6217920" indent="0">
              <a:buNone/>
              <a:defRPr sz="6800"/>
            </a:lvl5pPr>
            <a:lvl6pPr marL="7772400" indent="0">
              <a:buNone/>
              <a:defRPr sz="6800"/>
            </a:lvl6pPr>
            <a:lvl7pPr marL="9326880" indent="0">
              <a:buNone/>
              <a:defRPr sz="6800"/>
            </a:lvl7pPr>
            <a:lvl8pPr marL="10881360" indent="0">
              <a:buNone/>
              <a:defRPr sz="6800"/>
            </a:lvl8pPr>
            <a:lvl9pPr marL="12435840" indent="0">
              <a:buNone/>
              <a:defRPr sz="6800"/>
            </a:lvl9pPr>
          </a:lstStyle>
          <a:p>
            <a:r>
              <a:rPr lang="en-US"/>
              <a:t>Click icon to add picture</a:t>
            </a:r>
            <a:endParaRPr lang="en-US" dirty="0"/>
          </a:p>
        </p:txBody>
      </p:sp>
      <p:sp>
        <p:nvSpPr>
          <p:cNvPr id="4" name="Text Placeholder 3"/>
          <p:cNvSpPr>
            <a:spLocks noGrp="1"/>
          </p:cNvSpPr>
          <p:nvPr>
            <p:ph type="body" sz="half" idx="2"/>
          </p:nvPr>
        </p:nvSpPr>
        <p:spPr>
          <a:xfrm>
            <a:off x="2141460" y="12344400"/>
            <a:ext cx="10027205" cy="22869528"/>
          </a:xfrm>
        </p:spPr>
        <p:txBody>
          <a:bodyPr/>
          <a:lstStyle>
            <a:lvl1pPr marL="0" indent="0">
              <a:buNone/>
              <a:defRPr sz="5440"/>
            </a:lvl1pPr>
            <a:lvl2pPr marL="1554480" indent="0">
              <a:buNone/>
              <a:defRPr sz="4760"/>
            </a:lvl2pPr>
            <a:lvl3pPr marL="3108960" indent="0">
              <a:buNone/>
              <a:defRPr sz="4080"/>
            </a:lvl3pPr>
            <a:lvl4pPr marL="4663440" indent="0">
              <a:buNone/>
              <a:defRPr sz="3400"/>
            </a:lvl4pPr>
            <a:lvl5pPr marL="6217920" indent="0">
              <a:buNone/>
              <a:defRPr sz="3400"/>
            </a:lvl5pPr>
            <a:lvl6pPr marL="7772400" indent="0">
              <a:buNone/>
              <a:defRPr sz="3400"/>
            </a:lvl6pPr>
            <a:lvl7pPr marL="9326880" indent="0">
              <a:buNone/>
              <a:defRPr sz="3400"/>
            </a:lvl7pPr>
            <a:lvl8pPr marL="10881360" indent="0">
              <a:buNone/>
              <a:defRPr sz="3400"/>
            </a:lvl8pPr>
            <a:lvl9pPr marL="12435840" indent="0">
              <a:buNone/>
              <a:defRPr sz="3400"/>
            </a:lvl9pPr>
          </a:lstStyle>
          <a:p>
            <a:pPr lvl="0"/>
            <a:r>
              <a:rPr lang="en-US"/>
              <a:t>Click to edit Master text styles</a:t>
            </a:r>
          </a:p>
        </p:txBody>
      </p:sp>
      <p:sp>
        <p:nvSpPr>
          <p:cNvPr id="5" name="Date Placeholder 4"/>
          <p:cNvSpPr>
            <a:spLocks noGrp="1"/>
          </p:cNvSpPr>
          <p:nvPr>
            <p:ph type="dt" sz="half" idx="10"/>
          </p:nvPr>
        </p:nvSpPr>
        <p:spPr/>
        <p:txBody>
          <a:bodyPr/>
          <a:lstStyle/>
          <a:p>
            <a:fld id="{696B2FD3-B4BD-7F45-813E-587E10F08CE2}"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2084986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6B2FD3-B4BD-7F45-813E-587E10F08CE2}"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3210512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2190750"/>
            <a:ext cx="6703695" cy="3487102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137412" y="2190750"/>
            <a:ext cx="19722465" cy="348710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6B2FD3-B4BD-7F45-813E-587E10F08CE2}"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6DECA9-DC3A-5E4F-9D69-D2ABCDCE4889}" type="slidenum">
              <a:rPr lang="en-US" smtClean="0"/>
              <a:t>‹#›</a:t>
            </a:fld>
            <a:endParaRPr lang="en-US"/>
          </a:p>
        </p:txBody>
      </p:sp>
    </p:spTree>
    <p:extLst>
      <p:ext uri="{BB962C8B-B14F-4D97-AF65-F5344CB8AC3E}">
        <p14:creationId xmlns:p14="http://schemas.microsoft.com/office/powerpoint/2010/main" val="3098224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2190759"/>
            <a:ext cx="26814780" cy="795337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37410" y="10953750"/>
            <a:ext cx="26814780" cy="261080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137410" y="38138109"/>
            <a:ext cx="6995160" cy="2190750"/>
          </a:xfrm>
          <a:prstGeom prst="rect">
            <a:avLst/>
          </a:prstGeom>
        </p:spPr>
        <p:txBody>
          <a:bodyPr vert="horz" lIns="91440" tIns="45720" rIns="91440" bIns="45720" rtlCol="0" anchor="ctr"/>
          <a:lstStyle>
            <a:lvl1pPr algn="l">
              <a:defRPr sz="4080">
                <a:solidFill>
                  <a:schemeClr val="tx1">
                    <a:tint val="82000"/>
                  </a:schemeClr>
                </a:solidFill>
              </a:defRPr>
            </a:lvl1pPr>
          </a:lstStyle>
          <a:p>
            <a:fld id="{696B2FD3-B4BD-7F45-813E-587E10F08CE2}" type="datetimeFigureOut">
              <a:rPr lang="en-US" smtClean="0"/>
              <a:t>12/9/25</a:t>
            </a:fld>
            <a:endParaRPr lang="en-US"/>
          </a:p>
        </p:txBody>
      </p:sp>
      <p:sp>
        <p:nvSpPr>
          <p:cNvPr id="5" name="Footer Placeholder 4"/>
          <p:cNvSpPr>
            <a:spLocks noGrp="1"/>
          </p:cNvSpPr>
          <p:nvPr>
            <p:ph type="ftr" sz="quarter" idx="3"/>
          </p:nvPr>
        </p:nvSpPr>
        <p:spPr>
          <a:xfrm>
            <a:off x="10298430" y="38138109"/>
            <a:ext cx="10492740" cy="2190750"/>
          </a:xfrm>
          <a:prstGeom prst="rect">
            <a:avLst/>
          </a:prstGeom>
        </p:spPr>
        <p:txBody>
          <a:bodyPr vert="horz" lIns="91440" tIns="45720" rIns="91440" bIns="45720" rtlCol="0" anchor="ctr"/>
          <a:lstStyle>
            <a:lvl1pPr algn="ctr">
              <a:defRPr sz="408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957030" y="38138109"/>
            <a:ext cx="6995160" cy="2190750"/>
          </a:xfrm>
          <a:prstGeom prst="rect">
            <a:avLst/>
          </a:prstGeom>
        </p:spPr>
        <p:txBody>
          <a:bodyPr vert="horz" lIns="91440" tIns="45720" rIns="91440" bIns="45720" rtlCol="0" anchor="ctr"/>
          <a:lstStyle>
            <a:lvl1pPr algn="r">
              <a:defRPr sz="4080">
                <a:solidFill>
                  <a:schemeClr val="tx1">
                    <a:tint val="82000"/>
                  </a:schemeClr>
                </a:solidFill>
              </a:defRPr>
            </a:lvl1pPr>
          </a:lstStyle>
          <a:p>
            <a:fld id="{936DECA9-DC3A-5E4F-9D69-D2ABCDCE4889}" type="slidenum">
              <a:rPr lang="en-US" smtClean="0"/>
              <a:t>‹#›</a:t>
            </a:fld>
            <a:endParaRPr lang="en-US"/>
          </a:p>
        </p:txBody>
      </p:sp>
    </p:spTree>
    <p:extLst>
      <p:ext uri="{BB962C8B-B14F-4D97-AF65-F5344CB8AC3E}">
        <p14:creationId xmlns:p14="http://schemas.microsoft.com/office/powerpoint/2010/main" val="11952049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108960" rtl="0" eaLnBrk="1" latinLnBrk="0" hangingPunct="1">
        <a:lnSpc>
          <a:spcPct val="90000"/>
        </a:lnSpc>
        <a:spcBef>
          <a:spcPct val="0"/>
        </a:spcBef>
        <a:buNone/>
        <a:defRPr sz="14960" kern="1200">
          <a:solidFill>
            <a:schemeClr val="tx1"/>
          </a:solidFill>
          <a:latin typeface="+mj-lt"/>
          <a:ea typeface="+mj-ea"/>
          <a:cs typeface="+mj-cs"/>
        </a:defRPr>
      </a:lvl1pPr>
    </p:titleStyle>
    <p:bodyStyle>
      <a:lvl1pPr marL="777240" indent="-777240" algn="l" defTabSz="3108960" rtl="0" eaLnBrk="1" latinLnBrk="0" hangingPunct="1">
        <a:lnSpc>
          <a:spcPct val="90000"/>
        </a:lnSpc>
        <a:spcBef>
          <a:spcPts val="3400"/>
        </a:spcBef>
        <a:buFont typeface="Arial" panose="020B0604020202020204" pitchFamily="34" charset="0"/>
        <a:buChar char="•"/>
        <a:defRPr sz="9520" kern="1200">
          <a:solidFill>
            <a:schemeClr val="tx1"/>
          </a:solidFill>
          <a:latin typeface="+mn-lt"/>
          <a:ea typeface="+mn-ea"/>
          <a:cs typeface="+mn-cs"/>
        </a:defRPr>
      </a:lvl1pPr>
      <a:lvl2pPr marL="2331720" indent="-777240" algn="l" defTabSz="3108960" rtl="0" eaLnBrk="1" latinLnBrk="0" hangingPunct="1">
        <a:lnSpc>
          <a:spcPct val="90000"/>
        </a:lnSpc>
        <a:spcBef>
          <a:spcPts val="1700"/>
        </a:spcBef>
        <a:buFont typeface="Arial" panose="020B0604020202020204" pitchFamily="34" charset="0"/>
        <a:buChar char="•"/>
        <a:defRPr sz="8160" kern="1200">
          <a:solidFill>
            <a:schemeClr val="tx1"/>
          </a:solidFill>
          <a:latin typeface="+mn-lt"/>
          <a:ea typeface="+mn-ea"/>
          <a:cs typeface="+mn-cs"/>
        </a:defRPr>
      </a:lvl2pPr>
      <a:lvl3pPr marL="3886200" indent="-777240" algn="l" defTabSz="3108960" rtl="0" eaLnBrk="1" latinLnBrk="0" hangingPunct="1">
        <a:lnSpc>
          <a:spcPct val="90000"/>
        </a:lnSpc>
        <a:spcBef>
          <a:spcPts val="1700"/>
        </a:spcBef>
        <a:buFont typeface="Arial" panose="020B0604020202020204" pitchFamily="34" charset="0"/>
        <a:buChar char="•"/>
        <a:defRPr sz="6800" kern="1200">
          <a:solidFill>
            <a:schemeClr val="tx1"/>
          </a:solidFill>
          <a:latin typeface="+mn-lt"/>
          <a:ea typeface="+mn-ea"/>
          <a:cs typeface="+mn-cs"/>
        </a:defRPr>
      </a:lvl3pPr>
      <a:lvl4pPr marL="544068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4pPr>
      <a:lvl5pPr marL="699516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5pPr>
      <a:lvl6pPr marL="854964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6pPr>
      <a:lvl7pPr marL="1010412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7pPr>
      <a:lvl8pPr marL="1165860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8pPr>
      <a:lvl9pPr marL="1321308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9pPr>
    </p:bodyStyle>
    <p:otherStyle>
      <a:defPPr>
        <a:defRPr lang="en-US"/>
      </a:defPPr>
      <a:lvl1pPr marL="0" algn="l" defTabSz="3108960" rtl="0" eaLnBrk="1" latinLnBrk="0" hangingPunct="1">
        <a:defRPr sz="6120" kern="1200">
          <a:solidFill>
            <a:schemeClr val="tx1"/>
          </a:solidFill>
          <a:latin typeface="+mn-lt"/>
          <a:ea typeface="+mn-ea"/>
          <a:cs typeface="+mn-cs"/>
        </a:defRPr>
      </a:lvl1pPr>
      <a:lvl2pPr marL="1554480" algn="l" defTabSz="3108960" rtl="0" eaLnBrk="1" latinLnBrk="0" hangingPunct="1">
        <a:defRPr sz="6120" kern="1200">
          <a:solidFill>
            <a:schemeClr val="tx1"/>
          </a:solidFill>
          <a:latin typeface="+mn-lt"/>
          <a:ea typeface="+mn-ea"/>
          <a:cs typeface="+mn-cs"/>
        </a:defRPr>
      </a:lvl2pPr>
      <a:lvl3pPr marL="3108960" algn="l" defTabSz="3108960" rtl="0" eaLnBrk="1" latinLnBrk="0" hangingPunct="1">
        <a:defRPr sz="6120" kern="1200">
          <a:solidFill>
            <a:schemeClr val="tx1"/>
          </a:solidFill>
          <a:latin typeface="+mn-lt"/>
          <a:ea typeface="+mn-ea"/>
          <a:cs typeface="+mn-cs"/>
        </a:defRPr>
      </a:lvl3pPr>
      <a:lvl4pPr marL="4663440" algn="l" defTabSz="3108960" rtl="0" eaLnBrk="1" latinLnBrk="0" hangingPunct="1">
        <a:defRPr sz="6120" kern="1200">
          <a:solidFill>
            <a:schemeClr val="tx1"/>
          </a:solidFill>
          <a:latin typeface="+mn-lt"/>
          <a:ea typeface="+mn-ea"/>
          <a:cs typeface="+mn-cs"/>
        </a:defRPr>
      </a:lvl4pPr>
      <a:lvl5pPr marL="6217920" algn="l" defTabSz="3108960" rtl="0" eaLnBrk="1" latinLnBrk="0" hangingPunct="1">
        <a:defRPr sz="6120" kern="1200">
          <a:solidFill>
            <a:schemeClr val="tx1"/>
          </a:solidFill>
          <a:latin typeface="+mn-lt"/>
          <a:ea typeface="+mn-ea"/>
          <a:cs typeface="+mn-cs"/>
        </a:defRPr>
      </a:lvl5pPr>
      <a:lvl6pPr marL="7772400" algn="l" defTabSz="3108960" rtl="0" eaLnBrk="1" latinLnBrk="0" hangingPunct="1">
        <a:defRPr sz="6120" kern="1200">
          <a:solidFill>
            <a:schemeClr val="tx1"/>
          </a:solidFill>
          <a:latin typeface="+mn-lt"/>
          <a:ea typeface="+mn-ea"/>
          <a:cs typeface="+mn-cs"/>
        </a:defRPr>
      </a:lvl6pPr>
      <a:lvl7pPr marL="9326880" algn="l" defTabSz="3108960" rtl="0" eaLnBrk="1" latinLnBrk="0" hangingPunct="1">
        <a:defRPr sz="6120" kern="1200">
          <a:solidFill>
            <a:schemeClr val="tx1"/>
          </a:solidFill>
          <a:latin typeface="+mn-lt"/>
          <a:ea typeface="+mn-ea"/>
          <a:cs typeface="+mn-cs"/>
        </a:defRPr>
      </a:lvl7pPr>
      <a:lvl8pPr marL="10881360" algn="l" defTabSz="3108960" rtl="0" eaLnBrk="1" latinLnBrk="0" hangingPunct="1">
        <a:defRPr sz="6120" kern="1200">
          <a:solidFill>
            <a:schemeClr val="tx1"/>
          </a:solidFill>
          <a:latin typeface="+mn-lt"/>
          <a:ea typeface="+mn-ea"/>
          <a:cs typeface="+mn-cs"/>
        </a:defRPr>
      </a:lvl8pPr>
      <a:lvl9pPr marL="12435840" algn="l" defTabSz="3108960" rtl="0" eaLnBrk="1" latinLnBrk="0" hangingPunct="1">
        <a:defRPr sz="61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18" Type="http://schemas.openxmlformats.org/officeDocument/2006/relationships/image" Target="../media/image15.png"/><Relationship Id="rId3" Type="http://schemas.openxmlformats.org/officeDocument/2006/relationships/image" Target="../media/image2.emf"/><Relationship Id="rId21" Type="http://schemas.openxmlformats.org/officeDocument/2006/relationships/image" Target="../media/image18.png"/><Relationship Id="rId7" Type="http://schemas.openxmlformats.org/officeDocument/2006/relationships/image" Target="../media/image6.png"/><Relationship Id="rId12" Type="http://schemas.openxmlformats.org/officeDocument/2006/relationships/image" Target="../media/image10.emf"/><Relationship Id="rId17" Type="http://schemas.openxmlformats.org/officeDocument/2006/relationships/image" Target="../media/image14.emf"/><Relationship Id="rId2" Type="http://schemas.openxmlformats.org/officeDocument/2006/relationships/image" Target="../media/image1.png"/><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2.emf"/><Relationship Id="rId2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BAB87-A1BD-C231-F497-90DF0373AB51}"/>
              </a:ext>
            </a:extLst>
          </p:cNvPr>
          <p:cNvSpPr/>
          <p:nvPr/>
        </p:nvSpPr>
        <p:spPr>
          <a:xfrm>
            <a:off x="0" y="0"/>
            <a:ext cx="31089600" cy="5943600"/>
          </a:xfrm>
          <a:prstGeom prst="rect">
            <a:avLst/>
          </a:prstGeom>
          <a:solidFill>
            <a:srgbClr val="99528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7" name="TextBox 6">
            <a:extLst>
              <a:ext uri="{FF2B5EF4-FFF2-40B4-BE49-F238E27FC236}">
                <a16:creationId xmlns:a16="http://schemas.microsoft.com/office/drawing/2014/main" id="{54756711-61D2-21A9-B7F5-65EB5D990F48}"/>
              </a:ext>
            </a:extLst>
          </p:cNvPr>
          <p:cNvSpPr txBox="1"/>
          <p:nvPr/>
        </p:nvSpPr>
        <p:spPr>
          <a:xfrm>
            <a:off x="557784" y="91440"/>
            <a:ext cx="29974032" cy="5453737"/>
          </a:xfrm>
          <a:prstGeom prst="rect">
            <a:avLst/>
          </a:prstGeom>
          <a:noFill/>
        </p:spPr>
        <p:txBody>
          <a:bodyPr wrap="square">
            <a:spAutoFit/>
          </a:bodyPr>
          <a:lstStyle/>
          <a:p>
            <a:pPr marL="12700" marR="5080" lvl="0" indent="0" defTabSz="914400" eaLnBrk="1" fontAlgn="auto" latinLnBrk="0" hangingPunct="1">
              <a:lnSpc>
                <a:spcPct val="150000"/>
              </a:lnSpc>
              <a:spcBef>
                <a:spcPts val="960"/>
              </a:spcBef>
              <a:spcAft>
                <a:spcPts val="0"/>
              </a:spcAft>
              <a:buClrTx/>
              <a:buSzTx/>
              <a:buFontTx/>
              <a:buNone/>
              <a:tabLst>
                <a:tab pos="6664959" algn="l"/>
              </a:tabLst>
              <a:defRPr/>
            </a:pPr>
            <a:r>
              <a:rPr lang="en-US" sz="8000" kern="0" dirty="0">
                <a:solidFill>
                  <a:schemeClr val="bg1">
                    <a:lumMod val="95000"/>
                  </a:schemeClr>
                </a:solidFill>
                <a:latin typeface="Helvetica" pitchFamily="2" charset="0"/>
                <a:ea typeface="Verdana" panose="020B0604030504040204" pitchFamily="34" charset="0"/>
                <a:cs typeface="Verdana" panose="020B0604030504040204" pitchFamily="34" charset="0"/>
              </a:rPr>
              <a:t>C</a:t>
            </a:r>
            <a:r>
              <a:rPr kumimoji="0" lang="en-US" sz="8000" u="none" strike="noStrike" kern="0" cap="none" spc="0" normalizeH="0" baseline="0" noProof="0" dirty="0" err="1">
                <a:ln>
                  <a:noFill/>
                </a:ln>
                <a:solidFill>
                  <a:schemeClr val="bg1">
                    <a:lumMod val="95000"/>
                  </a:schemeClr>
                </a:solidFill>
                <a:effectLst/>
                <a:uLnTx/>
                <a:uFillTx/>
                <a:latin typeface="Helvetica" pitchFamily="2" charset="0"/>
                <a:ea typeface="Verdana" panose="020B0604030504040204" pitchFamily="34" charset="0"/>
                <a:cs typeface="Verdana" panose="020B0604030504040204" pitchFamily="34" charset="0"/>
              </a:rPr>
              <a:t>urrent</a:t>
            </a:r>
            <a:r>
              <a:rPr kumimoji="0" lang="en-US" sz="8000" u="none" strike="noStrike" kern="0" cap="none" spc="0" normalizeH="0" baseline="0" noProof="0" dirty="0">
                <a:ln>
                  <a:noFill/>
                </a:ln>
                <a:solidFill>
                  <a:schemeClr val="bg1">
                    <a:lumMod val="95000"/>
                  </a:schemeClr>
                </a:solidFill>
                <a:effectLst/>
                <a:uLnTx/>
                <a:uFillTx/>
                <a:latin typeface="Helvetica" pitchFamily="2" charset="0"/>
                <a:ea typeface="Verdana" panose="020B0604030504040204" pitchFamily="34" charset="0"/>
                <a:cs typeface="Verdana" panose="020B0604030504040204" pitchFamily="34" charset="0"/>
              </a:rPr>
              <a:t> sheets characterized by </a:t>
            </a:r>
            <a:r>
              <a:rPr kumimoji="0" lang="en-US" sz="8000" b="1" u="none" strike="noStrike" kern="0" cap="none" spc="0" normalizeH="0" baseline="0" noProof="0" dirty="0">
                <a:ln>
                  <a:noFill/>
                </a:ln>
                <a:solidFill>
                  <a:schemeClr val="bg1">
                    <a:lumMod val="95000"/>
                  </a:schemeClr>
                </a:solidFill>
                <a:effectLst/>
                <a:uLnTx/>
                <a:uFillTx/>
                <a:latin typeface="Helvetica" pitchFamily="2" charset="0"/>
                <a:ea typeface="Verdana" panose="020B0604030504040204" pitchFamily="34" charset="0"/>
                <a:cs typeface="Verdana" panose="020B0604030504040204" pitchFamily="34" charset="0"/>
              </a:rPr>
              <a:t>large shear angles </a:t>
            </a:r>
            <a:r>
              <a:rPr kumimoji="0" lang="en-US" sz="8000" u="none" strike="noStrike" kern="0" cap="none" spc="0" normalizeH="0" baseline="0" noProof="0" dirty="0">
                <a:ln>
                  <a:noFill/>
                </a:ln>
                <a:solidFill>
                  <a:schemeClr val="bg1">
                    <a:lumMod val="95000"/>
                  </a:schemeClr>
                </a:solidFill>
                <a:effectLst/>
                <a:uLnTx/>
                <a:uFillTx/>
                <a:latin typeface="Helvetica" pitchFamily="2" charset="0"/>
                <a:ea typeface="Verdana" panose="020B0604030504040204" pitchFamily="34" charset="0"/>
                <a:cs typeface="Verdana" panose="020B0604030504040204" pitchFamily="34" charset="0"/>
              </a:rPr>
              <a:t>or relatively </a:t>
            </a:r>
            <a:r>
              <a:rPr kumimoji="0" lang="en-US" sz="8000" b="1" u="none" strike="noStrike" kern="0" cap="none" spc="0" normalizeH="0" baseline="0" noProof="0" dirty="0">
                <a:ln>
                  <a:noFill/>
                </a:ln>
                <a:solidFill>
                  <a:schemeClr val="bg1">
                    <a:lumMod val="95000"/>
                  </a:schemeClr>
                </a:solidFill>
                <a:effectLst/>
                <a:uLnTx/>
                <a:uFillTx/>
                <a:latin typeface="Helvetica" pitchFamily="2" charset="0"/>
                <a:ea typeface="Verdana" panose="020B0604030504040204" pitchFamily="34" charset="0"/>
                <a:cs typeface="Verdana" panose="020B0604030504040204" pitchFamily="34" charset="0"/>
              </a:rPr>
              <a:t>small thickness</a:t>
            </a:r>
            <a:r>
              <a:rPr kumimoji="0" lang="en-US" sz="8000" u="none" strike="noStrike" kern="0" cap="none" spc="0" normalizeH="0" baseline="0" noProof="0" dirty="0">
                <a:ln>
                  <a:noFill/>
                </a:ln>
                <a:solidFill>
                  <a:schemeClr val="bg1">
                    <a:lumMod val="95000"/>
                  </a:schemeClr>
                </a:solidFill>
                <a:effectLst/>
                <a:uLnTx/>
                <a:uFillTx/>
                <a:latin typeface="Helvetica" pitchFamily="2" charset="0"/>
                <a:ea typeface="Verdana" panose="020B0604030504040204" pitchFamily="34" charset="0"/>
                <a:cs typeface="Verdana" panose="020B0604030504040204" pitchFamily="34" charset="0"/>
              </a:rPr>
              <a:t>, can effectively scatter energetic particles and effect transport beyond the conventional diffusion framework.</a:t>
            </a:r>
          </a:p>
        </p:txBody>
      </p:sp>
      <p:pic>
        <p:nvPicPr>
          <p:cNvPr id="11" name="Picture 10">
            <a:extLst>
              <a:ext uri="{FF2B5EF4-FFF2-40B4-BE49-F238E27FC236}">
                <a16:creationId xmlns:a16="http://schemas.microsoft.com/office/drawing/2014/main" id="{27972620-22AE-7A3B-0F01-86C1B45F4291}"/>
              </a:ext>
            </a:extLst>
          </p:cNvPr>
          <p:cNvPicPr>
            <a:picLocks noChangeAspect="1"/>
          </p:cNvPicPr>
          <p:nvPr/>
        </p:nvPicPr>
        <p:blipFill>
          <a:blip r:embed="rId2"/>
          <a:stretch>
            <a:fillRect/>
          </a:stretch>
        </p:blipFill>
        <p:spPr>
          <a:xfrm>
            <a:off x="266699" y="5943600"/>
            <a:ext cx="7779933" cy="8420476"/>
          </a:xfrm>
          <a:prstGeom prst="rect">
            <a:avLst/>
          </a:prstGeom>
        </p:spPr>
      </p:pic>
      <p:pic>
        <p:nvPicPr>
          <p:cNvPr id="12" name="Picture 11">
            <a:extLst>
              <a:ext uri="{FF2B5EF4-FFF2-40B4-BE49-F238E27FC236}">
                <a16:creationId xmlns:a16="http://schemas.microsoft.com/office/drawing/2014/main" id="{3D804A9A-FB28-38AC-4F0B-266A063B29C6}"/>
              </a:ext>
            </a:extLst>
          </p:cNvPr>
          <p:cNvPicPr>
            <a:picLocks noChangeAspect="1"/>
          </p:cNvPicPr>
          <p:nvPr/>
        </p:nvPicPr>
        <p:blipFill>
          <a:blip r:embed="rId3"/>
          <a:stretch>
            <a:fillRect/>
          </a:stretch>
        </p:blipFill>
        <p:spPr>
          <a:xfrm>
            <a:off x="8453618" y="6400423"/>
            <a:ext cx="15358881" cy="8420477"/>
          </a:xfrm>
          <a:prstGeom prst="rect">
            <a:avLst/>
          </a:prstGeom>
          <a:noFill/>
        </p:spPr>
      </p:pic>
      <p:sp>
        <p:nvSpPr>
          <p:cNvPr id="17" name="TextBox 16">
            <a:extLst>
              <a:ext uri="{FF2B5EF4-FFF2-40B4-BE49-F238E27FC236}">
                <a16:creationId xmlns:a16="http://schemas.microsoft.com/office/drawing/2014/main" id="{2ECF073E-0CB7-9A61-2CF7-0A2EFC0089C2}"/>
              </a:ext>
            </a:extLst>
          </p:cNvPr>
          <p:cNvSpPr txBox="1"/>
          <p:nvPr/>
        </p:nvSpPr>
        <p:spPr>
          <a:xfrm>
            <a:off x="289307" y="15652059"/>
            <a:ext cx="9995043" cy="4708981"/>
          </a:xfrm>
          <a:prstGeom prst="rect">
            <a:avLst/>
          </a:prstGeom>
          <a:noFill/>
        </p:spPr>
        <p:txBody>
          <a:bodyPr wrap="square">
            <a:spAutoFit/>
          </a:bodyPr>
          <a:lstStyle/>
          <a:p>
            <a:pPr defTabSz="914400"/>
            <a:r>
              <a:rPr lang="en-US" sz="3000" kern="0" spc="-10" dirty="0">
                <a:solidFill>
                  <a:sysClr val="windowText" lastClr="000000"/>
                </a:solidFill>
                <a:latin typeface="Arial" panose="020B0604020202020204" pitchFamily="34" charset="0"/>
                <a:cs typeface="Arial" panose="020B0604020202020204" pitchFamily="34" charset="0"/>
              </a:rPr>
              <a:t>The transport of energetic particles within the heliosphere is significantly influenced by the turbulent magnetic field present in the solar. Rather than being a simple superposition of random fluctuations, these turbulent fields exhibit a structured nature, frequently observed in the solar wind magnetic field in the form of current sheets, discontinuities, Alfvén vortices, magnetic holes, and other coherent structures. These structures arise from nonlinear energy cascade processes and play a critical role in modulating particle transport.</a:t>
            </a:r>
          </a:p>
        </p:txBody>
      </p:sp>
      <p:sp>
        <p:nvSpPr>
          <p:cNvPr id="18" name="TextBox 17">
            <a:extLst>
              <a:ext uri="{FF2B5EF4-FFF2-40B4-BE49-F238E27FC236}">
                <a16:creationId xmlns:a16="http://schemas.microsoft.com/office/drawing/2014/main" id="{751816DA-ABA4-7537-6E1B-9A8E8C5F6070}"/>
              </a:ext>
            </a:extLst>
          </p:cNvPr>
          <p:cNvSpPr txBox="1"/>
          <p:nvPr/>
        </p:nvSpPr>
        <p:spPr>
          <a:xfrm>
            <a:off x="266699" y="14529901"/>
            <a:ext cx="7318029"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800" b="1" i="0" u="none" strike="noStrike" kern="0" cap="none" spc="0" normalizeH="0" baseline="0" noProof="0" dirty="0">
                <a:ln>
                  <a:noFill/>
                </a:ln>
                <a:solidFill>
                  <a:sysClr val="windowText" lastClr="000000"/>
                </a:solidFill>
                <a:effectLst/>
                <a:uLnTx/>
                <a:uFillTx/>
              </a:rPr>
              <a:t>Introduction &amp; Motivation</a:t>
            </a:r>
            <a:endParaRPr kumimoji="0" lang="en-US" sz="4800" b="0" i="0" u="none" strike="noStrike" kern="0" cap="none" spc="0" normalizeH="0" baseline="0" noProof="0" dirty="0">
              <a:ln>
                <a:noFill/>
              </a:ln>
              <a:solidFill>
                <a:sysClr val="windowText" lastClr="000000"/>
              </a:solidFill>
              <a:effectLst/>
              <a:uLnTx/>
              <a:uFillTx/>
            </a:endParaRPr>
          </a:p>
        </p:txBody>
      </p:sp>
      <p:sp>
        <p:nvSpPr>
          <p:cNvPr id="19" name="object 29">
            <a:extLst>
              <a:ext uri="{FF2B5EF4-FFF2-40B4-BE49-F238E27FC236}">
                <a16:creationId xmlns:a16="http://schemas.microsoft.com/office/drawing/2014/main" id="{4464A502-8753-1645-3F58-BD95E45E7141}"/>
              </a:ext>
            </a:extLst>
          </p:cNvPr>
          <p:cNvSpPr txBox="1"/>
          <p:nvPr/>
        </p:nvSpPr>
        <p:spPr>
          <a:xfrm>
            <a:off x="23812499" y="7033443"/>
            <a:ext cx="7010402" cy="1977464"/>
          </a:xfrm>
          <a:prstGeom prst="rect">
            <a:avLst/>
          </a:prstGeom>
          <a:ln>
            <a:noFill/>
          </a:ln>
        </p:spPr>
        <p:txBody>
          <a:bodyPr vert="horz" wrap="square" lIns="0" tIns="7620" rIns="0" bIns="0" rtlCol="0">
            <a:spAutoFit/>
          </a:bodyPr>
          <a:lstStyle/>
          <a:p>
            <a:pPr marL="12700" indent="-635">
              <a:spcBef>
                <a:spcPts val="60"/>
              </a:spcBef>
              <a:tabLst>
                <a:tab pos="417195" algn="l"/>
                <a:tab pos="1316990" algn="l"/>
                <a:tab pos="1569085" algn="l"/>
                <a:tab pos="2316480" algn="l"/>
                <a:tab pos="2640965" algn="l"/>
                <a:tab pos="3411220" algn="l"/>
                <a:tab pos="4034790" algn="l"/>
                <a:tab pos="4184015" algn="l"/>
                <a:tab pos="4641215" algn="l"/>
              </a:tabLst>
            </a:pPr>
            <a:r>
              <a:rPr sz="3200" kern="0" spc="-10" dirty="0">
                <a:solidFill>
                  <a:sysClr val="windowText" lastClr="000000"/>
                </a:solidFill>
                <a:latin typeface="Arial" panose="020B0604020202020204" pitchFamily="34" charset="0"/>
                <a:cs typeface="Arial" panose="020B0604020202020204" pitchFamily="34" charset="0"/>
              </a:rPr>
              <a:t>We</a:t>
            </a:r>
            <a:r>
              <a:rPr lang="en-US" sz="3200" kern="0" spc="-10" dirty="0">
                <a:solidFill>
                  <a:sysClr val="windowText" lastClr="000000"/>
                </a:solidFill>
                <a:latin typeface="Arial" panose="020B0604020202020204" pitchFamily="34" charset="0"/>
                <a:cs typeface="Arial" panose="020B0604020202020204" pitchFamily="34" charset="0"/>
              </a:rPr>
              <a:t> </a:t>
            </a:r>
            <a:r>
              <a:rPr sz="3200" kern="0" spc="-10" dirty="0">
                <a:solidFill>
                  <a:sysClr val="windowText" lastClr="000000"/>
                </a:solidFill>
                <a:latin typeface="Arial" panose="020B0604020202020204" pitchFamily="34" charset="0"/>
                <a:cs typeface="Arial" panose="020B0604020202020204" pitchFamily="34" charset="0"/>
              </a:rPr>
              <a:t>compiled</a:t>
            </a:r>
            <a:r>
              <a:rPr lang="en-US" sz="3200" kern="0" spc="-10" dirty="0">
                <a:solidFill>
                  <a:sysClr val="windowText" lastClr="000000"/>
                </a:solidFill>
                <a:latin typeface="Arial" panose="020B0604020202020204" pitchFamily="34" charset="0"/>
                <a:cs typeface="Arial" panose="020B0604020202020204" pitchFamily="34" charset="0"/>
              </a:rPr>
              <a:t> </a:t>
            </a:r>
            <a:r>
              <a:rPr sz="3200" kern="0" spc="-10" dirty="0">
                <a:solidFill>
                  <a:sysClr val="windowText" lastClr="000000"/>
                </a:solidFill>
                <a:latin typeface="Arial" panose="020B0604020202020204" pitchFamily="34" charset="0"/>
                <a:cs typeface="Arial" panose="020B0604020202020204" pitchFamily="34" charset="0"/>
              </a:rPr>
              <a:t>a</a:t>
            </a:r>
            <a:r>
              <a:rPr lang="en-US" sz="3200" kern="0" spc="-10" dirty="0">
                <a:solidFill>
                  <a:sysClr val="windowText" lastClr="000000"/>
                </a:solidFill>
                <a:latin typeface="Arial" panose="020B0604020202020204" pitchFamily="34" charset="0"/>
                <a:cs typeface="Arial" panose="020B0604020202020204" pitchFamily="34" charset="0"/>
              </a:rPr>
              <a:t> </a:t>
            </a:r>
            <a:r>
              <a:rPr sz="3200" kern="0" spc="-10" dirty="0">
                <a:solidFill>
                  <a:sysClr val="windowText" lastClr="000000"/>
                </a:solidFill>
                <a:latin typeface="Arial" panose="020B0604020202020204" pitchFamily="34" charset="0"/>
                <a:cs typeface="Arial" panose="020B0604020202020204" pitchFamily="34" charset="0"/>
              </a:rPr>
              <a:t>dataset</a:t>
            </a:r>
            <a:r>
              <a:rPr lang="en-US" sz="3200" kern="0" spc="-10" dirty="0">
                <a:solidFill>
                  <a:sysClr val="windowText" lastClr="000000"/>
                </a:solidFill>
                <a:latin typeface="Arial" panose="020B0604020202020204" pitchFamily="34" charset="0"/>
                <a:cs typeface="Arial" panose="020B0604020202020204" pitchFamily="34" charset="0"/>
              </a:rPr>
              <a:t> </a:t>
            </a:r>
            <a:r>
              <a:rPr sz="3200" kern="0" spc="-10" dirty="0">
                <a:solidFill>
                  <a:sysClr val="windowText" lastClr="000000"/>
                </a:solidFill>
                <a:latin typeface="Arial" panose="020B0604020202020204" pitchFamily="34" charset="0"/>
                <a:cs typeface="Arial" panose="020B0604020202020204" pitchFamily="34" charset="0"/>
              </a:rPr>
              <a:t>of</a:t>
            </a:r>
            <a:r>
              <a:rPr lang="en-US" sz="3200" kern="0" spc="-10" dirty="0">
                <a:solidFill>
                  <a:sysClr val="windowText" lastClr="000000"/>
                </a:solidFill>
                <a:latin typeface="Arial" panose="020B0604020202020204" pitchFamily="34" charset="0"/>
                <a:cs typeface="Arial" panose="020B0604020202020204" pitchFamily="34" charset="0"/>
              </a:rPr>
              <a:t> </a:t>
            </a:r>
            <a:r>
              <a:rPr sz="3200" kern="0" spc="-10" dirty="0">
                <a:solidFill>
                  <a:sysClr val="windowText" lastClr="000000"/>
                </a:solidFill>
                <a:latin typeface="Arial" panose="020B0604020202020204" pitchFamily="34" charset="0"/>
                <a:cs typeface="Arial" panose="020B0604020202020204" pitchFamily="34" charset="0"/>
              </a:rPr>
              <a:t>100,000</a:t>
            </a:r>
            <a:r>
              <a:rPr lang="en-US" sz="3200" kern="0" spc="-10" dirty="0">
                <a:solidFill>
                  <a:sysClr val="windowText" lastClr="000000"/>
                </a:solidFill>
                <a:latin typeface="Arial" panose="020B0604020202020204" pitchFamily="34" charset="0"/>
                <a:cs typeface="Arial" panose="020B0604020202020204" pitchFamily="34" charset="0"/>
              </a:rPr>
              <a:t> </a:t>
            </a:r>
            <a:r>
              <a:rPr sz="3200" kern="0" spc="-10" dirty="0">
                <a:solidFill>
                  <a:sysClr val="windowText" lastClr="000000"/>
                </a:solidFill>
                <a:latin typeface="Arial" panose="020B0604020202020204" pitchFamily="34" charset="0"/>
                <a:cs typeface="Arial" panose="020B0604020202020204" pitchFamily="34" charset="0"/>
              </a:rPr>
              <a:t>current</a:t>
            </a:r>
            <a:r>
              <a:rPr lang="en-US" sz="3200" kern="0" spc="-10" dirty="0">
                <a:solidFill>
                  <a:sysClr val="windowText" lastClr="000000"/>
                </a:solidFill>
                <a:latin typeface="Arial" panose="020B0604020202020204" pitchFamily="34" charset="0"/>
                <a:cs typeface="Arial" panose="020B0604020202020204" pitchFamily="34" charset="0"/>
              </a:rPr>
              <a:t> </a:t>
            </a:r>
            <a:r>
              <a:rPr sz="3200" kern="0" spc="-10" dirty="0">
                <a:solidFill>
                  <a:sysClr val="windowText" lastClr="000000"/>
                </a:solidFill>
                <a:latin typeface="Arial" panose="020B0604020202020204" pitchFamily="34" charset="0"/>
                <a:cs typeface="Arial" panose="020B0604020202020204" pitchFamily="34" charset="0"/>
              </a:rPr>
              <a:t>sheets</a:t>
            </a:r>
            <a:r>
              <a:rPr lang="en-US" sz="3200" kern="0" spc="-10" dirty="0">
                <a:solidFill>
                  <a:sysClr val="windowText" lastClr="000000"/>
                </a:solidFill>
                <a:latin typeface="Arial" panose="020B0604020202020204" pitchFamily="34" charset="0"/>
                <a:cs typeface="Arial" panose="020B0604020202020204" pitchFamily="34" charset="0"/>
              </a:rPr>
              <a:t>, </a:t>
            </a:r>
            <a:r>
              <a:rPr sz="3200" kern="0" spc="-10" dirty="0">
                <a:solidFill>
                  <a:sysClr val="windowText" lastClr="000000"/>
                </a:solidFill>
                <a:latin typeface="Arial" panose="020B0604020202020204" pitchFamily="34" charset="0"/>
                <a:cs typeface="Arial" panose="020B0604020202020204" pitchFamily="34" charset="0"/>
              </a:rPr>
              <a:t>chara</a:t>
            </a:r>
            <a:r>
              <a:rPr lang="en-US" sz="3200" kern="0" spc="-10" dirty="0">
                <a:solidFill>
                  <a:sysClr val="windowText" lastClr="000000"/>
                </a:solidFill>
                <a:latin typeface="Arial" panose="020B0604020202020204" pitchFamily="34" charset="0"/>
                <a:cs typeface="Arial" panose="020B0604020202020204" pitchFamily="34" charset="0"/>
              </a:rPr>
              <a:t>c</a:t>
            </a:r>
            <a:r>
              <a:rPr sz="3200" kern="0" spc="-10" dirty="0">
                <a:solidFill>
                  <a:sysClr val="windowText" lastClr="000000"/>
                </a:solidFill>
                <a:latin typeface="Arial" panose="020B0604020202020204" pitchFamily="34" charset="0"/>
                <a:cs typeface="Arial" panose="020B0604020202020204" pitchFamily="34" charset="0"/>
              </a:rPr>
              <a:t>terizing the current sheet parameters</a:t>
            </a:r>
            <a:r>
              <a:rPr lang="en-US" sz="3200" kern="0" spc="-10" dirty="0">
                <a:solidFill>
                  <a:sysClr val="windowText" lastClr="000000"/>
                </a:solidFill>
                <a:latin typeface="Arial" panose="020B0604020202020204" pitchFamily="34" charset="0"/>
                <a:cs typeface="Arial" panose="020B0604020202020204" pitchFamily="34" charset="0"/>
              </a:rPr>
              <a:t> from the ARTEMIS and Wind missions.</a:t>
            </a:r>
          </a:p>
        </p:txBody>
      </p:sp>
      <p:pic>
        <p:nvPicPr>
          <p:cNvPr id="20" name="Picture 19" descr="A screenshot of a graph&#10;&#10;AI-generated content may be incorrect.">
            <a:extLst>
              <a:ext uri="{FF2B5EF4-FFF2-40B4-BE49-F238E27FC236}">
                <a16:creationId xmlns:a16="http://schemas.microsoft.com/office/drawing/2014/main" id="{94D79E9E-AC6C-A875-CBC8-F36EE279F385}"/>
              </a:ext>
            </a:extLst>
          </p:cNvPr>
          <p:cNvPicPr>
            <a:picLocks noChangeAspect="1"/>
          </p:cNvPicPr>
          <p:nvPr/>
        </p:nvPicPr>
        <p:blipFill>
          <a:blip r:embed="rId4">
            <a:extLst>
              <a:ext uri="{28A0092B-C50C-407E-A947-70E740481C1C}">
                <a14:useLocalDpi xmlns:a14="http://schemas.microsoft.com/office/drawing/2010/main" val="0"/>
              </a:ext>
            </a:extLst>
          </a:blip>
          <a:srcRect t="10778" r="54285" b="6766"/>
          <a:stretch>
            <a:fillRect/>
          </a:stretch>
        </p:blipFill>
        <p:spPr>
          <a:xfrm>
            <a:off x="23215556" y="9264881"/>
            <a:ext cx="7874043" cy="7101211"/>
          </a:xfrm>
          <a:prstGeom prst="rect">
            <a:avLst/>
          </a:prstGeom>
        </p:spPr>
      </p:pic>
      <p:sp>
        <p:nvSpPr>
          <p:cNvPr id="21" name="TextBox 20">
            <a:extLst>
              <a:ext uri="{FF2B5EF4-FFF2-40B4-BE49-F238E27FC236}">
                <a16:creationId xmlns:a16="http://schemas.microsoft.com/office/drawing/2014/main" id="{DECC647B-36FF-3915-E8C9-F6C8C6F1658C}"/>
              </a:ext>
            </a:extLst>
          </p:cNvPr>
          <p:cNvSpPr txBox="1"/>
          <p:nvPr/>
        </p:nvSpPr>
        <p:spPr>
          <a:xfrm>
            <a:off x="266699" y="20802067"/>
            <a:ext cx="9167894" cy="830997"/>
          </a:xfrm>
          <a:prstGeom prst="rect">
            <a:avLst/>
          </a:prstGeom>
          <a:noFill/>
        </p:spPr>
        <p:txBody>
          <a:bodyPr wrap="none" rtlCol="0">
            <a:spAutoFit/>
          </a:bodyPr>
          <a:lstStyle/>
          <a:p>
            <a:r>
              <a:rPr lang="en-US" sz="4800" b="1" spc="-10" dirty="0">
                <a:latin typeface="Charter" panose="02040503050506020203" pitchFamily="18" charset="0"/>
                <a:cs typeface="Times New Roman"/>
              </a:rPr>
              <a:t>A. Theory - Hamiltonian system</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0B222A1-273A-6B99-B034-9B801F47CF57}"/>
                  </a:ext>
                </a:extLst>
              </p:cNvPr>
              <p:cNvSpPr txBox="1"/>
              <p:nvPr/>
            </p:nvSpPr>
            <p:spPr>
              <a:xfrm>
                <a:off x="-2929374" y="21649023"/>
                <a:ext cx="15560040" cy="10279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ar-AE" sz="3200" i="1" smtClean="0">
                              <a:latin typeface="Cambria Math" panose="02040503050406030204" pitchFamily="18" charset="0"/>
                            </a:rPr>
                          </m:ctrlPr>
                        </m:accPr>
                        <m:e>
                          <m:r>
                            <a:rPr lang="ar-AE" sz="3200">
                              <a:latin typeface="Cambria Math" panose="02040503050406030204" pitchFamily="18" charset="0"/>
                            </a:rPr>
                            <m:t>𝐻</m:t>
                          </m:r>
                        </m:e>
                      </m:acc>
                      <m:r>
                        <a:rPr lang="ar-AE" sz="3200">
                          <a:latin typeface="Cambria Math" panose="02040503050406030204" pitchFamily="18" charset="0"/>
                        </a:rPr>
                        <m:t>=</m:t>
                      </m:r>
                      <m:f>
                        <m:fPr>
                          <m:ctrlPr>
                            <a:rPr lang="ar-AE" sz="3200" i="1">
                              <a:latin typeface="Cambria Math" panose="02040503050406030204" pitchFamily="18" charset="0"/>
                            </a:rPr>
                          </m:ctrlPr>
                        </m:fPr>
                        <m:num>
                          <m:r>
                            <a:rPr lang="ar-AE" sz="3200">
                              <a:latin typeface="Cambria Math" panose="02040503050406030204" pitchFamily="18" charset="0"/>
                            </a:rPr>
                            <m:t>1</m:t>
                          </m:r>
                        </m:num>
                        <m:den>
                          <m:r>
                            <a:rPr lang="ar-AE" sz="3200">
                              <a:latin typeface="Cambria Math" panose="02040503050406030204" pitchFamily="18" charset="0"/>
                            </a:rPr>
                            <m:t>2</m:t>
                          </m:r>
                        </m:den>
                      </m:f>
                      <m:d>
                        <m:dPr>
                          <m:ctrlPr>
                            <a:rPr lang="ar-AE" sz="3200" i="1">
                              <a:latin typeface="Cambria Math" panose="02040503050406030204" pitchFamily="18" charset="0"/>
                            </a:rPr>
                          </m:ctrlPr>
                        </m:dPr>
                        <m:e>
                          <m:sSup>
                            <m:sSupPr>
                              <m:ctrlPr>
                                <a:rPr lang="ar-AE" sz="3200" i="1">
                                  <a:latin typeface="Cambria Math" panose="02040503050406030204" pitchFamily="18" charset="0"/>
                                </a:rPr>
                              </m:ctrlPr>
                            </m:sSupPr>
                            <m:e>
                              <m:d>
                                <m:dPr>
                                  <m:ctrlPr>
                                    <a:rPr lang="ar-AE" sz="3200" i="1">
                                      <a:latin typeface="Cambria Math" panose="02040503050406030204" pitchFamily="18" charset="0"/>
                                    </a:rPr>
                                  </m:ctrlPr>
                                </m:dPr>
                                <m:e>
                                  <m:acc>
                                    <m:accPr>
                                      <m:chr m:val="̃"/>
                                      <m:ctrlPr>
                                        <a:rPr lang="ar-AE" sz="3200" i="1">
                                          <a:latin typeface="Cambria Math" panose="02040503050406030204" pitchFamily="18" charset="0"/>
                                        </a:rPr>
                                      </m:ctrlPr>
                                    </m:accPr>
                                    <m:e>
                                      <m:sSub>
                                        <m:sSubPr>
                                          <m:ctrlPr>
                                            <a:rPr lang="ar-AE" sz="3200" i="1">
                                              <a:latin typeface="Cambria Math" panose="02040503050406030204" pitchFamily="18" charset="0"/>
                                            </a:rPr>
                                          </m:ctrlPr>
                                        </m:sSubPr>
                                        <m:e>
                                          <m:r>
                                            <a:rPr lang="ar-AE" sz="3200">
                                              <a:latin typeface="Cambria Math" panose="02040503050406030204" pitchFamily="18" charset="0"/>
                                            </a:rPr>
                                            <m:t>𝑝</m:t>
                                          </m:r>
                                        </m:e>
                                        <m:sub>
                                          <m:r>
                                            <a:rPr lang="ar-AE" sz="3200">
                                              <a:latin typeface="Cambria Math" panose="02040503050406030204" pitchFamily="18" charset="0"/>
                                            </a:rPr>
                                            <m:t>𝑥</m:t>
                                          </m:r>
                                        </m:sub>
                                      </m:sSub>
                                    </m:e>
                                  </m:acc>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𝑓</m:t>
                                      </m:r>
                                    </m:e>
                                    <m:sub>
                                      <m:r>
                                        <a:rPr lang="ar-AE" sz="3200">
                                          <a:latin typeface="Cambria Math" panose="02040503050406030204" pitchFamily="18" charset="0"/>
                                        </a:rPr>
                                        <m:t>1</m:t>
                                      </m:r>
                                    </m:sub>
                                  </m:sSub>
                                  <m:d>
                                    <m:dPr>
                                      <m:ctrlPr>
                                        <a:rPr lang="ar-AE" sz="3200" i="1">
                                          <a:latin typeface="Cambria Math" panose="02040503050406030204" pitchFamily="18" charset="0"/>
                                        </a:rPr>
                                      </m:ctrlPr>
                                    </m:dPr>
                                    <m:e>
                                      <m:r>
                                        <a:rPr lang="ar-AE" sz="3200">
                                          <a:latin typeface="Cambria Math" panose="02040503050406030204" pitchFamily="18" charset="0"/>
                                        </a:rPr>
                                        <m:t>𝑧</m:t>
                                      </m:r>
                                    </m:e>
                                  </m:d>
                                </m:e>
                              </m:d>
                            </m:e>
                            <m:sup>
                              <m:r>
                                <a:rPr lang="ar-AE" sz="3200">
                                  <a:latin typeface="Cambria Math" panose="02040503050406030204" pitchFamily="18" charset="0"/>
                                </a:rPr>
                                <m:t>2</m:t>
                              </m:r>
                            </m:sup>
                          </m:sSup>
                          <m:r>
                            <a:rPr lang="ar-AE" sz="3200">
                              <a:latin typeface="Cambria Math" panose="02040503050406030204" pitchFamily="18" charset="0"/>
                            </a:rPr>
                            <m:t>+</m:t>
                          </m:r>
                          <m:sSup>
                            <m:sSupPr>
                              <m:ctrlPr>
                                <a:rPr lang="ar-AE" sz="3200" i="1">
                                  <a:latin typeface="Cambria Math" panose="02040503050406030204" pitchFamily="18" charset="0"/>
                                </a:rPr>
                              </m:ctrlPr>
                            </m:sSupPr>
                            <m:e>
                              <m:d>
                                <m:dPr>
                                  <m:ctrlPr>
                                    <a:rPr lang="ar-AE" sz="3200" i="1">
                                      <a:latin typeface="Cambria Math" panose="02040503050406030204" pitchFamily="18" charset="0"/>
                                    </a:rPr>
                                  </m:ctrlPr>
                                </m:dPr>
                                <m:e>
                                  <m:acc>
                                    <m:accPr>
                                      <m:chr m:val="̃"/>
                                      <m:ctrlPr>
                                        <a:rPr lang="ar-AE" sz="3200" i="1">
                                          <a:latin typeface="Cambria Math" panose="02040503050406030204" pitchFamily="18" charset="0"/>
                                        </a:rPr>
                                      </m:ctrlPr>
                                    </m:accPr>
                                    <m:e>
                                      <m:r>
                                        <a:rPr lang="ar-AE" sz="3200">
                                          <a:latin typeface="Cambria Math" panose="02040503050406030204" pitchFamily="18" charset="0"/>
                                        </a:rPr>
                                        <m:t>𝑥</m:t>
                                      </m:r>
                                    </m:e>
                                  </m:acc>
                                  <m:r>
                                    <m:rPr>
                                      <m:sty m:val="p"/>
                                    </m:rPr>
                                    <a:rPr lang="en-US" sz="3200">
                                      <a:latin typeface="Cambria Math" panose="02040503050406030204" pitchFamily="18" charset="0"/>
                                    </a:rPr>
                                    <m:t>cot</m:t>
                                  </m:r>
                                  <m:r>
                                    <a:rPr lang="en-US" sz="3200">
                                      <a:latin typeface="Cambria Math" panose="02040503050406030204" pitchFamily="18" charset="0"/>
                                    </a:rPr>
                                    <m:t>𝜃</m:t>
                                  </m:r>
                                  <m:r>
                                    <a:rPr lang="en-US"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𝑓</m:t>
                                      </m:r>
                                    </m:e>
                                    <m:sub>
                                      <m:r>
                                        <a:rPr lang="ar-AE" sz="3200">
                                          <a:latin typeface="Cambria Math" panose="02040503050406030204" pitchFamily="18" charset="0"/>
                                        </a:rPr>
                                        <m:t>2</m:t>
                                      </m:r>
                                    </m:sub>
                                  </m:sSub>
                                  <m:d>
                                    <m:dPr>
                                      <m:ctrlPr>
                                        <a:rPr lang="ar-AE" sz="3200" i="1">
                                          <a:latin typeface="Cambria Math" panose="02040503050406030204" pitchFamily="18" charset="0"/>
                                        </a:rPr>
                                      </m:ctrlPr>
                                    </m:dPr>
                                    <m:e>
                                      <m:r>
                                        <a:rPr lang="ar-AE" sz="3200">
                                          <a:latin typeface="Cambria Math" panose="02040503050406030204" pitchFamily="18" charset="0"/>
                                        </a:rPr>
                                        <m:t>𝑧</m:t>
                                      </m:r>
                                    </m:e>
                                  </m:d>
                                </m:e>
                              </m:d>
                            </m:e>
                            <m:sup>
                              <m:r>
                                <a:rPr lang="ar-AE" sz="3200">
                                  <a:latin typeface="Cambria Math" panose="02040503050406030204" pitchFamily="18" charset="0"/>
                                </a:rPr>
                                <m:t>2</m:t>
                              </m:r>
                            </m:sup>
                          </m:sSup>
                          <m:r>
                            <a:rPr lang="ar-AE" sz="3200">
                              <a:latin typeface="Cambria Math" panose="02040503050406030204" pitchFamily="18" charset="0"/>
                            </a:rPr>
                            <m:t>+</m:t>
                          </m:r>
                          <m:sSup>
                            <m:sSupPr>
                              <m:ctrlPr>
                                <a:rPr lang="ar-AE" sz="3200" i="1">
                                  <a:latin typeface="Cambria Math" panose="02040503050406030204" pitchFamily="18" charset="0"/>
                                </a:rPr>
                              </m:ctrlPr>
                            </m:sSupPr>
                            <m:e>
                              <m:acc>
                                <m:accPr>
                                  <m:chr m:val="̃"/>
                                  <m:ctrlPr>
                                    <a:rPr lang="ar-AE" sz="3200" i="1">
                                      <a:latin typeface="Cambria Math" panose="02040503050406030204" pitchFamily="18" charset="0"/>
                                    </a:rPr>
                                  </m:ctrlPr>
                                </m:accPr>
                                <m:e>
                                  <m:sSub>
                                    <m:sSubPr>
                                      <m:ctrlPr>
                                        <a:rPr lang="ar-AE" sz="3200" i="1">
                                          <a:latin typeface="Cambria Math" panose="02040503050406030204" pitchFamily="18" charset="0"/>
                                        </a:rPr>
                                      </m:ctrlPr>
                                    </m:sSubPr>
                                    <m:e>
                                      <m:r>
                                        <a:rPr lang="ar-AE" sz="3200">
                                          <a:latin typeface="Cambria Math" panose="02040503050406030204" pitchFamily="18" charset="0"/>
                                        </a:rPr>
                                        <m:t>𝑝</m:t>
                                      </m:r>
                                    </m:e>
                                    <m:sub>
                                      <m:r>
                                        <a:rPr lang="ar-AE" sz="3200">
                                          <a:latin typeface="Cambria Math" panose="02040503050406030204" pitchFamily="18" charset="0"/>
                                        </a:rPr>
                                        <m:t>𝑧</m:t>
                                      </m:r>
                                    </m:sub>
                                  </m:sSub>
                                </m:e>
                              </m:acc>
                            </m:e>
                            <m:sup>
                              <m:r>
                                <a:rPr lang="ar-AE" sz="3200">
                                  <a:latin typeface="Cambria Math" panose="02040503050406030204" pitchFamily="18" charset="0"/>
                                </a:rPr>
                                <m:t>2</m:t>
                              </m:r>
                            </m:sup>
                          </m:sSup>
                        </m:e>
                      </m:d>
                    </m:oMath>
                  </m:oMathPara>
                </a14:m>
                <a:endParaRPr lang="en-US" sz="3200" dirty="0"/>
              </a:p>
            </p:txBody>
          </p:sp>
        </mc:Choice>
        <mc:Fallback xmlns="">
          <p:sp>
            <p:nvSpPr>
              <p:cNvPr id="24" name="TextBox 23">
                <a:extLst>
                  <a:ext uri="{FF2B5EF4-FFF2-40B4-BE49-F238E27FC236}">
                    <a16:creationId xmlns:a16="http://schemas.microsoft.com/office/drawing/2014/main" id="{30B222A1-273A-6B99-B034-9B801F47CF57}"/>
                  </a:ext>
                </a:extLst>
              </p:cNvPr>
              <p:cNvSpPr txBox="1">
                <a:spLocks noRot="1" noChangeAspect="1" noMove="1" noResize="1" noEditPoints="1" noAdjustHandles="1" noChangeArrowheads="1" noChangeShapeType="1" noTextEdit="1"/>
              </p:cNvSpPr>
              <p:nvPr/>
            </p:nvSpPr>
            <p:spPr>
              <a:xfrm>
                <a:off x="-2929374" y="21649023"/>
                <a:ext cx="15560040" cy="1027974"/>
              </a:xfrm>
              <a:prstGeom prst="rect">
                <a:avLst/>
              </a:prstGeom>
              <a:blipFill>
                <a:blip r:embed="rId5"/>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2E54FDE-2F5E-8C49-1BD2-E72C4C9725D4}"/>
                  </a:ext>
                </a:extLst>
              </p:cNvPr>
              <p:cNvSpPr txBox="1"/>
              <p:nvPr/>
            </p:nvSpPr>
            <p:spPr>
              <a:xfrm>
                <a:off x="13792200" y="15054005"/>
                <a:ext cx="4572000" cy="1213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ar-AE" sz="3600" i="1" smtClean="0">
                              <a:latin typeface="Cambria Math" panose="02040503050406030204" pitchFamily="18" charset="0"/>
                            </a:rPr>
                          </m:ctrlPr>
                        </m:mPr>
                        <m:mr>
                          <m:e>
                            <m:r>
                              <a:rPr lang="ar-AE" sz="3600">
                                <a:latin typeface="Cambria Math" panose="02040503050406030204" pitchFamily="18" charset="0"/>
                              </a:rPr>
                              <m:t>𝐁</m:t>
                            </m:r>
                          </m:e>
                          <m:e>
                            <m:r>
                              <a:rPr lang="ar-AE" sz="3600">
                                <a:latin typeface="Cambria Math" panose="02040503050406030204" pitchFamily="18" charset="0"/>
                              </a:rPr>
                              <m:t>=</m:t>
                            </m:r>
                            <m:sSub>
                              <m:sSubPr>
                                <m:ctrlPr>
                                  <a:rPr lang="ar-AE" sz="3600" i="1">
                                    <a:latin typeface="Cambria Math" panose="02040503050406030204" pitchFamily="18" charset="0"/>
                                  </a:rPr>
                                </m:ctrlPr>
                              </m:sSubPr>
                              <m:e>
                                <m:r>
                                  <a:rPr lang="ar-AE" sz="3600">
                                    <a:latin typeface="Cambria Math" panose="02040503050406030204" pitchFamily="18" charset="0"/>
                                  </a:rPr>
                                  <m:t>𝐵</m:t>
                                </m:r>
                              </m:e>
                              <m:sub>
                                <m:r>
                                  <a:rPr lang="ar-AE" sz="3600">
                                    <a:latin typeface="Cambria Math" panose="02040503050406030204" pitchFamily="18" charset="0"/>
                                  </a:rPr>
                                  <m:t>0</m:t>
                                </m:r>
                              </m:sub>
                            </m:sSub>
                            <m:d>
                              <m:dPr>
                                <m:ctrlPr>
                                  <a:rPr lang="ar-AE" sz="3600" i="1">
                                    <a:latin typeface="Cambria Math" panose="02040503050406030204" pitchFamily="18" charset="0"/>
                                  </a:rPr>
                                </m:ctrlPr>
                              </m:dPr>
                              <m:e>
                                <m:r>
                                  <m:rPr>
                                    <m:sty m:val="p"/>
                                  </m:rPr>
                                  <a:rPr lang="en-US" sz="3600">
                                    <a:latin typeface="Cambria Math" panose="02040503050406030204" pitchFamily="18" charset="0"/>
                                  </a:rPr>
                                  <m:t>cos</m:t>
                                </m:r>
                                <m:r>
                                  <a:rPr lang="en-US" sz="3600">
                                    <a:latin typeface="Cambria Math" panose="02040503050406030204" pitchFamily="18" charset="0"/>
                                  </a:rPr>
                                  <m:t>𝜃</m:t>
                                </m:r>
                                <m:r>
                                  <a:rPr lang="en-US" sz="3600">
                                    <a:latin typeface="Cambria Math" panose="02040503050406030204" pitchFamily="18" charset="0"/>
                                  </a:rPr>
                                  <m:t> </m:t>
                                </m:r>
                                <m:sSub>
                                  <m:sSubPr>
                                    <m:ctrlPr>
                                      <a:rPr lang="ar-AE" sz="3600" i="1">
                                        <a:latin typeface="Cambria Math" panose="02040503050406030204" pitchFamily="18" charset="0"/>
                                      </a:rPr>
                                    </m:ctrlPr>
                                  </m:sSubPr>
                                  <m:e>
                                    <m:r>
                                      <a:rPr lang="ar-AE" sz="3600">
                                        <a:latin typeface="Cambria Math" panose="02040503050406030204" pitchFamily="18" charset="0"/>
                                      </a:rPr>
                                      <m:t>𝐞</m:t>
                                    </m:r>
                                  </m:e>
                                  <m:sub>
                                    <m:r>
                                      <a:rPr lang="ar-AE" sz="3600">
                                        <a:latin typeface="Cambria Math" panose="02040503050406030204" pitchFamily="18" charset="0"/>
                                      </a:rPr>
                                      <m:t>𝐳</m:t>
                                    </m:r>
                                  </m:sub>
                                </m:sSub>
                                <m:r>
                                  <a:rPr lang="ar-AE" sz="3600">
                                    <a:latin typeface="Cambria Math" panose="02040503050406030204" pitchFamily="18" charset="0"/>
                                  </a:rPr>
                                  <m:t>+</m:t>
                                </m:r>
                                <m:r>
                                  <m:rPr>
                                    <m:sty m:val="p"/>
                                  </m:rPr>
                                  <a:rPr lang="en-US" sz="3600">
                                    <a:latin typeface="Cambria Math" panose="02040503050406030204" pitchFamily="18" charset="0"/>
                                  </a:rPr>
                                  <m:t>sin</m:t>
                                </m:r>
                                <m:r>
                                  <a:rPr lang="en-US" sz="3600">
                                    <a:latin typeface="Cambria Math" panose="02040503050406030204" pitchFamily="18" charset="0"/>
                                  </a:rPr>
                                  <m:t>𝜃</m:t>
                                </m:r>
                                <m:d>
                                  <m:dPr>
                                    <m:ctrlPr>
                                      <a:rPr lang="ar-AE" sz="3600" i="1">
                                        <a:latin typeface="Cambria Math" panose="02040503050406030204" pitchFamily="18" charset="0"/>
                                      </a:rPr>
                                    </m:ctrlPr>
                                  </m:dPr>
                                  <m:e>
                                    <m:r>
                                      <m:rPr>
                                        <m:sty m:val="p"/>
                                      </m:rPr>
                                      <a:rPr lang="en-US" sz="3600">
                                        <a:latin typeface="Cambria Math" panose="02040503050406030204" pitchFamily="18" charset="0"/>
                                      </a:rPr>
                                      <m:t>sin</m:t>
                                    </m:r>
                                    <m:r>
                                      <a:rPr lang="en-US" sz="3600">
                                        <a:latin typeface="Cambria Math" panose="02040503050406030204" pitchFamily="18" charset="0"/>
                                      </a:rPr>
                                      <m:t>𝜑</m:t>
                                    </m:r>
                                    <m:d>
                                      <m:dPr>
                                        <m:ctrlPr>
                                          <a:rPr lang="ar-AE" sz="3600" i="1">
                                            <a:latin typeface="Cambria Math" panose="02040503050406030204" pitchFamily="18" charset="0"/>
                                          </a:rPr>
                                        </m:ctrlPr>
                                      </m:dPr>
                                      <m:e>
                                        <m:r>
                                          <a:rPr lang="ar-AE" sz="3600">
                                            <a:latin typeface="Cambria Math" panose="02040503050406030204" pitchFamily="18" charset="0"/>
                                          </a:rPr>
                                          <m:t>𝑧</m:t>
                                        </m:r>
                                      </m:e>
                                    </m:d>
                                    <m:r>
                                      <a:rPr lang="ar-AE" sz="3600">
                                        <a:latin typeface="Cambria Math" panose="02040503050406030204" pitchFamily="18" charset="0"/>
                                      </a:rPr>
                                      <m:t> </m:t>
                                    </m:r>
                                    <m:sSub>
                                      <m:sSubPr>
                                        <m:ctrlPr>
                                          <a:rPr lang="ar-AE" sz="3600" i="1">
                                            <a:latin typeface="Cambria Math" panose="02040503050406030204" pitchFamily="18" charset="0"/>
                                          </a:rPr>
                                        </m:ctrlPr>
                                      </m:sSubPr>
                                      <m:e>
                                        <m:r>
                                          <a:rPr lang="ar-AE" sz="3600">
                                            <a:latin typeface="Cambria Math" panose="02040503050406030204" pitchFamily="18" charset="0"/>
                                          </a:rPr>
                                          <m:t>𝐞</m:t>
                                        </m:r>
                                      </m:e>
                                      <m:sub>
                                        <m:r>
                                          <a:rPr lang="ar-AE" sz="3600">
                                            <a:latin typeface="Cambria Math" panose="02040503050406030204" pitchFamily="18" charset="0"/>
                                          </a:rPr>
                                          <m:t>𝐱</m:t>
                                        </m:r>
                                      </m:sub>
                                    </m:sSub>
                                    <m:r>
                                      <a:rPr lang="ar-AE" sz="3600">
                                        <a:latin typeface="Cambria Math" panose="02040503050406030204" pitchFamily="18" charset="0"/>
                                      </a:rPr>
                                      <m:t>+</m:t>
                                    </m:r>
                                    <m:r>
                                      <m:rPr>
                                        <m:sty m:val="p"/>
                                      </m:rPr>
                                      <a:rPr lang="en-US" sz="3600">
                                        <a:latin typeface="Cambria Math" panose="02040503050406030204" pitchFamily="18" charset="0"/>
                                      </a:rPr>
                                      <m:t>cos</m:t>
                                    </m:r>
                                    <m:r>
                                      <a:rPr lang="en-US" sz="3600">
                                        <a:latin typeface="Cambria Math" panose="02040503050406030204" pitchFamily="18" charset="0"/>
                                      </a:rPr>
                                      <m:t>𝜑</m:t>
                                    </m:r>
                                    <m:d>
                                      <m:dPr>
                                        <m:ctrlPr>
                                          <a:rPr lang="ar-AE" sz="3600" i="1">
                                            <a:latin typeface="Cambria Math" panose="02040503050406030204" pitchFamily="18" charset="0"/>
                                          </a:rPr>
                                        </m:ctrlPr>
                                      </m:dPr>
                                      <m:e>
                                        <m:r>
                                          <a:rPr lang="ar-AE" sz="3600">
                                            <a:latin typeface="Cambria Math" panose="02040503050406030204" pitchFamily="18" charset="0"/>
                                          </a:rPr>
                                          <m:t>𝑧</m:t>
                                        </m:r>
                                      </m:e>
                                    </m:d>
                                    <m:r>
                                      <a:rPr lang="ar-AE" sz="3600">
                                        <a:latin typeface="Cambria Math" panose="02040503050406030204" pitchFamily="18" charset="0"/>
                                      </a:rPr>
                                      <m:t> </m:t>
                                    </m:r>
                                    <m:sSub>
                                      <m:sSubPr>
                                        <m:ctrlPr>
                                          <a:rPr lang="ar-AE" sz="3600" i="1">
                                            <a:latin typeface="Cambria Math" panose="02040503050406030204" pitchFamily="18" charset="0"/>
                                          </a:rPr>
                                        </m:ctrlPr>
                                      </m:sSubPr>
                                      <m:e>
                                        <m:r>
                                          <a:rPr lang="ar-AE" sz="3600">
                                            <a:latin typeface="Cambria Math" panose="02040503050406030204" pitchFamily="18" charset="0"/>
                                          </a:rPr>
                                          <m:t>𝐞</m:t>
                                        </m:r>
                                      </m:e>
                                      <m:sub>
                                        <m:r>
                                          <a:rPr lang="ar-AE" sz="3600">
                                            <a:latin typeface="Cambria Math" panose="02040503050406030204" pitchFamily="18" charset="0"/>
                                          </a:rPr>
                                          <m:t>𝐲</m:t>
                                        </m:r>
                                      </m:sub>
                                    </m:sSub>
                                  </m:e>
                                </m:d>
                              </m:e>
                            </m:d>
                          </m:e>
                        </m:mr>
                        <m:mr>
                          <m:e/>
                          <m:e/>
                        </m:mr>
                      </m:m>
                    </m:oMath>
                  </m:oMathPara>
                </a14:m>
                <a:endParaRPr lang="en-US" sz="3600" dirty="0"/>
              </a:p>
            </p:txBody>
          </p:sp>
        </mc:Choice>
        <mc:Fallback xmlns="">
          <p:sp>
            <p:nvSpPr>
              <p:cNvPr id="26" name="TextBox 25">
                <a:extLst>
                  <a:ext uri="{FF2B5EF4-FFF2-40B4-BE49-F238E27FC236}">
                    <a16:creationId xmlns:a16="http://schemas.microsoft.com/office/drawing/2014/main" id="{62E54FDE-2F5E-8C49-1BD2-E72C4C9725D4}"/>
                  </a:ext>
                </a:extLst>
              </p:cNvPr>
              <p:cNvSpPr txBox="1">
                <a:spLocks noRot="1" noChangeAspect="1" noMove="1" noResize="1" noEditPoints="1" noAdjustHandles="1" noChangeArrowheads="1" noChangeShapeType="1" noTextEdit="1"/>
              </p:cNvSpPr>
              <p:nvPr/>
            </p:nvSpPr>
            <p:spPr>
              <a:xfrm>
                <a:off x="13792200" y="15054005"/>
                <a:ext cx="4572000" cy="1213858"/>
              </a:xfrm>
              <a:prstGeom prst="rect">
                <a:avLst/>
              </a:prstGeom>
              <a:blipFill>
                <a:blip r:embed="rId6"/>
                <a:stretch>
                  <a:fillRect l="-1662" r="-125485" b="-226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6247E48-B53F-3A6E-71FD-AB8BB6B27DAF}"/>
                  </a:ext>
                </a:extLst>
              </p:cNvPr>
              <p:cNvSpPr txBox="1"/>
              <p:nvPr/>
            </p:nvSpPr>
            <p:spPr>
              <a:xfrm>
                <a:off x="24874363" y="15527682"/>
                <a:ext cx="1040815" cy="707886"/>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kern="1200" smtClean="0">
                          <a:solidFill>
                            <a:srgbClr val="000000"/>
                          </a:solidFill>
                          <a:effectLst/>
                          <a:latin typeface="Cambria Math" panose="02040503050406030204" pitchFamily="18" charset="0"/>
                        </a:rPr>
                        <m:t>𝛽</m:t>
                      </m:r>
                    </m:oMath>
                  </m:oMathPara>
                </a14:m>
                <a:endParaRPr lang="en-US" sz="4000" dirty="0"/>
              </a:p>
            </p:txBody>
          </p:sp>
        </mc:Choice>
        <mc:Fallback xmlns="">
          <p:sp>
            <p:nvSpPr>
              <p:cNvPr id="29" name="TextBox 28">
                <a:extLst>
                  <a:ext uri="{FF2B5EF4-FFF2-40B4-BE49-F238E27FC236}">
                    <a16:creationId xmlns:a16="http://schemas.microsoft.com/office/drawing/2014/main" id="{D6247E48-B53F-3A6E-71FD-AB8BB6B27DAF}"/>
                  </a:ext>
                </a:extLst>
              </p:cNvPr>
              <p:cNvSpPr txBox="1">
                <a:spLocks noRot="1" noChangeAspect="1" noMove="1" noResize="1" noEditPoints="1" noAdjustHandles="1" noChangeArrowheads="1" noChangeShapeType="1" noTextEdit="1"/>
              </p:cNvSpPr>
              <p:nvPr/>
            </p:nvSpPr>
            <p:spPr>
              <a:xfrm>
                <a:off x="24874363" y="15527682"/>
                <a:ext cx="1040815" cy="707886"/>
              </a:xfrm>
              <a:prstGeom prst="rect">
                <a:avLst/>
              </a:prstGeom>
              <a:blipFill>
                <a:blip r:embed="rId7"/>
                <a:stretch>
                  <a:fillRect b="-19298"/>
                </a:stretch>
              </a:blipFill>
            </p:spPr>
            <p:txBody>
              <a:bodyPr/>
              <a:lstStyle/>
              <a:p>
                <a:r>
                  <a:rPr lang="en-US">
                    <a:noFill/>
                  </a:rPr>
                  <a:t> </a:t>
                </a:r>
              </a:p>
            </p:txBody>
          </p:sp>
        </mc:Fallback>
      </mc:AlternateContent>
      <p:pic>
        <p:nvPicPr>
          <p:cNvPr id="30" name="Picture 1" descr="../figures/example_traj.png">
            <a:extLst>
              <a:ext uri="{FF2B5EF4-FFF2-40B4-BE49-F238E27FC236}">
                <a16:creationId xmlns:a16="http://schemas.microsoft.com/office/drawing/2014/main" id="{E0C14822-472D-3BFF-367F-A3718DE1AD1D}"/>
              </a:ext>
            </a:extLst>
          </p:cNvPr>
          <p:cNvPicPr>
            <a:picLocks noGrp="1" noChangeAspect="1"/>
          </p:cNvPicPr>
          <p:nvPr/>
        </p:nvPicPr>
        <p:blipFill>
          <a:blip r:embed="rId8"/>
          <a:stretch>
            <a:fillRect/>
          </a:stretch>
        </p:blipFill>
        <p:spPr bwMode="auto">
          <a:xfrm>
            <a:off x="294477" y="23658845"/>
            <a:ext cx="9686590" cy="6683661"/>
          </a:xfrm>
          <a:prstGeom prst="rect">
            <a:avLst/>
          </a:prstGeom>
          <a:noFill/>
          <a:ln w="9525">
            <a:noFill/>
            <a:headEnd/>
            <a:tailEnd/>
          </a:ln>
        </p:spPr>
      </p:pic>
      <p:sp>
        <p:nvSpPr>
          <p:cNvPr id="31" name="TextBox 3">
            <a:extLst>
              <a:ext uri="{FF2B5EF4-FFF2-40B4-BE49-F238E27FC236}">
                <a16:creationId xmlns:a16="http://schemas.microsoft.com/office/drawing/2014/main" id="{120645EA-CCFA-2E83-5AA4-FE0CDA761138}"/>
              </a:ext>
            </a:extLst>
          </p:cNvPr>
          <p:cNvSpPr txBox="1"/>
          <p:nvPr/>
        </p:nvSpPr>
        <p:spPr>
          <a:xfrm>
            <a:off x="133349" y="22821735"/>
            <a:ext cx="9686590" cy="583119"/>
          </a:xfrm>
          <a:prstGeom prst="rect">
            <a:avLst/>
          </a:prstGeom>
          <a:noFill/>
          <a:ln>
            <a:solidFill>
              <a:schemeClr val="accent1">
                <a:shade val="15000"/>
              </a:schemeClr>
            </a:solidFill>
          </a:ln>
        </p:spPr>
        <p:txBody>
          <a:bodyPr/>
          <a:lstStyle/>
          <a:p>
            <a:pPr marL="0" lvl="0" indent="0" algn="ctr">
              <a:buNone/>
            </a:pPr>
            <a:r>
              <a:rPr sz="3000" kern="0" spc="-10" dirty="0">
                <a:solidFill>
                  <a:sysClr val="windowText" lastClr="000000"/>
                </a:solidFill>
                <a:latin typeface="Arial" panose="020B0604020202020204" pitchFamily="34" charset="0"/>
                <a:cs typeface="Arial" panose="020B0604020202020204" pitchFamily="34" charset="0"/>
              </a:rPr>
              <a:t>Particle </a:t>
            </a:r>
            <a:r>
              <a:rPr lang="en-US" sz="3000" kern="0" spc="-10" dirty="0">
                <a:solidFill>
                  <a:sysClr val="windowText" lastClr="000000"/>
                </a:solidFill>
                <a:latin typeface="Arial" panose="020B0604020202020204" pitchFamily="34" charset="0"/>
                <a:cs typeface="Arial" panose="020B0604020202020204" pitchFamily="34" charset="0"/>
              </a:rPr>
              <a:t>have three types of </a:t>
            </a:r>
            <a:r>
              <a:rPr sz="3000" kern="0" spc="-10" dirty="0">
                <a:solidFill>
                  <a:sysClr val="windowText" lastClr="000000"/>
                </a:solidFill>
                <a:latin typeface="Arial" panose="020B0604020202020204" pitchFamily="34" charset="0"/>
                <a:cs typeface="Arial" panose="020B0604020202020204" pitchFamily="34" charset="0"/>
              </a:rPr>
              <a:t>trajectories in phase space</a:t>
            </a:r>
          </a:p>
        </p:txBody>
      </p:sp>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E0277C1F-01D6-D9A5-CA19-3021F7D3503D}"/>
                  </a:ext>
                </a:extLst>
              </p:cNvPr>
              <p:cNvSpPr txBox="1">
                <a:spLocks/>
              </p:cNvSpPr>
              <p:nvPr/>
            </p:nvSpPr>
            <p:spPr>
              <a:xfrm>
                <a:off x="188247" y="31025528"/>
                <a:ext cx="10704137" cy="8423090"/>
              </a:xfrm>
              <a:prstGeom prst="rect">
                <a:avLst/>
              </a:prstGeom>
            </p:spPr>
            <p:txBody>
              <a:bodyPr vert="horz" lIns="91440" tIns="45720" rIns="91440" bIns="45720" rtlCol="0">
                <a:noAutofit/>
              </a:bodyPr>
              <a:lstStyle>
                <a:lvl1pPr marL="777240" indent="-777240" algn="l" defTabSz="3108960" rtl="0" eaLnBrk="1" latinLnBrk="0" hangingPunct="1">
                  <a:lnSpc>
                    <a:spcPct val="90000"/>
                  </a:lnSpc>
                  <a:spcBef>
                    <a:spcPts val="3400"/>
                  </a:spcBef>
                  <a:buFont typeface="Arial" panose="020B0604020202020204" pitchFamily="34" charset="0"/>
                  <a:buChar char="•"/>
                  <a:defRPr sz="9520" kern="1200">
                    <a:solidFill>
                      <a:schemeClr val="tx1"/>
                    </a:solidFill>
                    <a:latin typeface="+mn-lt"/>
                    <a:ea typeface="+mn-ea"/>
                    <a:cs typeface="+mn-cs"/>
                  </a:defRPr>
                </a:lvl1pPr>
                <a:lvl2pPr marL="2331720" indent="-777240" algn="l" defTabSz="3108960" rtl="0" eaLnBrk="1" latinLnBrk="0" hangingPunct="1">
                  <a:lnSpc>
                    <a:spcPct val="90000"/>
                  </a:lnSpc>
                  <a:spcBef>
                    <a:spcPts val="1700"/>
                  </a:spcBef>
                  <a:buFont typeface="Arial" panose="020B0604020202020204" pitchFamily="34" charset="0"/>
                  <a:buChar char="•"/>
                  <a:defRPr sz="8160" kern="1200">
                    <a:solidFill>
                      <a:schemeClr val="tx1"/>
                    </a:solidFill>
                    <a:latin typeface="+mn-lt"/>
                    <a:ea typeface="+mn-ea"/>
                    <a:cs typeface="+mn-cs"/>
                  </a:defRPr>
                </a:lvl2pPr>
                <a:lvl3pPr marL="3886200" indent="-777240" algn="l" defTabSz="3108960" rtl="0" eaLnBrk="1" latinLnBrk="0" hangingPunct="1">
                  <a:lnSpc>
                    <a:spcPct val="90000"/>
                  </a:lnSpc>
                  <a:spcBef>
                    <a:spcPts val="1700"/>
                  </a:spcBef>
                  <a:buFont typeface="Arial" panose="020B0604020202020204" pitchFamily="34" charset="0"/>
                  <a:buChar char="•"/>
                  <a:defRPr sz="6800" kern="1200">
                    <a:solidFill>
                      <a:schemeClr val="tx1"/>
                    </a:solidFill>
                    <a:latin typeface="+mn-lt"/>
                    <a:ea typeface="+mn-ea"/>
                    <a:cs typeface="+mn-cs"/>
                  </a:defRPr>
                </a:lvl3pPr>
                <a:lvl4pPr marL="544068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4pPr>
                <a:lvl5pPr marL="699516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5pPr>
                <a:lvl6pPr marL="854964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6pPr>
                <a:lvl7pPr marL="1010412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7pPr>
                <a:lvl8pPr marL="1165860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8pPr>
                <a:lvl9pPr marL="1321308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9pPr>
              </a:lstStyle>
              <a:p>
                <a:pPr marL="0" indent="0">
                  <a:buNone/>
                </a:pPr>
                <a:r>
                  <a:rPr lang="en-US" sz="2800" dirty="0">
                    <a:solidFill>
                      <a:schemeClr val="tx1"/>
                    </a:solidFill>
                  </a:rPr>
                  <a:t>Variables </a:t>
                </a:r>
                <a14:m>
                  <m:oMath xmlns:m="http://schemas.openxmlformats.org/officeDocument/2006/math">
                    <m:d>
                      <m:dPr>
                        <m:ctrlPr>
                          <a:rPr lang="ar-AE" sz="2800" i="1">
                            <a:solidFill>
                              <a:schemeClr val="tx1"/>
                            </a:solidFill>
                            <a:latin typeface="Cambria Math" panose="02040503050406030204" pitchFamily="18" charset="0"/>
                          </a:rPr>
                        </m:ctrlPr>
                      </m:dPr>
                      <m:e>
                        <m:r>
                          <a:rPr lang="ar-AE" sz="2800">
                            <a:solidFill>
                              <a:schemeClr val="tx1"/>
                            </a:solidFill>
                            <a:latin typeface="Cambria Math" panose="02040503050406030204" pitchFamily="18" charset="0"/>
                          </a:rPr>
                          <m:t>𝜅</m:t>
                        </m:r>
                        <m:r>
                          <a:rPr lang="ar-AE" sz="2800">
                            <a:solidFill>
                              <a:schemeClr val="tx1"/>
                            </a:solidFill>
                            <a:latin typeface="Cambria Math" panose="02040503050406030204" pitchFamily="18" charset="0"/>
                          </a:rPr>
                          <m:t>𝑥</m:t>
                        </m:r>
                        <m:r>
                          <a:rPr lang="ar-AE" sz="2800">
                            <a:solidFill>
                              <a:schemeClr val="tx1"/>
                            </a:solidFill>
                            <a:latin typeface="Cambria Math" panose="02040503050406030204" pitchFamily="18" charset="0"/>
                          </a:rPr>
                          <m:t>,</m:t>
                        </m:r>
                        <m:sSub>
                          <m:sSubPr>
                            <m:ctrlPr>
                              <a:rPr lang="ar-AE" sz="2800" i="1">
                                <a:solidFill>
                                  <a:schemeClr val="tx1"/>
                                </a:solidFill>
                                <a:latin typeface="Cambria Math" panose="02040503050406030204" pitchFamily="18" charset="0"/>
                              </a:rPr>
                            </m:ctrlPr>
                          </m:sSubPr>
                          <m:e>
                            <m:r>
                              <a:rPr lang="ar-AE" sz="2800">
                                <a:solidFill>
                                  <a:schemeClr val="tx1"/>
                                </a:solidFill>
                                <a:latin typeface="Cambria Math" panose="02040503050406030204" pitchFamily="18" charset="0"/>
                              </a:rPr>
                              <m:t>𝑝</m:t>
                            </m:r>
                          </m:e>
                          <m:sub>
                            <m:r>
                              <a:rPr lang="ar-AE" sz="2800">
                                <a:solidFill>
                                  <a:schemeClr val="tx1"/>
                                </a:solidFill>
                                <a:latin typeface="Cambria Math" panose="02040503050406030204" pitchFamily="18" charset="0"/>
                              </a:rPr>
                              <m:t>𝑥</m:t>
                            </m:r>
                          </m:sub>
                        </m:sSub>
                      </m:e>
                    </m:d>
                  </m:oMath>
                </a14:m>
                <a:r>
                  <a:rPr lang="ar-AE" sz="2800" dirty="0">
                    <a:solidFill>
                      <a:schemeClr val="tx1"/>
                    </a:solidFill>
                  </a:rPr>
                  <a:t> </a:t>
                </a:r>
                <a:r>
                  <a:rPr lang="en-US" sz="2800" dirty="0">
                    <a:solidFill>
                      <a:schemeClr val="tx1"/>
                    </a:solidFill>
                  </a:rPr>
                  <a:t>change much slower than </a:t>
                </a:r>
                <a14:m>
                  <m:oMath xmlns:m="http://schemas.openxmlformats.org/officeDocument/2006/math">
                    <m:d>
                      <m:dPr>
                        <m:ctrlPr>
                          <a:rPr lang="ar-AE" sz="2800" i="1">
                            <a:solidFill>
                              <a:schemeClr val="tx1"/>
                            </a:solidFill>
                            <a:latin typeface="Cambria Math" panose="02040503050406030204" pitchFamily="18" charset="0"/>
                          </a:rPr>
                        </m:ctrlPr>
                      </m:dPr>
                      <m:e>
                        <m:r>
                          <a:rPr lang="ar-AE" sz="2800">
                            <a:solidFill>
                              <a:schemeClr val="tx1"/>
                            </a:solidFill>
                            <a:latin typeface="Cambria Math" panose="02040503050406030204" pitchFamily="18" charset="0"/>
                          </a:rPr>
                          <m:t>𝑧</m:t>
                        </m:r>
                        <m:r>
                          <a:rPr lang="ar-AE" sz="2800">
                            <a:solidFill>
                              <a:schemeClr val="tx1"/>
                            </a:solidFill>
                            <a:latin typeface="Cambria Math" panose="02040503050406030204" pitchFamily="18" charset="0"/>
                          </a:rPr>
                          <m:t>,</m:t>
                        </m:r>
                        <m:sSub>
                          <m:sSubPr>
                            <m:ctrlPr>
                              <a:rPr lang="ar-AE" sz="2800" i="1">
                                <a:solidFill>
                                  <a:schemeClr val="tx1"/>
                                </a:solidFill>
                                <a:latin typeface="Cambria Math" panose="02040503050406030204" pitchFamily="18" charset="0"/>
                              </a:rPr>
                            </m:ctrlPr>
                          </m:sSubPr>
                          <m:e>
                            <m:r>
                              <a:rPr lang="ar-AE" sz="2800">
                                <a:solidFill>
                                  <a:schemeClr val="tx1"/>
                                </a:solidFill>
                                <a:latin typeface="Cambria Math" panose="02040503050406030204" pitchFamily="18" charset="0"/>
                              </a:rPr>
                              <m:t>𝑝</m:t>
                            </m:r>
                          </m:e>
                          <m:sub>
                            <m:r>
                              <a:rPr lang="ar-AE" sz="2800">
                                <a:solidFill>
                                  <a:schemeClr val="tx1"/>
                                </a:solidFill>
                                <a:latin typeface="Cambria Math" panose="02040503050406030204" pitchFamily="18" charset="0"/>
                              </a:rPr>
                              <m:t>𝑧</m:t>
                            </m:r>
                          </m:sub>
                        </m:sSub>
                      </m:e>
                    </m:d>
                  </m:oMath>
                </a14:m>
                <a:r>
                  <a:rPr lang="ar-AE" sz="2800" dirty="0">
                    <a:solidFill>
                      <a:schemeClr val="tx1"/>
                    </a:solidFill>
                  </a:rPr>
                  <a:t> (</a:t>
                </a:r>
                <a:r>
                  <a:rPr lang="en-US" sz="2800" dirty="0">
                    <a:solidFill>
                      <a:schemeClr val="tx1"/>
                    </a:solidFill>
                  </a:rPr>
                  <a:t>for </a:t>
                </a:r>
                <a:r>
                  <a:rPr lang="el-GR" sz="2800" dirty="0">
                    <a:solidFill>
                      <a:schemeClr val="tx1"/>
                    </a:solidFill>
                  </a:rPr>
                  <a:t>κ</a:t>
                </a:r>
                <a:r>
                  <a:rPr lang="en-US" sz="2800" dirty="0"/>
                  <a:t> =</a:t>
                </a:r>
                <a14:m>
                  <m:oMath xmlns:m="http://schemas.openxmlformats.org/officeDocument/2006/math">
                    <m:r>
                      <m:rPr>
                        <m:sty m:val="p"/>
                      </m:rPr>
                      <a:rPr lang="en-US" sz="2800">
                        <a:latin typeface="Cambria Math" panose="02040503050406030204" pitchFamily="18" charset="0"/>
                      </a:rPr>
                      <m:t>cot</m:t>
                    </m:r>
                    <m:r>
                      <a:rPr lang="en-US" sz="2800">
                        <a:latin typeface="Cambria Math" panose="02040503050406030204" pitchFamily="18" charset="0"/>
                      </a:rPr>
                      <m:t>𝜃</m:t>
                    </m:r>
                  </m:oMath>
                </a14:m>
                <a:r>
                  <a:rPr lang="el-GR" sz="2800" dirty="0">
                    <a:solidFill>
                      <a:schemeClr val="tx1"/>
                    </a:solidFill>
                  </a:rPr>
                  <a:t> &lt;&lt; 1)</a:t>
                </a:r>
              </a:p>
              <a:p>
                <a:pPr marL="0" indent="0">
                  <a:buNone/>
                </a:pPr>
                <a:r>
                  <a:rPr lang="en-US" sz="2800" dirty="0">
                    <a:solidFill>
                      <a:schemeClr val="accent5">
                        <a:lumMod val="75000"/>
                      </a:schemeClr>
                    </a:solidFill>
                  </a:rPr>
                  <a:t>Generalized magnetic moment  </a:t>
                </a:r>
                <a14:m>
                  <m:oMath xmlns:m="http://schemas.openxmlformats.org/officeDocument/2006/math">
                    <m:sSub>
                      <m:sSubPr>
                        <m:ctrlPr>
                          <a:rPr lang="ar-AE" sz="2800" i="1">
                            <a:solidFill>
                              <a:schemeClr val="accent5">
                                <a:lumMod val="75000"/>
                              </a:schemeClr>
                            </a:solidFill>
                            <a:latin typeface="Cambria Math" panose="02040503050406030204" pitchFamily="18" charset="0"/>
                          </a:rPr>
                        </m:ctrlPr>
                      </m:sSubPr>
                      <m:e>
                        <m:r>
                          <a:rPr lang="ar-AE" sz="2800">
                            <a:solidFill>
                              <a:schemeClr val="accent5">
                                <a:lumMod val="75000"/>
                              </a:schemeClr>
                            </a:solidFill>
                            <a:latin typeface="Cambria Math" panose="02040503050406030204" pitchFamily="18" charset="0"/>
                          </a:rPr>
                          <m:t>𝐼</m:t>
                        </m:r>
                      </m:e>
                      <m:sub>
                        <m:r>
                          <a:rPr lang="ar-AE" sz="2800">
                            <a:solidFill>
                              <a:schemeClr val="accent5">
                                <a:lumMod val="75000"/>
                              </a:schemeClr>
                            </a:solidFill>
                            <a:latin typeface="Cambria Math" panose="02040503050406030204" pitchFamily="18" charset="0"/>
                          </a:rPr>
                          <m:t>𝑧</m:t>
                        </m:r>
                      </m:sub>
                    </m:sSub>
                    <m:r>
                      <a:rPr lang="ar-AE" sz="2800">
                        <a:solidFill>
                          <a:schemeClr val="accent5">
                            <a:lumMod val="75000"/>
                          </a:schemeClr>
                        </a:solidFill>
                        <a:latin typeface="Cambria Math" panose="02040503050406030204" pitchFamily="18" charset="0"/>
                      </a:rPr>
                      <m:t>=</m:t>
                    </m:r>
                    <m:sSup>
                      <m:sSupPr>
                        <m:ctrlPr>
                          <a:rPr lang="ar-AE" sz="2800" i="1">
                            <a:solidFill>
                              <a:schemeClr val="accent5">
                                <a:lumMod val="75000"/>
                              </a:schemeClr>
                            </a:solidFill>
                            <a:latin typeface="Cambria Math" panose="02040503050406030204" pitchFamily="18" charset="0"/>
                          </a:rPr>
                        </m:ctrlPr>
                      </m:sSupPr>
                      <m:e>
                        <m:d>
                          <m:dPr>
                            <m:ctrlPr>
                              <a:rPr lang="ar-AE" sz="2800" i="1">
                                <a:solidFill>
                                  <a:schemeClr val="accent5">
                                    <a:lumMod val="75000"/>
                                  </a:schemeClr>
                                </a:solidFill>
                                <a:latin typeface="Cambria Math" panose="02040503050406030204" pitchFamily="18" charset="0"/>
                              </a:rPr>
                            </m:ctrlPr>
                          </m:dPr>
                          <m:e>
                            <m:r>
                              <a:rPr lang="ar-AE" sz="2800">
                                <a:solidFill>
                                  <a:schemeClr val="accent5">
                                    <a:lumMod val="75000"/>
                                  </a:schemeClr>
                                </a:solidFill>
                                <a:latin typeface="Cambria Math" panose="02040503050406030204" pitchFamily="18" charset="0"/>
                              </a:rPr>
                              <m:t>2</m:t>
                            </m:r>
                            <m:r>
                              <a:rPr lang="ar-AE" sz="2800">
                                <a:solidFill>
                                  <a:schemeClr val="accent5">
                                    <a:lumMod val="75000"/>
                                  </a:schemeClr>
                                </a:solidFill>
                                <a:latin typeface="Cambria Math" panose="02040503050406030204" pitchFamily="18" charset="0"/>
                              </a:rPr>
                              <m:t>𝜋</m:t>
                            </m:r>
                          </m:e>
                        </m:d>
                      </m:e>
                      <m:sup>
                        <m:r>
                          <a:rPr lang="ar-AE" sz="2800">
                            <a:solidFill>
                              <a:schemeClr val="accent5">
                                <a:lumMod val="75000"/>
                              </a:schemeClr>
                            </a:solidFill>
                            <a:latin typeface="Cambria Math" panose="02040503050406030204" pitchFamily="18" charset="0"/>
                          </a:rPr>
                          <m:t>−1</m:t>
                        </m:r>
                      </m:sup>
                    </m:sSup>
                    <m:r>
                      <a:rPr lang="ar-AE" sz="2800">
                        <a:solidFill>
                          <a:schemeClr val="accent5">
                            <a:lumMod val="75000"/>
                          </a:schemeClr>
                        </a:solidFill>
                        <a:latin typeface="Cambria Math" panose="02040503050406030204" pitchFamily="18" charset="0"/>
                      </a:rPr>
                      <m:t>∮</m:t>
                    </m:r>
                    <m:sSub>
                      <m:sSubPr>
                        <m:ctrlPr>
                          <a:rPr lang="ar-AE" sz="2800" i="1">
                            <a:solidFill>
                              <a:schemeClr val="accent5">
                                <a:lumMod val="75000"/>
                              </a:schemeClr>
                            </a:solidFill>
                            <a:latin typeface="Cambria Math" panose="02040503050406030204" pitchFamily="18" charset="0"/>
                          </a:rPr>
                        </m:ctrlPr>
                      </m:sSubPr>
                      <m:e>
                        <m:r>
                          <a:rPr lang="ar-AE" sz="2800">
                            <a:solidFill>
                              <a:schemeClr val="accent5">
                                <a:lumMod val="75000"/>
                              </a:schemeClr>
                            </a:solidFill>
                            <a:latin typeface="Cambria Math" panose="02040503050406030204" pitchFamily="18" charset="0"/>
                          </a:rPr>
                          <m:t>𝑝</m:t>
                        </m:r>
                      </m:e>
                      <m:sub>
                        <m:r>
                          <a:rPr lang="ar-AE" sz="2800">
                            <a:solidFill>
                              <a:schemeClr val="accent5">
                                <a:lumMod val="75000"/>
                              </a:schemeClr>
                            </a:solidFill>
                            <a:latin typeface="Cambria Math" panose="02040503050406030204" pitchFamily="18" charset="0"/>
                          </a:rPr>
                          <m:t>𝑧</m:t>
                        </m:r>
                      </m:sub>
                    </m:sSub>
                    <m:r>
                      <a:rPr lang="ar-AE" sz="2800">
                        <a:solidFill>
                          <a:schemeClr val="accent5">
                            <a:lumMod val="75000"/>
                          </a:schemeClr>
                        </a:solidFill>
                        <a:latin typeface="Cambria Math" panose="02040503050406030204" pitchFamily="18" charset="0"/>
                      </a:rPr>
                      <m:t>𝑑𝑧</m:t>
                    </m:r>
                  </m:oMath>
                </a14:m>
                <a:r>
                  <a:rPr lang="ar-AE" sz="2800" dirty="0">
                    <a:solidFill>
                      <a:schemeClr val="accent5">
                        <a:lumMod val="75000"/>
                      </a:schemeClr>
                    </a:solidFill>
                  </a:rPr>
                  <a:t> </a:t>
                </a:r>
                <a:r>
                  <a:rPr lang="en-US" sz="2800" dirty="0">
                    <a:solidFill>
                      <a:schemeClr val="accent5">
                        <a:lumMod val="75000"/>
                      </a:schemeClr>
                    </a:solidFill>
                  </a:rPr>
                  <a:t>is conserved as the first </a:t>
                </a:r>
                <a:r>
                  <a:rPr lang="en-US" sz="2800" b="1" dirty="0">
                    <a:solidFill>
                      <a:schemeClr val="accent5">
                        <a:lumMod val="75000"/>
                      </a:schemeClr>
                    </a:solidFill>
                  </a:rPr>
                  <a:t>adiabatic </a:t>
                </a:r>
                <a:r>
                  <a:rPr lang="en-US" sz="2800" b="1" dirty="0" err="1">
                    <a:solidFill>
                      <a:schemeClr val="accent5">
                        <a:lumMod val="75000"/>
                      </a:schemeClr>
                    </a:solidFill>
                  </a:rPr>
                  <a:t>invariant</a:t>
                </a:r>
                <a:endParaRPr lang="en-US" sz="2800" b="1" dirty="0"/>
              </a:p>
              <a:p>
                <a:pPr marL="0" indent="0">
                  <a:buNone/>
                </a:pPr>
                <a:r>
                  <a:rPr lang="en-US" sz="2800" dirty="0">
                    <a:solidFill>
                      <a:schemeClr val="tx1"/>
                    </a:solidFill>
                  </a:rPr>
                  <a:t>Simultaneous conservation of energy and </a:t>
                </a:r>
                <a14:m>
                  <m:oMath xmlns:m="http://schemas.openxmlformats.org/officeDocument/2006/math">
                    <m:sSub>
                      <m:sSubPr>
                        <m:ctrlPr>
                          <a:rPr lang="ar-AE" sz="2800" i="1">
                            <a:solidFill>
                              <a:schemeClr val="tx1"/>
                            </a:solidFill>
                            <a:latin typeface="Cambria Math" panose="02040503050406030204" pitchFamily="18" charset="0"/>
                          </a:rPr>
                        </m:ctrlPr>
                      </m:sSubPr>
                      <m:e>
                        <m:r>
                          <a:rPr lang="ar-AE" sz="2800">
                            <a:solidFill>
                              <a:schemeClr val="tx1"/>
                            </a:solidFill>
                            <a:latin typeface="Cambria Math" panose="02040503050406030204" pitchFamily="18" charset="0"/>
                          </a:rPr>
                          <m:t>𝐼</m:t>
                        </m:r>
                      </m:e>
                      <m:sub>
                        <m:r>
                          <a:rPr lang="ar-AE" sz="2800">
                            <a:solidFill>
                              <a:schemeClr val="tx1"/>
                            </a:solidFill>
                            <a:latin typeface="Cambria Math" panose="02040503050406030204" pitchFamily="18" charset="0"/>
                          </a:rPr>
                          <m:t>𝑧</m:t>
                        </m:r>
                      </m:sub>
                    </m:sSub>
                  </m:oMath>
                </a14:m>
                <a:r>
                  <a:rPr lang="ar-AE" sz="2800" dirty="0">
                    <a:solidFill>
                      <a:schemeClr val="tx1"/>
                    </a:solidFill>
                  </a:rPr>
                  <a:t> </a:t>
                </a:r>
                <a:r>
                  <a:rPr lang="en-US" sz="2800" dirty="0">
                    <a:solidFill>
                      <a:schemeClr val="tx1"/>
                    </a:solidFill>
                  </a:rPr>
                  <a:t>fully determines the motion of the particle</a:t>
                </a:r>
              </a:p>
              <a:p>
                <a:pPr marL="0" indent="0">
                  <a:buNone/>
                </a:pPr>
                <a:r>
                  <a:rPr lang="en-US" sz="2800" dirty="0">
                    <a:solidFill>
                      <a:srgbClr val="99528C"/>
                    </a:solidFill>
                  </a:rPr>
                  <a:t>In the absence of </a:t>
                </a:r>
                <a14:m>
                  <m:oMath xmlns:m="http://schemas.openxmlformats.org/officeDocument/2006/math">
                    <m:sSub>
                      <m:sSubPr>
                        <m:ctrlPr>
                          <a:rPr lang="ar-AE" sz="2800" b="1" i="1">
                            <a:solidFill>
                              <a:srgbClr val="99528C"/>
                            </a:solidFill>
                            <a:latin typeface="Cambria Math" panose="02040503050406030204" pitchFamily="18" charset="0"/>
                          </a:rPr>
                        </m:ctrlPr>
                      </m:sSubPr>
                      <m:e>
                        <m:r>
                          <a:rPr lang="ar-AE" sz="2800" b="1" i="1">
                            <a:solidFill>
                              <a:srgbClr val="99528C"/>
                            </a:solidFill>
                            <a:latin typeface="Cambria Math" panose="02040503050406030204" pitchFamily="18" charset="0"/>
                          </a:rPr>
                          <m:t>𝑰</m:t>
                        </m:r>
                      </m:e>
                      <m:sub>
                        <m:r>
                          <a:rPr lang="ar-AE" sz="2800" b="1" i="1">
                            <a:solidFill>
                              <a:srgbClr val="99528C"/>
                            </a:solidFill>
                            <a:latin typeface="Cambria Math" panose="02040503050406030204" pitchFamily="18" charset="0"/>
                          </a:rPr>
                          <m:t>𝒛</m:t>
                        </m:r>
                      </m:sub>
                    </m:sSub>
                  </m:oMath>
                </a14:m>
                <a:r>
                  <a:rPr lang="ar-AE" sz="2800" b="1" dirty="0">
                    <a:solidFill>
                      <a:srgbClr val="99528C"/>
                    </a:solidFill>
                  </a:rPr>
                  <a:t> </a:t>
                </a:r>
                <a:r>
                  <a:rPr lang="en-US" sz="2800" b="1" dirty="0">
                    <a:solidFill>
                      <a:srgbClr val="99528C"/>
                    </a:solidFill>
                  </a:rPr>
                  <a:t>destruction</a:t>
                </a:r>
                <a:r>
                  <a:rPr lang="en-US" sz="2800" dirty="0">
                    <a:solidFill>
                      <a:srgbClr val="99528C"/>
                    </a:solidFill>
                  </a:rPr>
                  <a:t>, there is no pitch-angle scattering</a:t>
                </a:r>
              </a:p>
            </p:txBody>
          </p:sp>
        </mc:Choice>
        <mc:Fallback xmlns="">
          <p:sp>
            <p:nvSpPr>
              <p:cNvPr id="32" name="Content Placeholder 2">
                <a:extLst>
                  <a:ext uri="{FF2B5EF4-FFF2-40B4-BE49-F238E27FC236}">
                    <a16:creationId xmlns:a16="http://schemas.microsoft.com/office/drawing/2014/main" id="{E0277C1F-01D6-D9A5-CA19-3021F7D3503D}"/>
                  </a:ext>
                </a:extLst>
              </p:cNvPr>
              <p:cNvSpPr txBox="1">
                <a:spLocks noRot="1" noChangeAspect="1" noMove="1" noResize="1" noEditPoints="1" noAdjustHandles="1" noChangeArrowheads="1" noChangeShapeType="1" noTextEdit="1"/>
              </p:cNvSpPr>
              <p:nvPr/>
            </p:nvSpPr>
            <p:spPr>
              <a:xfrm>
                <a:off x="188247" y="31025528"/>
                <a:ext cx="10704137" cy="8423090"/>
              </a:xfrm>
              <a:prstGeom prst="rect">
                <a:avLst/>
              </a:prstGeom>
              <a:blipFill>
                <a:blip r:embed="rId9"/>
                <a:stretch>
                  <a:fillRect l="-1185" t="-1353"/>
                </a:stretch>
              </a:blipFill>
            </p:spPr>
            <p:txBody>
              <a:bodyPr/>
              <a:lstStyle/>
              <a:p>
                <a:r>
                  <a:rPr lang="en-US">
                    <a:noFill/>
                  </a:rPr>
                  <a:t> </a:t>
                </a:r>
              </a:p>
            </p:txBody>
          </p:sp>
        </mc:Fallback>
      </mc:AlternateContent>
      <p:pic>
        <p:nvPicPr>
          <p:cNvPr id="34" name="Content Placeholder 21">
            <a:extLst>
              <a:ext uri="{FF2B5EF4-FFF2-40B4-BE49-F238E27FC236}">
                <a16:creationId xmlns:a16="http://schemas.microsoft.com/office/drawing/2014/main" id="{2D659713-4D54-7364-403B-1896A25F08CE}"/>
              </a:ext>
            </a:extLst>
          </p:cNvPr>
          <p:cNvPicPr>
            <a:picLocks noChangeAspect="1"/>
          </p:cNvPicPr>
          <p:nvPr/>
        </p:nvPicPr>
        <p:blipFill>
          <a:blip r:embed="rId10"/>
          <a:srcRect t="14502" r="-790"/>
          <a:stretch/>
        </p:blipFill>
        <p:spPr>
          <a:xfrm>
            <a:off x="142739" y="35253068"/>
            <a:ext cx="10704138" cy="5894932"/>
          </a:xfrm>
          <a:prstGeom prst="rect">
            <a:avLst/>
          </a:prstGeom>
        </p:spPr>
      </p:pic>
      <mc:AlternateContent xmlns:mc="http://schemas.openxmlformats.org/markup-compatibility/2006" xmlns:a14="http://schemas.microsoft.com/office/drawing/2010/main">
        <mc:Choice Requires="a14">
          <p:sp>
            <p:nvSpPr>
              <p:cNvPr id="37" name="Text Placeholder 3">
                <a:extLst>
                  <a:ext uri="{FF2B5EF4-FFF2-40B4-BE49-F238E27FC236}">
                    <a16:creationId xmlns:a16="http://schemas.microsoft.com/office/drawing/2014/main" id="{09F4F18E-EA83-424A-3270-CCEE14D3D529}"/>
                  </a:ext>
                </a:extLst>
              </p:cNvPr>
              <p:cNvSpPr txBox="1">
                <a:spLocks/>
              </p:cNvSpPr>
              <p:nvPr/>
            </p:nvSpPr>
            <p:spPr>
              <a:xfrm>
                <a:off x="10846877" y="35253068"/>
                <a:ext cx="6763696" cy="4441413"/>
              </a:xfrm>
              <a:prstGeom prst="rect">
                <a:avLst/>
              </a:prstGeom>
            </p:spPr>
            <p:txBody>
              <a:bodyPr>
                <a:noAutofit/>
              </a:bodyPr>
              <a:lstStyle>
                <a:lvl1pPr marL="777240" indent="-777240" algn="l" defTabSz="3108960" rtl="0" eaLnBrk="1" latinLnBrk="0" hangingPunct="1">
                  <a:lnSpc>
                    <a:spcPct val="90000"/>
                  </a:lnSpc>
                  <a:spcBef>
                    <a:spcPts val="3400"/>
                  </a:spcBef>
                  <a:buFont typeface="Arial" panose="020B0604020202020204" pitchFamily="34" charset="0"/>
                  <a:buChar char="•"/>
                  <a:defRPr sz="9520" kern="1200">
                    <a:solidFill>
                      <a:schemeClr val="tx1"/>
                    </a:solidFill>
                    <a:latin typeface="+mn-lt"/>
                    <a:ea typeface="+mn-ea"/>
                    <a:cs typeface="+mn-cs"/>
                  </a:defRPr>
                </a:lvl1pPr>
                <a:lvl2pPr marL="2331720" indent="-777240" algn="l" defTabSz="3108960" rtl="0" eaLnBrk="1" latinLnBrk="0" hangingPunct="1">
                  <a:lnSpc>
                    <a:spcPct val="90000"/>
                  </a:lnSpc>
                  <a:spcBef>
                    <a:spcPts val="1700"/>
                  </a:spcBef>
                  <a:buFont typeface="Arial" panose="020B0604020202020204" pitchFamily="34" charset="0"/>
                  <a:buChar char="•"/>
                  <a:defRPr sz="8160" kern="1200">
                    <a:solidFill>
                      <a:schemeClr val="tx1"/>
                    </a:solidFill>
                    <a:latin typeface="+mn-lt"/>
                    <a:ea typeface="+mn-ea"/>
                    <a:cs typeface="+mn-cs"/>
                  </a:defRPr>
                </a:lvl2pPr>
                <a:lvl3pPr marL="3886200" indent="-777240" algn="l" defTabSz="3108960" rtl="0" eaLnBrk="1" latinLnBrk="0" hangingPunct="1">
                  <a:lnSpc>
                    <a:spcPct val="90000"/>
                  </a:lnSpc>
                  <a:spcBef>
                    <a:spcPts val="1700"/>
                  </a:spcBef>
                  <a:buFont typeface="Arial" panose="020B0604020202020204" pitchFamily="34" charset="0"/>
                  <a:buChar char="•"/>
                  <a:defRPr sz="6800" kern="1200">
                    <a:solidFill>
                      <a:schemeClr val="tx1"/>
                    </a:solidFill>
                    <a:latin typeface="+mn-lt"/>
                    <a:ea typeface="+mn-ea"/>
                    <a:cs typeface="+mn-cs"/>
                  </a:defRPr>
                </a:lvl3pPr>
                <a:lvl4pPr marL="544068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4pPr>
                <a:lvl5pPr marL="699516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5pPr>
                <a:lvl6pPr marL="854964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6pPr>
                <a:lvl7pPr marL="1010412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7pPr>
                <a:lvl8pPr marL="1165860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8pPr>
                <a:lvl9pPr marL="13213080" indent="-777240" algn="l" defTabSz="3108960" rtl="0" eaLnBrk="1" latinLnBrk="0" hangingPunct="1">
                  <a:lnSpc>
                    <a:spcPct val="90000"/>
                  </a:lnSpc>
                  <a:spcBef>
                    <a:spcPts val="1700"/>
                  </a:spcBef>
                  <a:buFont typeface="Arial" panose="020B0604020202020204" pitchFamily="34" charset="0"/>
                  <a:buChar char="•"/>
                  <a:defRPr sz="6120" kern="1200">
                    <a:solidFill>
                      <a:schemeClr val="tx1"/>
                    </a:solidFill>
                    <a:latin typeface="+mn-lt"/>
                    <a:ea typeface="+mn-ea"/>
                    <a:cs typeface="+mn-cs"/>
                  </a:defRPr>
                </a:lvl9pPr>
              </a:lstStyle>
              <a:p>
                <a:pPr marL="0" indent="0">
                  <a:buNone/>
                </a:pPr>
                <a:r>
                  <a:rPr lang="en-US" sz="2800" dirty="0">
                    <a:solidFill>
                      <a:schemeClr val="tx1"/>
                    </a:solidFill>
                  </a:rPr>
                  <a:t>Two distinct types of particle trajectories in </a:t>
                </a:r>
                <a14:m>
                  <m:oMath xmlns:m="http://schemas.openxmlformats.org/officeDocument/2006/math">
                    <m:d>
                      <m:dPr>
                        <m:ctrlPr>
                          <a:rPr lang="ar-AE" sz="2800" i="1">
                            <a:solidFill>
                              <a:schemeClr val="tx1"/>
                            </a:solidFill>
                            <a:latin typeface="Cambria Math" panose="02040503050406030204" pitchFamily="18" charset="0"/>
                          </a:rPr>
                        </m:ctrlPr>
                      </m:dPr>
                      <m:e>
                        <m:r>
                          <a:rPr lang="ar-AE" sz="2800">
                            <a:solidFill>
                              <a:schemeClr val="tx1"/>
                            </a:solidFill>
                            <a:latin typeface="Cambria Math" panose="02040503050406030204" pitchFamily="18" charset="0"/>
                          </a:rPr>
                          <m:t>𝑧</m:t>
                        </m:r>
                        <m:r>
                          <a:rPr lang="ar-AE" sz="2800">
                            <a:solidFill>
                              <a:schemeClr val="tx1"/>
                            </a:solidFill>
                            <a:latin typeface="Cambria Math" panose="02040503050406030204" pitchFamily="18" charset="0"/>
                          </a:rPr>
                          <m:t>,</m:t>
                        </m:r>
                        <m:sSub>
                          <m:sSubPr>
                            <m:ctrlPr>
                              <a:rPr lang="ar-AE" sz="2800" i="1">
                                <a:solidFill>
                                  <a:schemeClr val="tx1"/>
                                </a:solidFill>
                                <a:latin typeface="Cambria Math" panose="02040503050406030204" pitchFamily="18" charset="0"/>
                              </a:rPr>
                            </m:ctrlPr>
                          </m:sSubPr>
                          <m:e>
                            <m:r>
                              <a:rPr lang="ar-AE" sz="2800">
                                <a:solidFill>
                                  <a:schemeClr val="tx1"/>
                                </a:solidFill>
                                <a:latin typeface="Cambria Math" panose="02040503050406030204" pitchFamily="18" charset="0"/>
                              </a:rPr>
                              <m:t>𝑝</m:t>
                            </m:r>
                          </m:e>
                          <m:sub>
                            <m:r>
                              <a:rPr lang="ar-AE" sz="2800">
                                <a:solidFill>
                                  <a:schemeClr val="tx1"/>
                                </a:solidFill>
                                <a:latin typeface="Cambria Math" panose="02040503050406030204" pitchFamily="18" charset="0"/>
                              </a:rPr>
                              <m:t>𝑧</m:t>
                            </m:r>
                          </m:sub>
                        </m:sSub>
                      </m:e>
                    </m:d>
                  </m:oMath>
                </a14:m>
                <a:r>
                  <a:rPr lang="ar-AE" sz="2800" dirty="0">
                    <a:solidFill>
                      <a:schemeClr val="tx1"/>
                    </a:solidFill>
                  </a:rPr>
                  <a:t> </a:t>
                </a:r>
                <a:r>
                  <a:rPr lang="en-US" sz="2800" dirty="0">
                    <a:solidFill>
                      <a:schemeClr val="tx1"/>
                    </a:solidFill>
                  </a:rPr>
                  <a:t>plane separated by a curve called </a:t>
                </a:r>
                <a:r>
                  <a:rPr lang="en-US" sz="2800" b="1" i="1" dirty="0">
                    <a:solidFill>
                      <a:schemeClr val="tx1"/>
                    </a:solidFill>
                  </a:rPr>
                  <a:t>Separatrix</a:t>
                </a:r>
                <a:r>
                  <a:rPr lang="en-US" sz="2800" dirty="0">
                    <a:solidFill>
                      <a:schemeClr val="tx1"/>
                    </a:solidFill>
                  </a:rPr>
                  <a:t>.</a:t>
                </a:r>
              </a:p>
              <a:p>
                <a:pPr marL="0" indent="0">
                  <a:buNone/>
                </a:pPr>
                <a:r>
                  <a:rPr lang="en-US" sz="2800" dirty="0">
                    <a:solidFill>
                      <a:schemeClr val="accent5">
                        <a:lumMod val="75000"/>
                      </a:schemeClr>
                    </a:solidFill>
                  </a:rPr>
                  <a:t>The separatrix corresponds to a point on a certain curve in the </a:t>
                </a:r>
                <a14:m>
                  <m:oMath xmlns:m="http://schemas.openxmlformats.org/officeDocument/2006/math">
                    <m:d>
                      <m:dPr>
                        <m:ctrlPr>
                          <a:rPr lang="ar-AE" sz="2800" i="1">
                            <a:solidFill>
                              <a:schemeClr val="accent5">
                                <a:lumMod val="75000"/>
                              </a:schemeClr>
                            </a:solidFill>
                            <a:latin typeface="Cambria Math" panose="02040503050406030204" pitchFamily="18" charset="0"/>
                          </a:rPr>
                        </m:ctrlPr>
                      </m:dPr>
                      <m:e>
                        <m:r>
                          <a:rPr lang="ar-AE" sz="2800">
                            <a:solidFill>
                              <a:schemeClr val="accent5">
                                <a:lumMod val="75000"/>
                              </a:schemeClr>
                            </a:solidFill>
                            <a:latin typeface="Cambria Math" panose="02040503050406030204" pitchFamily="18" charset="0"/>
                          </a:rPr>
                          <m:t>𝜅</m:t>
                        </m:r>
                        <m:r>
                          <a:rPr lang="ar-AE" sz="2800">
                            <a:solidFill>
                              <a:schemeClr val="accent5">
                                <a:lumMod val="75000"/>
                              </a:schemeClr>
                            </a:solidFill>
                            <a:latin typeface="Cambria Math" panose="02040503050406030204" pitchFamily="18" charset="0"/>
                          </a:rPr>
                          <m:t>𝑥</m:t>
                        </m:r>
                        <m:r>
                          <a:rPr lang="ar-AE" sz="2800">
                            <a:solidFill>
                              <a:schemeClr val="accent5">
                                <a:lumMod val="75000"/>
                              </a:schemeClr>
                            </a:solidFill>
                            <a:latin typeface="Cambria Math" panose="02040503050406030204" pitchFamily="18" charset="0"/>
                          </a:rPr>
                          <m:t>,</m:t>
                        </m:r>
                        <m:sSub>
                          <m:sSubPr>
                            <m:ctrlPr>
                              <a:rPr lang="ar-AE" sz="2800" i="1">
                                <a:solidFill>
                                  <a:schemeClr val="accent5">
                                    <a:lumMod val="75000"/>
                                  </a:schemeClr>
                                </a:solidFill>
                                <a:latin typeface="Cambria Math" panose="02040503050406030204" pitchFamily="18" charset="0"/>
                              </a:rPr>
                            </m:ctrlPr>
                          </m:sSubPr>
                          <m:e>
                            <m:r>
                              <a:rPr lang="ar-AE" sz="2800">
                                <a:solidFill>
                                  <a:schemeClr val="accent5">
                                    <a:lumMod val="75000"/>
                                  </a:schemeClr>
                                </a:solidFill>
                                <a:latin typeface="Cambria Math" panose="02040503050406030204" pitchFamily="18" charset="0"/>
                              </a:rPr>
                              <m:t>𝑝</m:t>
                            </m:r>
                          </m:e>
                          <m:sub>
                            <m:r>
                              <a:rPr lang="ar-AE" sz="2800">
                                <a:solidFill>
                                  <a:schemeClr val="accent5">
                                    <a:lumMod val="75000"/>
                                  </a:schemeClr>
                                </a:solidFill>
                                <a:latin typeface="Cambria Math" panose="02040503050406030204" pitchFamily="18" charset="0"/>
                              </a:rPr>
                              <m:t>𝑥</m:t>
                            </m:r>
                          </m:sub>
                        </m:sSub>
                      </m:e>
                    </m:d>
                  </m:oMath>
                </a14:m>
                <a:r>
                  <a:rPr lang="ar-AE" sz="2800" dirty="0">
                    <a:solidFill>
                      <a:schemeClr val="accent5">
                        <a:lumMod val="75000"/>
                      </a:schemeClr>
                    </a:solidFill>
                  </a:rPr>
                  <a:t> </a:t>
                </a:r>
                <a:r>
                  <a:rPr lang="en-US" sz="2800" dirty="0">
                    <a:solidFill>
                      <a:schemeClr val="accent5">
                        <a:lumMod val="75000"/>
                      </a:schemeClr>
                    </a:solidFill>
                  </a:rPr>
                  <a:t>plane, called </a:t>
                </a:r>
                <a:r>
                  <a:rPr lang="en-US" sz="2800" b="1" i="1" dirty="0">
                    <a:solidFill>
                      <a:schemeClr val="accent5">
                        <a:lumMod val="75000"/>
                      </a:schemeClr>
                    </a:solidFill>
                  </a:rPr>
                  <a:t>Uncertainty Curve</a:t>
                </a:r>
                <a:r>
                  <a:rPr lang="en-US" sz="2800" dirty="0">
                    <a:solidFill>
                      <a:schemeClr val="accent5">
                        <a:lumMod val="75000"/>
                      </a:schemeClr>
                    </a:solidFill>
                  </a:rPr>
                  <a:t>.</a:t>
                </a:r>
              </a:p>
              <a:p>
                <a:pPr marL="0" indent="0">
                  <a:buFont typeface="Arial" panose="020B0604020202020204" pitchFamily="34" charset="0"/>
                  <a:buNone/>
                </a:pPr>
                <a:r>
                  <a:rPr lang="en-US" sz="2800" dirty="0"/>
                  <a:t>Near the separatrix, the instantaneous period of motion increases logarithmically.</a:t>
                </a:r>
              </a:p>
              <a:p>
                <a:pPr marL="0" indent="0">
                  <a:buFont typeface="Arial" panose="020B0604020202020204" pitchFamily="34" charset="0"/>
                  <a:buNone/>
                </a:pPr>
                <a:r>
                  <a:rPr lang="en-US" sz="2800" dirty="0">
                    <a:solidFill>
                      <a:schemeClr val="accent3">
                        <a:lumMod val="75000"/>
                      </a:schemeClr>
                    </a:solidFill>
                  </a:rPr>
                  <a:t>Particle accumulates a nonvanishing change in the adiabatic invariant: dynamical jump and geometric jump</a:t>
                </a:r>
              </a:p>
            </p:txBody>
          </p:sp>
        </mc:Choice>
        <mc:Fallback xmlns="">
          <p:sp>
            <p:nvSpPr>
              <p:cNvPr id="37" name="Text Placeholder 3">
                <a:extLst>
                  <a:ext uri="{FF2B5EF4-FFF2-40B4-BE49-F238E27FC236}">
                    <a16:creationId xmlns:a16="http://schemas.microsoft.com/office/drawing/2014/main" id="{09F4F18E-EA83-424A-3270-CCEE14D3D529}"/>
                  </a:ext>
                </a:extLst>
              </p:cNvPr>
              <p:cNvSpPr txBox="1">
                <a:spLocks noRot="1" noChangeAspect="1" noMove="1" noResize="1" noEditPoints="1" noAdjustHandles="1" noChangeArrowheads="1" noChangeShapeType="1" noTextEdit="1"/>
              </p:cNvSpPr>
              <p:nvPr/>
            </p:nvSpPr>
            <p:spPr>
              <a:xfrm>
                <a:off x="10846877" y="35253068"/>
                <a:ext cx="6763696" cy="4441413"/>
              </a:xfrm>
              <a:prstGeom prst="rect">
                <a:avLst/>
              </a:prstGeom>
              <a:blipFill>
                <a:blip r:embed="rId11"/>
                <a:stretch>
                  <a:fillRect l="-1873" t="-2279" r="-2247" b="-30199"/>
                </a:stretch>
              </a:blipFill>
            </p:spPr>
            <p:txBody>
              <a:bodyPr/>
              <a:lstStyle/>
              <a:p>
                <a:r>
                  <a:rPr lang="en-US">
                    <a:noFill/>
                  </a:rPr>
                  <a:t> </a:t>
                </a:r>
              </a:p>
            </p:txBody>
          </p:sp>
        </mc:Fallback>
      </mc:AlternateContent>
      <p:pic>
        <p:nvPicPr>
          <p:cNvPr id="39" name="Picture 38">
            <a:extLst>
              <a:ext uri="{FF2B5EF4-FFF2-40B4-BE49-F238E27FC236}">
                <a16:creationId xmlns:a16="http://schemas.microsoft.com/office/drawing/2014/main" id="{F352604A-D860-3D6D-BCBF-90AA4388B240}"/>
              </a:ext>
            </a:extLst>
          </p:cNvPr>
          <p:cNvPicPr>
            <a:picLocks noChangeAspect="1"/>
          </p:cNvPicPr>
          <p:nvPr/>
        </p:nvPicPr>
        <p:blipFill>
          <a:blip r:embed="rId12"/>
          <a:stretch>
            <a:fillRect/>
          </a:stretch>
        </p:blipFill>
        <p:spPr>
          <a:xfrm>
            <a:off x="10698215" y="17206645"/>
            <a:ext cx="11174654" cy="10315065"/>
          </a:xfrm>
          <a:prstGeom prst="rect">
            <a:avLst/>
          </a:prstGeom>
        </p:spPr>
      </p:pic>
      <p:sp>
        <p:nvSpPr>
          <p:cNvPr id="44" name="TextBox 43">
            <a:extLst>
              <a:ext uri="{FF2B5EF4-FFF2-40B4-BE49-F238E27FC236}">
                <a16:creationId xmlns:a16="http://schemas.microsoft.com/office/drawing/2014/main" id="{9D2F09C7-0A6A-E767-4A14-693E57762202}"/>
              </a:ext>
            </a:extLst>
          </p:cNvPr>
          <p:cNvSpPr txBox="1"/>
          <p:nvPr/>
        </p:nvSpPr>
        <p:spPr>
          <a:xfrm>
            <a:off x="23578449" y="5929233"/>
            <a:ext cx="7698454" cy="830997"/>
          </a:xfrm>
          <a:prstGeom prst="rect">
            <a:avLst/>
          </a:prstGeom>
          <a:noFill/>
        </p:spPr>
        <p:txBody>
          <a:bodyPr wrap="none" rtlCol="0">
            <a:spAutoFit/>
          </a:bodyPr>
          <a:lstStyle/>
          <a:p>
            <a:r>
              <a:rPr lang="en-US" sz="4800" b="1" spc="-10" dirty="0">
                <a:latin typeface="Charter" panose="02040503050506020203" pitchFamily="18" charset="0"/>
                <a:cs typeface="Times New Roman"/>
              </a:rPr>
              <a:t>C. Solar Wind Observation</a:t>
            </a:r>
          </a:p>
        </p:txBody>
      </p:sp>
      <p:sp>
        <p:nvSpPr>
          <p:cNvPr id="45" name="TextBox 44">
            <a:extLst>
              <a:ext uri="{FF2B5EF4-FFF2-40B4-BE49-F238E27FC236}">
                <a16:creationId xmlns:a16="http://schemas.microsoft.com/office/drawing/2014/main" id="{C387A144-F738-5292-2E06-7594DCAF4671}"/>
              </a:ext>
            </a:extLst>
          </p:cNvPr>
          <p:cNvSpPr txBox="1"/>
          <p:nvPr/>
        </p:nvSpPr>
        <p:spPr>
          <a:xfrm>
            <a:off x="11378029" y="16340655"/>
            <a:ext cx="10900163" cy="830997"/>
          </a:xfrm>
          <a:prstGeom prst="rect">
            <a:avLst/>
          </a:prstGeom>
          <a:noFill/>
        </p:spPr>
        <p:txBody>
          <a:bodyPr wrap="none" rtlCol="0">
            <a:spAutoFit/>
          </a:bodyPr>
          <a:lstStyle/>
          <a:p>
            <a:r>
              <a:rPr lang="en-US" sz="4800" b="1" spc="-10" dirty="0">
                <a:latin typeface="Charter" panose="02040503050506020203" pitchFamily="18" charset="0"/>
                <a:cs typeface="Times New Roman"/>
              </a:rPr>
              <a:t>B. Test particle simulation &amp; Mapping</a:t>
            </a:r>
          </a:p>
        </p:txBody>
      </p:sp>
      <p:cxnSp>
        <p:nvCxnSpPr>
          <p:cNvPr id="47" name="Straight Connector 46">
            <a:extLst>
              <a:ext uri="{FF2B5EF4-FFF2-40B4-BE49-F238E27FC236}">
                <a16:creationId xmlns:a16="http://schemas.microsoft.com/office/drawing/2014/main" id="{DD235AA8-0A2E-E22B-43EE-D49CD3646C4C}"/>
              </a:ext>
            </a:extLst>
          </p:cNvPr>
          <p:cNvCxnSpPr>
            <a:cxnSpLocks/>
          </p:cNvCxnSpPr>
          <p:nvPr/>
        </p:nvCxnSpPr>
        <p:spPr>
          <a:xfrm>
            <a:off x="10642797" y="13564274"/>
            <a:ext cx="0" cy="21163325"/>
          </a:xfrm>
          <a:prstGeom prst="line">
            <a:avLst/>
          </a:prstGeom>
          <a:ln w="38100">
            <a:solidFill>
              <a:schemeClr val="tx1"/>
            </a:solidFill>
            <a:prstDash val="dash"/>
          </a:ln>
        </p:spPr>
        <p:style>
          <a:lnRef idx="2">
            <a:schemeClr val="accent1"/>
          </a:lnRef>
          <a:fillRef idx="0">
            <a:schemeClr val="accent1"/>
          </a:fillRef>
          <a:effectRef idx="1">
            <a:schemeClr val="accent1"/>
          </a:effectRef>
          <a:fontRef idx="minor">
            <a:schemeClr val="tx1"/>
          </a:fontRef>
        </p:style>
      </p:cxnSp>
      <p:pic>
        <p:nvPicPr>
          <p:cNvPr id="54" name="Picture 1" descr="../figures/tm/tm_stats_100keV.png">
            <a:extLst>
              <a:ext uri="{FF2B5EF4-FFF2-40B4-BE49-F238E27FC236}">
                <a16:creationId xmlns:a16="http://schemas.microsoft.com/office/drawing/2014/main" id="{0FD6C7D0-AED0-EA17-2564-308CFD0E87F9}"/>
              </a:ext>
            </a:extLst>
          </p:cNvPr>
          <p:cNvPicPr>
            <a:picLocks noGrp="1" noChangeAspect="1"/>
          </p:cNvPicPr>
          <p:nvPr/>
        </p:nvPicPr>
        <p:blipFill>
          <a:blip r:embed="rId13"/>
          <a:stretch>
            <a:fillRect/>
          </a:stretch>
        </p:blipFill>
        <p:spPr bwMode="auto">
          <a:xfrm>
            <a:off x="21239018" y="18870743"/>
            <a:ext cx="9781165" cy="8129932"/>
          </a:xfrm>
          <a:prstGeom prst="rect">
            <a:avLst/>
          </a:prstGeom>
          <a:noFill/>
          <a:ln w="9525">
            <a:noFill/>
            <a:headEnd/>
            <a:tailEnd/>
          </a:ln>
        </p:spPr>
      </p:pic>
      <p:pic>
        <p:nvPicPr>
          <p:cNvPr id="55" name="Picture 54">
            <a:extLst>
              <a:ext uri="{FF2B5EF4-FFF2-40B4-BE49-F238E27FC236}">
                <a16:creationId xmlns:a16="http://schemas.microsoft.com/office/drawing/2014/main" id="{DF77A8AE-C0E3-D2A2-86E4-373A5154F1ED}"/>
              </a:ext>
            </a:extLst>
          </p:cNvPr>
          <p:cNvPicPr>
            <a:picLocks noChangeAspect="1"/>
          </p:cNvPicPr>
          <p:nvPr/>
        </p:nvPicPr>
        <p:blipFill>
          <a:blip r:embed="rId14"/>
          <a:stretch>
            <a:fillRect/>
          </a:stretch>
        </p:blipFill>
        <p:spPr>
          <a:xfrm>
            <a:off x="10716220" y="28794794"/>
            <a:ext cx="8226441" cy="5680907"/>
          </a:xfrm>
          <a:prstGeom prst="rect">
            <a:avLst/>
          </a:prstGeom>
        </p:spPr>
      </p:pic>
      <p:cxnSp>
        <p:nvCxnSpPr>
          <p:cNvPr id="57" name="Straight Connector 56">
            <a:extLst>
              <a:ext uri="{FF2B5EF4-FFF2-40B4-BE49-F238E27FC236}">
                <a16:creationId xmlns:a16="http://schemas.microsoft.com/office/drawing/2014/main" id="{F7A0D869-93D8-5E9C-560A-D96544F5C233}"/>
              </a:ext>
            </a:extLst>
          </p:cNvPr>
          <p:cNvCxnSpPr>
            <a:cxnSpLocks/>
          </p:cNvCxnSpPr>
          <p:nvPr/>
        </p:nvCxnSpPr>
        <p:spPr>
          <a:xfrm>
            <a:off x="17745035" y="34789503"/>
            <a:ext cx="0" cy="6358497"/>
          </a:xfrm>
          <a:prstGeom prst="line">
            <a:avLst/>
          </a:prstGeom>
          <a:ln w="381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59" name="TextBox 3">
            <a:extLst>
              <a:ext uri="{FF2B5EF4-FFF2-40B4-BE49-F238E27FC236}">
                <a16:creationId xmlns:a16="http://schemas.microsoft.com/office/drawing/2014/main" id="{0983607F-7062-CC4C-67E6-68AF6E38420B}"/>
              </a:ext>
            </a:extLst>
          </p:cNvPr>
          <p:cNvSpPr txBox="1"/>
          <p:nvPr/>
        </p:nvSpPr>
        <p:spPr>
          <a:xfrm>
            <a:off x="22529557" y="16931725"/>
            <a:ext cx="8229600" cy="2110880"/>
          </a:xfrm>
          <a:prstGeom prst="rect">
            <a:avLst/>
          </a:prstGeom>
          <a:noFill/>
          <a:ln>
            <a:solidFill>
              <a:schemeClr val="tx1"/>
            </a:solidFill>
          </a:ln>
        </p:spPr>
        <p:txBody>
          <a:bodyPr/>
          <a:lstStyle/>
          <a:p>
            <a:pPr marL="0" lvl="0" indent="0">
              <a:buNone/>
            </a:pPr>
            <a:r>
              <a:rPr sz="3200" dirty="0"/>
              <a:t>Transition matrix for 100 keV protons under </a:t>
            </a:r>
            <a:endParaRPr lang="en-US" sz="3200" dirty="0"/>
          </a:p>
          <a:p>
            <a:pPr marL="0" lvl="0" indent="0">
              <a:buNone/>
            </a:pPr>
            <a:r>
              <a:rPr sz="3200" dirty="0"/>
              <a:t>four magnetic field configurations</a:t>
            </a:r>
            <a:r>
              <a:rPr lang="en-US" sz="3200" dirty="0"/>
              <a:t> and weighed transition matrix from observed distribution of current sheet at 1 AU.</a:t>
            </a:r>
            <a:endParaRPr sz="3200" dirty="0"/>
          </a:p>
        </p:txBody>
      </p:sp>
      <mc:AlternateContent xmlns:mc="http://schemas.openxmlformats.org/markup-compatibility/2006" xmlns:a14="http://schemas.microsoft.com/office/drawing/2010/main">
        <mc:Choice Requires="a14">
          <p:sp>
            <p:nvSpPr>
              <p:cNvPr id="60" name="Content Placeholder 2">
                <a:extLst>
                  <a:ext uri="{FF2B5EF4-FFF2-40B4-BE49-F238E27FC236}">
                    <a16:creationId xmlns:a16="http://schemas.microsoft.com/office/drawing/2014/main" id="{C8F6005E-2D85-22FE-4228-B972BC38BAA2}"/>
                  </a:ext>
                </a:extLst>
              </p:cNvPr>
              <p:cNvSpPr>
                <a:spLocks noGrp="1"/>
              </p:cNvSpPr>
              <p:nvPr>
                <p:ph idx="1"/>
              </p:nvPr>
            </p:nvSpPr>
            <p:spPr>
              <a:xfrm>
                <a:off x="22414727" y="26756432"/>
                <a:ext cx="8824341" cy="817838"/>
              </a:xfrm>
            </p:spPr>
            <p:txBody>
              <a:bodyPr>
                <a:normAutofit/>
              </a:bodyPr>
              <a:lstStyle/>
              <a:p>
                <a:pPr marL="0" lvl="0" indent="0">
                  <a:buNone/>
                </a:pPr>
                <a14:m>
                  <m:oMathPara xmlns:m="http://schemas.openxmlformats.org/officeDocument/2006/math">
                    <m:oMathParaPr>
                      <m:jc m:val="center"/>
                    </m:oMathParaPr>
                    <m:oMath xmlns:m="http://schemas.openxmlformats.org/officeDocument/2006/math">
                      <m:sSub>
                        <m:sSubPr>
                          <m:ctrlPr>
                            <a:rPr sz="4400" i="1">
                              <a:solidFill>
                                <a:schemeClr val="accent5">
                                  <a:lumMod val="75000"/>
                                </a:schemeClr>
                              </a:solidFill>
                              <a:latin typeface="Cambria Math" panose="02040503050406030204" pitchFamily="18" charset="0"/>
                            </a:rPr>
                          </m:ctrlPr>
                        </m:sSubPr>
                        <m:e>
                          <m:r>
                            <a:rPr sz="4400">
                              <a:solidFill>
                                <a:schemeClr val="accent5">
                                  <a:lumMod val="75000"/>
                                </a:schemeClr>
                              </a:solidFill>
                              <a:latin typeface="Cambria Math" panose="02040503050406030204" pitchFamily="18" charset="0"/>
                            </a:rPr>
                            <m:t>𝛼</m:t>
                          </m:r>
                        </m:e>
                        <m:sub>
                          <m:r>
                            <a:rPr sz="4400">
                              <a:solidFill>
                                <a:schemeClr val="accent5">
                                  <a:lumMod val="75000"/>
                                </a:schemeClr>
                              </a:solidFill>
                              <a:latin typeface="Cambria Math" panose="02040503050406030204" pitchFamily="18" charset="0"/>
                            </a:rPr>
                            <m:t>𝑛</m:t>
                          </m:r>
                          <m:r>
                            <a:rPr sz="4400">
                              <a:solidFill>
                                <a:schemeClr val="accent5">
                                  <a:lumMod val="75000"/>
                                </a:schemeClr>
                              </a:solidFill>
                              <a:latin typeface="Cambria Math" panose="02040503050406030204" pitchFamily="18" charset="0"/>
                            </a:rPr>
                            <m:t>+1,</m:t>
                          </m:r>
                          <m:r>
                            <a:rPr sz="4400">
                              <a:solidFill>
                                <a:schemeClr val="accent5">
                                  <a:lumMod val="75000"/>
                                </a:schemeClr>
                              </a:solidFill>
                              <a:latin typeface="Cambria Math" panose="02040503050406030204" pitchFamily="18" charset="0"/>
                            </a:rPr>
                            <m:t>𝑖</m:t>
                          </m:r>
                        </m:sub>
                      </m:sSub>
                      <m:r>
                        <a:rPr sz="4400">
                          <a:solidFill>
                            <a:schemeClr val="accent5">
                              <a:lumMod val="75000"/>
                            </a:schemeClr>
                          </a:solidFill>
                          <a:latin typeface="Cambria Math" panose="02040503050406030204" pitchFamily="18" charset="0"/>
                        </a:rPr>
                        <m:t>=</m:t>
                      </m:r>
                      <m:r>
                        <a:rPr sz="4400">
                          <a:solidFill>
                            <a:schemeClr val="accent5">
                              <a:lumMod val="75000"/>
                            </a:schemeClr>
                          </a:solidFill>
                          <a:latin typeface="Cambria Math" panose="02040503050406030204" pitchFamily="18" charset="0"/>
                        </a:rPr>
                        <m:t>𝑊</m:t>
                      </m:r>
                      <m:d>
                        <m:dPr>
                          <m:ctrlPr>
                            <a:rPr sz="4400" i="1">
                              <a:solidFill>
                                <a:schemeClr val="accent5">
                                  <a:lumMod val="75000"/>
                                </a:schemeClr>
                              </a:solidFill>
                              <a:latin typeface="Cambria Math" panose="02040503050406030204" pitchFamily="18" charset="0"/>
                            </a:rPr>
                          </m:ctrlPr>
                        </m:dPr>
                        <m:e>
                          <m:sSub>
                            <m:sSubPr>
                              <m:ctrlPr>
                                <a:rPr sz="4400" i="1">
                                  <a:solidFill>
                                    <a:schemeClr val="accent5">
                                      <a:lumMod val="75000"/>
                                    </a:schemeClr>
                                  </a:solidFill>
                                  <a:latin typeface="Cambria Math" panose="02040503050406030204" pitchFamily="18" charset="0"/>
                                </a:rPr>
                              </m:ctrlPr>
                            </m:sSubPr>
                            <m:e>
                              <m:r>
                                <a:rPr sz="4400">
                                  <a:solidFill>
                                    <a:schemeClr val="accent5">
                                      <a:lumMod val="75000"/>
                                    </a:schemeClr>
                                  </a:solidFill>
                                  <a:latin typeface="Cambria Math" panose="02040503050406030204" pitchFamily="18" charset="0"/>
                                </a:rPr>
                                <m:t>𝛼</m:t>
                              </m:r>
                            </m:e>
                            <m:sub>
                              <m:r>
                                <a:rPr sz="4400">
                                  <a:solidFill>
                                    <a:schemeClr val="accent5">
                                      <a:lumMod val="75000"/>
                                    </a:schemeClr>
                                  </a:solidFill>
                                  <a:latin typeface="Cambria Math" panose="02040503050406030204" pitchFamily="18" charset="0"/>
                                </a:rPr>
                                <m:t>𝑛</m:t>
                              </m:r>
                              <m:r>
                                <a:rPr sz="4400">
                                  <a:solidFill>
                                    <a:schemeClr val="accent5">
                                      <a:lumMod val="75000"/>
                                    </a:schemeClr>
                                  </a:solidFill>
                                  <a:latin typeface="Cambria Math" panose="02040503050406030204" pitchFamily="18" charset="0"/>
                                </a:rPr>
                                <m:t>,</m:t>
                              </m:r>
                              <m:r>
                                <a:rPr sz="4400">
                                  <a:solidFill>
                                    <a:schemeClr val="accent5">
                                      <a:lumMod val="75000"/>
                                    </a:schemeClr>
                                  </a:solidFill>
                                  <a:latin typeface="Cambria Math" panose="02040503050406030204" pitchFamily="18" charset="0"/>
                                </a:rPr>
                                <m:t>𝑖</m:t>
                              </m:r>
                            </m:sub>
                          </m:sSub>
                          <m:r>
                            <a:rPr sz="4400">
                              <a:solidFill>
                                <a:schemeClr val="accent5">
                                  <a:lumMod val="75000"/>
                                </a:schemeClr>
                              </a:solidFill>
                              <a:latin typeface="Cambria Math" panose="02040503050406030204" pitchFamily="18" charset="0"/>
                            </a:rPr>
                            <m:t>,</m:t>
                          </m:r>
                          <m:sSub>
                            <m:sSubPr>
                              <m:ctrlPr>
                                <a:rPr sz="4400" i="1">
                                  <a:solidFill>
                                    <a:schemeClr val="accent5">
                                      <a:lumMod val="75000"/>
                                    </a:schemeClr>
                                  </a:solidFill>
                                  <a:latin typeface="Cambria Math" panose="02040503050406030204" pitchFamily="18" charset="0"/>
                                </a:rPr>
                              </m:ctrlPr>
                            </m:sSubPr>
                            <m:e>
                              <m:r>
                                <a:rPr sz="4400">
                                  <a:solidFill>
                                    <a:schemeClr val="accent5">
                                      <a:lumMod val="75000"/>
                                    </a:schemeClr>
                                  </a:solidFill>
                                  <a:latin typeface="Cambria Math" panose="02040503050406030204" pitchFamily="18" charset="0"/>
                                </a:rPr>
                                <m:t>𝜉</m:t>
                              </m:r>
                            </m:e>
                            <m:sub>
                              <m:r>
                                <a:rPr sz="4400">
                                  <a:solidFill>
                                    <a:schemeClr val="accent5">
                                      <a:lumMod val="75000"/>
                                    </a:schemeClr>
                                  </a:solidFill>
                                  <a:latin typeface="Cambria Math" panose="02040503050406030204" pitchFamily="18" charset="0"/>
                                </a:rPr>
                                <m:t>𝑛</m:t>
                              </m:r>
                              <m:r>
                                <a:rPr sz="4400">
                                  <a:solidFill>
                                    <a:schemeClr val="accent5">
                                      <a:lumMod val="75000"/>
                                    </a:schemeClr>
                                  </a:solidFill>
                                  <a:latin typeface="Cambria Math" panose="02040503050406030204" pitchFamily="18" charset="0"/>
                                </a:rPr>
                                <m:t>,</m:t>
                              </m:r>
                              <m:r>
                                <a:rPr sz="4400">
                                  <a:solidFill>
                                    <a:schemeClr val="accent5">
                                      <a:lumMod val="75000"/>
                                    </a:schemeClr>
                                  </a:solidFill>
                                  <a:latin typeface="Cambria Math" panose="02040503050406030204" pitchFamily="18" charset="0"/>
                                </a:rPr>
                                <m:t>𝑖</m:t>
                              </m:r>
                            </m:sub>
                          </m:sSub>
                        </m:e>
                      </m:d>
                    </m:oMath>
                  </m:oMathPara>
                </a14:m>
                <a:endParaRPr sz="3200" dirty="0">
                  <a:solidFill>
                    <a:schemeClr val="accent5">
                      <a:lumMod val="75000"/>
                    </a:schemeClr>
                  </a:solidFill>
                </a:endParaRPr>
              </a:p>
            </p:txBody>
          </p:sp>
        </mc:Choice>
        <mc:Fallback xmlns="">
          <p:sp>
            <p:nvSpPr>
              <p:cNvPr id="60" name="Content Placeholder 2">
                <a:extLst>
                  <a:ext uri="{FF2B5EF4-FFF2-40B4-BE49-F238E27FC236}">
                    <a16:creationId xmlns:a16="http://schemas.microsoft.com/office/drawing/2014/main" id="{C8F6005E-2D85-22FE-4228-B972BC38BAA2}"/>
                  </a:ext>
                </a:extLst>
              </p:cNvPr>
              <p:cNvSpPr>
                <a:spLocks noGrp="1" noRot="1" noChangeAspect="1" noMove="1" noResize="1" noEditPoints="1" noAdjustHandles="1" noChangeArrowheads="1" noChangeShapeType="1" noTextEdit="1"/>
              </p:cNvSpPr>
              <p:nvPr>
                <p:ph idx="1"/>
              </p:nvPr>
            </p:nvSpPr>
            <p:spPr>
              <a:xfrm>
                <a:off x="22414727" y="26756432"/>
                <a:ext cx="8824341" cy="817838"/>
              </a:xfrm>
              <a:blipFill>
                <a:blip r:embed="rId15"/>
                <a:stretch>
                  <a:fillRect b="-12121"/>
                </a:stretch>
              </a:blipFill>
            </p:spPr>
            <p:txBody>
              <a:bodyPr/>
              <a:lstStyle/>
              <a:p>
                <a:r>
                  <a:rPr lang="en-US">
                    <a:noFill/>
                  </a:rPr>
                  <a:t> </a:t>
                </a:r>
              </a:p>
            </p:txBody>
          </p:sp>
        </mc:Fallback>
      </mc:AlternateContent>
      <p:cxnSp>
        <p:nvCxnSpPr>
          <p:cNvPr id="65" name="Straight Connector 64">
            <a:extLst>
              <a:ext uri="{FF2B5EF4-FFF2-40B4-BE49-F238E27FC236}">
                <a16:creationId xmlns:a16="http://schemas.microsoft.com/office/drawing/2014/main" id="{0F303293-7741-1D07-87B2-516670324443}"/>
              </a:ext>
            </a:extLst>
          </p:cNvPr>
          <p:cNvCxnSpPr>
            <a:cxnSpLocks/>
          </p:cNvCxnSpPr>
          <p:nvPr/>
        </p:nvCxnSpPr>
        <p:spPr>
          <a:xfrm flipH="1">
            <a:off x="10698215" y="34783017"/>
            <a:ext cx="20321968" cy="0"/>
          </a:xfrm>
          <a:prstGeom prst="line">
            <a:avLst/>
          </a:prstGeom>
          <a:ln w="38100">
            <a:solidFill>
              <a:schemeClr val="tx1"/>
            </a:solidFill>
            <a:prstDash val="dash"/>
          </a:ln>
        </p:spPr>
        <p:style>
          <a:lnRef idx="2">
            <a:schemeClr val="accent1"/>
          </a:lnRef>
          <a:fillRef idx="0">
            <a:schemeClr val="accent1"/>
          </a:fillRef>
          <a:effectRef idx="1">
            <a:schemeClr val="accent1"/>
          </a:effectRef>
          <a:fontRef idx="minor">
            <a:schemeClr val="tx1"/>
          </a:fontRef>
        </p:style>
      </p:cxnSp>
      <p:pic>
        <p:nvPicPr>
          <p:cNvPr id="3" name="Picture 2" descr="A collage of graphs&#10;&#10;Description automatically generated">
            <a:extLst>
              <a:ext uri="{FF2B5EF4-FFF2-40B4-BE49-F238E27FC236}">
                <a16:creationId xmlns:a16="http://schemas.microsoft.com/office/drawing/2014/main" id="{DEBD46EB-960C-5830-709F-D7767D8305F9}"/>
              </a:ext>
            </a:extLst>
          </p:cNvPr>
          <p:cNvPicPr>
            <a:picLocks noChangeAspect="1"/>
          </p:cNvPicPr>
          <p:nvPr/>
        </p:nvPicPr>
        <p:blipFill>
          <a:blip r:embed="rId16"/>
          <a:stretch>
            <a:fillRect/>
          </a:stretch>
        </p:blipFill>
        <p:spPr>
          <a:xfrm>
            <a:off x="22016380" y="27932766"/>
            <a:ext cx="9073220" cy="6794834"/>
          </a:xfrm>
          <a:prstGeom prst="rect">
            <a:avLst/>
          </a:prstGeom>
        </p:spPr>
      </p:pic>
      <p:pic>
        <p:nvPicPr>
          <p:cNvPr id="14" name="Picture 13">
            <a:extLst>
              <a:ext uri="{FF2B5EF4-FFF2-40B4-BE49-F238E27FC236}">
                <a16:creationId xmlns:a16="http://schemas.microsoft.com/office/drawing/2014/main" id="{2A28724D-0E24-D4AF-2096-CEEF668F6F29}"/>
              </a:ext>
            </a:extLst>
          </p:cNvPr>
          <p:cNvPicPr>
            <a:picLocks noChangeAspect="1"/>
          </p:cNvPicPr>
          <p:nvPr/>
        </p:nvPicPr>
        <p:blipFill>
          <a:blip r:embed="rId17"/>
          <a:stretch>
            <a:fillRect/>
          </a:stretch>
        </p:blipFill>
        <p:spPr>
          <a:xfrm>
            <a:off x="17945526" y="34825338"/>
            <a:ext cx="8478959" cy="6242842"/>
          </a:xfrm>
          <a:prstGeom prst="rect">
            <a:avLst/>
          </a:prstGeom>
        </p:spPr>
      </p:pic>
      <p:sp>
        <p:nvSpPr>
          <p:cNvPr id="22" name="TextBox 21">
            <a:extLst>
              <a:ext uri="{FF2B5EF4-FFF2-40B4-BE49-F238E27FC236}">
                <a16:creationId xmlns:a16="http://schemas.microsoft.com/office/drawing/2014/main" id="{F42DFA37-57CA-A83D-3B88-42452A58FA8A}"/>
              </a:ext>
            </a:extLst>
          </p:cNvPr>
          <p:cNvSpPr txBox="1"/>
          <p:nvPr/>
        </p:nvSpPr>
        <p:spPr>
          <a:xfrm>
            <a:off x="26573427" y="34975260"/>
            <a:ext cx="3958389" cy="6370975"/>
          </a:xfrm>
          <a:prstGeom prst="rect">
            <a:avLst/>
          </a:prstGeom>
          <a:noFill/>
        </p:spPr>
        <p:txBody>
          <a:bodyPr wrap="square" rtlCol="0">
            <a:spAutoFit/>
          </a:bodyPr>
          <a:lstStyle/>
          <a:p>
            <a:r>
              <a:rPr lang="en-US" sz="4000" dirty="0">
                <a:solidFill>
                  <a:schemeClr val="accent4">
                    <a:lumMod val="75000"/>
                  </a:schemeClr>
                </a:solidFill>
              </a:rPr>
              <a:t>Perpendicular transport</a:t>
            </a:r>
          </a:p>
          <a:p>
            <a:r>
              <a:rPr lang="en-US" sz="4000" dirty="0">
                <a:solidFill>
                  <a:schemeClr val="accent4">
                    <a:lumMod val="75000"/>
                  </a:schemeClr>
                </a:solidFill>
              </a:rPr>
              <a:t>induced by current sheets increases much more rapidly with particle energy than </a:t>
            </a:r>
          </a:p>
          <a:p>
            <a:r>
              <a:rPr lang="en-US" sz="4000" dirty="0">
                <a:solidFill>
                  <a:schemeClr val="accent4">
                    <a:lumMod val="75000"/>
                  </a:schemeClr>
                </a:solidFill>
              </a:rPr>
              <a:t>parallel transport</a:t>
            </a:r>
          </a:p>
          <a:p>
            <a:endParaRPr lang="en-US" sz="4800" dirty="0"/>
          </a:p>
        </p:txBody>
      </p:sp>
      <p:sp>
        <p:nvSpPr>
          <p:cNvPr id="62" name="TextBox 61">
            <a:extLst>
              <a:ext uri="{FF2B5EF4-FFF2-40B4-BE49-F238E27FC236}">
                <a16:creationId xmlns:a16="http://schemas.microsoft.com/office/drawing/2014/main" id="{11498589-846D-2260-1F46-CE361D23F801}"/>
              </a:ext>
            </a:extLst>
          </p:cNvPr>
          <p:cNvSpPr txBox="1"/>
          <p:nvPr/>
        </p:nvSpPr>
        <p:spPr>
          <a:xfrm>
            <a:off x="10803925" y="27472890"/>
            <a:ext cx="19789214" cy="830997"/>
          </a:xfrm>
          <a:prstGeom prst="rect">
            <a:avLst/>
          </a:prstGeom>
          <a:noFill/>
        </p:spPr>
        <p:txBody>
          <a:bodyPr wrap="square">
            <a:spAutoFit/>
          </a:bodyPr>
          <a:lstStyle/>
          <a:p>
            <a:r>
              <a:rPr lang="en-US" sz="4800" b="1" spc="-10" dirty="0">
                <a:latin typeface="Charter" panose="02040503050506020203" pitchFamily="18" charset="0"/>
                <a:cs typeface="Times New Roman"/>
              </a:rPr>
              <a:t>B.2. Long-term pitch angle, parallel and perpendicular evolution</a:t>
            </a:r>
          </a:p>
        </p:txBody>
      </p:sp>
      <p:pic>
        <p:nvPicPr>
          <p:cNvPr id="23" name="Picture 22">
            <a:extLst>
              <a:ext uri="{FF2B5EF4-FFF2-40B4-BE49-F238E27FC236}">
                <a16:creationId xmlns:a16="http://schemas.microsoft.com/office/drawing/2014/main" id="{B7F397C1-92D7-0455-4D7D-3890ECBF39CF}"/>
              </a:ext>
            </a:extLst>
          </p:cNvPr>
          <p:cNvPicPr>
            <a:picLocks noChangeAspect="1"/>
          </p:cNvPicPr>
          <p:nvPr/>
        </p:nvPicPr>
        <p:blipFill>
          <a:blip r:embed="rId18"/>
          <a:stretch>
            <a:fillRect/>
          </a:stretch>
        </p:blipFill>
        <p:spPr>
          <a:xfrm>
            <a:off x="19493494" y="32490616"/>
            <a:ext cx="2273300" cy="330200"/>
          </a:xfrm>
          <a:prstGeom prst="rect">
            <a:avLst/>
          </a:prstGeom>
        </p:spPr>
      </p:pic>
      <p:pic>
        <p:nvPicPr>
          <p:cNvPr id="25" name="Picture 24">
            <a:extLst>
              <a:ext uri="{FF2B5EF4-FFF2-40B4-BE49-F238E27FC236}">
                <a16:creationId xmlns:a16="http://schemas.microsoft.com/office/drawing/2014/main" id="{9350D202-19B7-4147-5C90-45839030F0CF}"/>
              </a:ext>
            </a:extLst>
          </p:cNvPr>
          <p:cNvPicPr>
            <a:picLocks noChangeAspect="1"/>
          </p:cNvPicPr>
          <p:nvPr/>
        </p:nvPicPr>
        <p:blipFill>
          <a:blip r:embed="rId19"/>
          <a:stretch>
            <a:fillRect/>
          </a:stretch>
        </p:blipFill>
        <p:spPr>
          <a:xfrm>
            <a:off x="19422737" y="29325161"/>
            <a:ext cx="2387600" cy="317500"/>
          </a:xfrm>
          <a:prstGeom prst="rect">
            <a:avLst/>
          </a:prstGeom>
        </p:spPr>
      </p:pic>
      <p:pic>
        <p:nvPicPr>
          <p:cNvPr id="27" name="Picture 26">
            <a:extLst>
              <a:ext uri="{FF2B5EF4-FFF2-40B4-BE49-F238E27FC236}">
                <a16:creationId xmlns:a16="http://schemas.microsoft.com/office/drawing/2014/main" id="{91AB0A5E-2C78-16EB-1568-E5A732C0DD2C}"/>
              </a:ext>
            </a:extLst>
          </p:cNvPr>
          <p:cNvPicPr>
            <a:picLocks noChangeAspect="1"/>
          </p:cNvPicPr>
          <p:nvPr/>
        </p:nvPicPr>
        <p:blipFill>
          <a:blip r:embed="rId20"/>
          <a:stretch>
            <a:fillRect/>
          </a:stretch>
        </p:blipFill>
        <p:spPr>
          <a:xfrm>
            <a:off x="28292840" y="30430526"/>
            <a:ext cx="2717800" cy="355600"/>
          </a:xfrm>
          <a:prstGeom prst="rect">
            <a:avLst/>
          </a:prstGeom>
          <a:ln>
            <a:solidFill>
              <a:schemeClr val="tx1"/>
            </a:solidFill>
          </a:ln>
        </p:spPr>
      </p:pic>
      <p:pic>
        <p:nvPicPr>
          <p:cNvPr id="33" name="Picture 32">
            <a:extLst>
              <a:ext uri="{FF2B5EF4-FFF2-40B4-BE49-F238E27FC236}">
                <a16:creationId xmlns:a16="http://schemas.microsoft.com/office/drawing/2014/main" id="{D3D1402A-8DC0-F7AB-12EE-09B4BBBCD772}"/>
              </a:ext>
            </a:extLst>
          </p:cNvPr>
          <p:cNvPicPr>
            <a:picLocks noChangeAspect="1"/>
          </p:cNvPicPr>
          <p:nvPr/>
        </p:nvPicPr>
        <p:blipFill>
          <a:blip r:embed="rId21"/>
          <a:stretch>
            <a:fillRect/>
          </a:stretch>
        </p:blipFill>
        <p:spPr>
          <a:xfrm>
            <a:off x="28292840" y="33479805"/>
            <a:ext cx="2717800" cy="437347"/>
          </a:xfrm>
          <a:prstGeom prst="rect">
            <a:avLst/>
          </a:prstGeom>
          <a:ln>
            <a:solidFill>
              <a:schemeClr val="tx1"/>
            </a:solidFill>
          </a:ln>
        </p:spPr>
      </p:pic>
      <p:pic>
        <p:nvPicPr>
          <p:cNvPr id="35" name="Picture 34">
            <a:extLst>
              <a:ext uri="{FF2B5EF4-FFF2-40B4-BE49-F238E27FC236}">
                <a16:creationId xmlns:a16="http://schemas.microsoft.com/office/drawing/2014/main" id="{88073F8C-1DCF-3E3F-38B4-467DB7FD6C41}"/>
              </a:ext>
            </a:extLst>
          </p:cNvPr>
          <p:cNvPicPr>
            <a:picLocks noChangeAspect="1"/>
          </p:cNvPicPr>
          <p:nvPr/>
        </p:nvPicPr>
        <p:blipFill>
          <a:blip r:embed="rId22"/>
          <a:stretch>
            <a:fillRect/>
          </a:stretch>
        </p:blipFill>
        <p:spPr>
          <a:xfrm>
            <a:off x="12170246" y="29084921"/>
            <a:ext cx="2620803" cy="377395"/>
          </a:xfrm>
          <a:prstGeom prst="rect">
            <a:avLst/>
          </a:prstGeom>
          <a:noFill/>
          <a:ln>
            <a:solidFill>
              <a:schemeClr val="tx1"/>
            </a:solidFill>
          </a:ln>
        </p:spPr>
      </p:pic>
    </p:spTree>
    <p:extLst>
      <p:ext uri="{BB962C8B-B14F-4D97-AF65-F5344CB8AC3E}">
        <p14:creationId xmlns:p14="http://schemas.microsoft.com/office/powerpoint/2010/main" val="152596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119</TotalTime>
  <Words>346</Words>
  <Application>Microsoft Macintosh PowerPoint</Application>
  <PresentationFormat>Custom</PresentationFormat>
  <Paragraphs>26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Cambria Math</vt:lpstr>
      <vt:lpstr>Charter</vt:lpstr>
      <vt:lpstr>Helvetica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Zijin Zhang</dc:creator>
  <cp:lastModifiedBy>Zijin Zhang</cp:lastModifiedBy>
  <cp:revision>13</cp:revision>
  <dcterms:created xsi:type="dcterms:W3CDTF">2025-06-20T04:49:31Z</dcterms:created>
  <dcterms:modified xsi:type="dcterms:W3CDTF">2025-12-09T20:46:08Z</dcterms:modified>
</cp:coreProperties>
</file>